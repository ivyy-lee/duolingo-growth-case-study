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62a80a40b84724" /><Relationship Type="http://schemas.openxmlformats.org/officeDocument/2006/relationships/extended-properties" Target="/docProps/app.xml" Id="Rf995faf2a6a64b52" /><Relationship Type="http://schemas.openxmlformats.org/officeDocument/2006/relationships/officeDocument" Target="/ppt/presentation.xml" Id="R56e15aa9615a46c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65180f759bd454a"/>
  </p:sldMasterIdLst>
  <p:notesMasterIdLst>
    <p:notesMasterId xmlns:r="http://schemas.openxmlformats.org/officeDocument/2006/relationships" r:id="Rd0ef1065775d4f2d"/>
  </p:notesMasterIdLst>
  <p:sldIdLst>
    <p:sldId xmlns:r="http://schemas.openxmlformats.org/officeDocument/2006/relationships" id="256" r:id="Rbd1920a5f82b41fb"/>
    <p:sldId xmlns:r="http://schemas.openxmlformats.org/officeDocument/2006/relationships" id="257" r:id="Rc09c81d1898e4cef"/>
    <p:sldId xmlns:r="http://schemas.openxmlformats.org/officeDocument/2006/relationships" id="258" r:id="Rcd59b841d65543cf"/>
    <p:sldId xmlns:r="http://schemas.openxmlformats.org/officeDocument/2006/relationships" id="259" r:id="R58ed1d80e0fa4c17"/>
    <p:sldId xmlns:r="http://schemas.openxmlformats.org/officeDocument/2006/relationships" id="260" r:id="R70e5c6266ad548c0"/>
    <p:sldId xmlns:r="http://schemas.openxmlformats.org/officeDocument/2006/relationships" id="261" r:id="R8429b330ca134238"/>
    <p:sldId xmlns:r="http://schemas.openxmlformats.org/officeDocument/2006/relationships" id="262" r:id="Re382320bf9fd4a84"/>
  </p:sldIdLst>
  <p:sldSz cx="12191695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5534d036791458b" /><Relationship Type="http://schemas.openxmlformats.org/officeDocument/2006/relationships/slideMaster" Target="/ppt/slideMasters/slideMaster1.xml" Id="R665180f759bd454a" /><Relationship Type="http://schemas.openxmlformats.org/officeDocument/2006/relationships/notesMaster" Target="/ppt/notesMasters/notesMaster1.xml" Id="Rd0ef1065775d4f2d" /><Relationship Type="http://schemas.openxmlformats.org/officeDocument/2006/relationships/presProps" Target="/ppt/presProps.xml" Id="R6bf3a4adb95b4c7d" /><Relationship Type="http://schemas.openxmlformats.org/officeDocument/2006/relationships/viewProps" Target="/ppt/viewProps.xml" Id="Rcf2259744bd843d7" /><Relationship Type="http://schemas.openxmlformats.org/officeDocument/2006/relationships/tableStyles" Target="/ppt/tableStyles.xml" Id="Rb265c2887ca642c9" /><Relationship Type="http://schemas.openxmlformats.org/officeDocument/2006/relationships/slide" Target="/ppt/slides/slide1.xml" Id="Rbd1920a5f82b41fb" /><Relationship Type="http://schemas.openxmlformats.org/officeDocument/2006/relationships/slide" Target="/ppt/slides/slide2.xml" Id="Rc09c81d1898e4cef" /><Relationship Type="http://schemas.openxmlformats.org/officeDocument/2006/relationships/slide" Target="/ppt/slides/slide3.xml" Id="Rcd59b841d65543cf" /><Relationship Type="http://schemas.openxmlformats.org/officeDocument/2006/relationships/slide" Target="/ppt/slides/slide4.xml" Id="R58ed1d80e0fa4c17" /><Relationship Type="http://schemas.openxmlformats.org/officeDocument/2006/relationships/slide" Target="/ppt/slides/slide5.xml" Id="R70e5c6266ad548c0" /><Relationship Type="http://schemas.openxmlformats.org/officeDocument/2006/relationships/slide" Target="/ppt/slides/slide6.xml" Id="R8429b330ca134238" /><Relationship Type="http://schemas.openxmlformats.org/officeDocument/2006/relationships/slide" Target="/ppt/slides/slide7.xml" Id="Re382320bf9fd4a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78bf65dcd447b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cd2c3602a14309" /><Relationship Type="http://schemas.openxmlformats.org/officeDocument/2006/relationships/notesMaster" Target="/ppt/notesMasters/notesMaster1.xml" Id="R393cde4b40f944d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15afa2403474520" /><Relationship Type="http://schemas.openxmlformats.org/officeDocument/2006/relationships/notesMaster" Target="/ppt/notesMasters/notesMaster1.xml" Id="R29c62a91f8e740b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1cb4a19425b4193" /><Relationship Type="http://schemas.openxmlformats.org/officeDocument/2006/relationships/notesMaster" Target="/ppt/notesMasters/notesMaster1.xml" Id="Re3c5e9841f86405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174f373aa564258" /><Relationship Type="http://schemas.openxmlformats.org/officeDocument/2006/relationships/notesMaster" Target="/ppt/notesMasters/notesMaster1.xml" Id="R9bf42f5ee5494b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a651a1612514980" /><Relationship Type="http://schemas.openxmlformats.org/officeDocument/2006/relationships/notesMaster" Target="/ppt/notesMasters/notesMaster1.xml" Id="R7d0562b86f55420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b89f5b910b74230" /><Relationship Type="http://schemas.openxmlformats.org/officeDocument/2006/relationships/notesMaster" Target="/ppt/notesMasters/notesMaster1.xml" Id="R44f2f656825745b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798bac7a81d4ecc" /><Relationship Type="http://schemas.openxmlformats.org/officeDocument/2006/relationships/notesMaster" Target="/ppt/notesMasters/notesMaster1.xml" Id="R4538f988a68e4a4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Corporate evidence: official Duolingo IR/SEC disclosures only, Q1 2023-Q4 2025. Analysis as of March 2026. Raw values preserved at disclosed precision; all ratios and growth are transparent calculations.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2023-Q1: Duolingo Q1 2023 Results</a:t>
            </a:r>
          </a:p>
          <a:p xmlns:a="http://schemas.openxmlformats.org/drawingml/2006/main">
            <a:r>
              <a:t>https://investors.duolingo.com/news-releases/news-release-details/duolingo-reports-62-dau-growth-42-revenue-growth-and-increased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2023-Q2: Duolingo Q2 2023 Results</a:t>
            </a:r>
          </a:p>
          <a:p xmlns:a="http://schemas.openxmlformats.org/drawingml/2006/main">
            <a:r>
              <a:t>https://investors.duolingo.com/news-releases/news-release-details/duolingo-reports-62-dau-growth-44-revenue-growth-and-stronger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2023-Q3: Duolingo Q3 2023 Results</a:t>
            </a:r>
          </a:p>
          <a:p xmlns:a="http://schemas.openxmlformats.org/drawingml/2006/main">
            <a:r>
              <a:t>https://investors.duolingo.com/news-releases/news-release-details/duolingo-reports-63-dau-growth-and-43-revenue-growth-third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2023-Q4: Duolingo Q4/FY2023 Results</a:t>
            </a:r>
          </a:p>
          <a:p xmlns:a="http://schemas.openxmlformats.org/drawingml/2006/main">
            <a:r>
              <a:t>https://investors.duolingo.com/news-releases/news-release-details/duolingo-reports-65-dau-growth-45-revenue-growth-and-record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2024-Q1: Duolingo Q1 2024 Results</a:t>
            </a:r>
          </a:p>
          <a:p xmlns:a="http://schemas.openxmlformats.org/drawingml/2006/main">
            <a:r>
              <a:t>https://investors.duolingo.com/news-releases/news-release-details/duolingo-reports-45-revenue-growth-and-record-profitability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2024-Q2: Duolingo Q2 2024 Results</a:t>
            </a:r>
          </a:p>
          <a:p xmlns:a="http://schemas.openxmlformats.org/drawingml/2006/main">
            <a:r>
              <a:t>https://investors.duolingo.com/news-releases/news-release-details/duolingo-hits-100m-maus-reports-59-dau-growth-and-41-revenue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2024-Q3: Duolingo Q3 2024 Results</a:t>
            </a:r>
          </a:p>
          <a:p xmlns:a="http://schemas.openxmlformats.org/drawingml/2006/main">
            <a:r>
              <a:t>https://investors.duolingo.com/news-releases/news-release-details/duolingo-achieves-54-dau-growth-and-40-revenue-growth-third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2024-Q4: Duolingo Q4/FY2024 Shareholder Letter</a:t>
            </a:r>
          </a:p>
          <a:p xmlns:a="http://schemas.openxmlformats.org/drawingml/2006/main">
            <a:r>
              <a:t>https://www.sec.gov/Archives/edgar/data/1562088/000156208825000039/q4fy24duolingo12-31x24shar.htm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2025-Q1: Duolingo Q1 2025 Shareholder Letter</a:t>
            </a:r>
          </a:p>
          <a:p xmlns:a="http://schemas.openxmlformats.org/drawingml/2006/main">
            <a:r>
              <a:t>https://www.sec.gov/Archives/edgar/data/1562088/000156208825000098/q1fy25duolingo3-31x25share.htm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2025-Q2: Duolingo Q2 2025 Shareholder Letter</a:t>
            </a:r>
          </a:p>
          <a:p xmlns:a="http://schemas.openxmlformats.org/drawingml/2006/main">
            <a:r>
              <a:t>https://investors.duolingo.com/static-files/0b55110c-2eb9-466d-8549-5459e0851290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2025-Q3: Duolingo Q3 2025 Shareholder Letter</a:t>
            </a:r>
          </a:p>
          <a:p xmlns:a="http://schemas.openxmlformats.org/drawingml/2006/main">
            <a:r>
              <a:t>https://investors.duolingo.com/static-files/c9bf5861-b19d-4396-b060-c0dbeefd34f5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2025-Q4: Duolingo Q4/FY2025 Shareholder Letter</a:t>
            </a:r>
          </a:p>
          <a:p xmlns:a="http://schemas.openxmlformats.org/drawingml/2006/main">
            <a:r>
              <a:t>https://www.sec.gov/Archives/edgar/data/1562088/000162828026012246/q4fy25duolingo12-31x25shar.htm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2025-Q4: Duolingo 2025 Form 10-K (supplemental definitions and ratio evidence)</a:t>
            </a:r>
          </a:p>
          <a:p xmlns:a="http://schemas.openxmlformats.org/drawingml/2006/main">
            <a:r>
              <a:t>https://www.sec.gov/Archives/edgar/data/1562088/000162828026012494/duol-20251231.htm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Definitions/formulas: docs/methodology.md and docs/data_dictionary.md. Corporate source lineage: docs/source_manifest.csv. Competitor website snapshot: February 2026; social snapshot: March 2026. Inherited historical coursework values; original dated captures are absent and historical provenance cannot be independently verified. These are contextual snapshots, not a longitudinal dataset, market share, conversion or retention evidence. No current observations replace these dates.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Final visualisation: two completed Tableau dashboards. Tableau Public: https://public.tableau.com/views/Duolingo_Growth_Marketing_Analytics/P1_Growth_Monetisation_Overview?:language=en-US&amp;:sid=&amp;:redirect=auth&amp;:display_count=n&amp;:origin=viz_share_link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SQL formulas checked through a SQLite compatibility adaptation; native MySQL execution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Corporate evidence: official Duolingo IR/SEC disclosures only, Q1 2023-Q4 2025. Analysis as of March 2026. Raw values preserved at disclosed precision; all ratios and growth are transparent calculations.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2023-Q1: Duolingo Q1 2023 Results</a:t>
            </a:r>
          </a:p>
          <a:p xmlns:a="http://schemas.openxmlformats.org/drawingml/2006/main">
            <a:r>
              <a:t>https://investors.duolingo.com/news-releases/news-release-details/duolingo-reports-62-dau-growth-42-revenue-growth-and-increased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2023-Q2: Duolingo Q2 2023 Results</a:t>
            </a:r>
          </a:p>
          <a:p xmlns:a="http://schemas.openxmlformats.org/drawingml/2006/main">
            <a:r>
              <a:t>https://investors.duolingo.com/news-releases/news-release-details/duolingo-reports-62-dau-growth-44-revenue-growth-and-stronger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2023-Q3: Duolingo Q3 2023 Results</a:t>
            </a:r>
          </a:p>
          <a:p xmlns:a="http://schemas.openxmlformats.org/drawingml/2006/main">
            <a:r>
              <a:t>https://investors.duolingo.com/news-releases/news-release-details/duolingo-reports-63-dau-growth-and-43-revenue-growth-third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2023-Q4: Duolingo Q4/FY2023 Results</a:t>
            </a:r>
          </a:p>
          <a:p xmlns:a="http://schemas.openxmlformats.org/drawingml/2006/main">
            <a:r>
              <a:t>https://investors.duolingo.com/news-releases/news-release-details/duolingo-reports-65-dau-growth-45-revenue-growth-and-record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2024-Q1: Duolingo Q1 2024 Results</a:t>
            </a:r>
          </a:p>
          <a:p xmlns:a="http://schemas.openxmlformats.org/drawingml/2006/main">
            <a:r>
              <a:t>https://investors.duolingo.com/news-releases/news-release-details/duolingo-reports-45-revenue-growth-and-record-profitability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2024-Q2: Duolingo Q2 2024 Results</a:t>
            </a:r>
          </a:p>
          <a:p xmlns:a="http://schemas.openxmlformats.org/drawingml/2006/main">
            <a:r>
              <a:t>https://investors.duolingo.com/news-releases/news-release-details/duolingo-hits-100m-maus-reports-59-dau-growth-and-41-revenue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2024-Q3: Duolingo Q3 2024 Results</a:t>
            </a:r>
          </a:p>
          <a:p xmlns:a="http://schemas.openxmlformats.org/drawingml/2006/main">
            <a:r>
              <a:t>https://investors.duolingo.com/news-releases/news-release-details/duolingo-achieves-54-dau-growth-and-40-revenue-growth-third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2024-Q4: Duolingo Q4/FY2024 Shareholder Letter</a:t>
            </a:r>
          </a:p>
          <a:p xmlns:a="http://schemas.openxmlformats.org/drawingml/2006/main">
            <a:r>
              <a:t>https://www.sec.gov/Archives/edgar/data/1562088/000156208825000039/q4fy24duolingo12-31x24shar.htm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2025-Q1: Duolingo Q1 2025 Shareholder Letter</a:t>
            </a:r>
          </a:p>
          <a:p xmlns:a="http://schemas.openxmlformats.org/drawingml/2006/main">
            <a:r>
              <a:t>https://www.sec.gov/Archives/edgar/data/1562088/000156208825000098/q1fy25duolingo3-31x25share.htm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2025-Q2: Duolingo Q2 2025 Shareholder Letter</a:t>
            </a:r>
          </a:p>
          <a:p xmlns:a="http://schemas.openxmlformats.org/drawingml/2006/main">
            <a:r>
              <a:t>https://investors.duolingo.com/static-files/0b55110c-2eb9-466d-8549-5459e0851290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2025-Q3: Duolingo Q3 2025 Shareholder Letter</a:t>
            </a:r>
          </a:p>
          <a:p xmlns:a="http://schemas.openxmlformats.org/drawingml/2006/main">
            <a:r>
              <a:t>https://investors.duolingo.com/static-files/c9bf5861-b19d-4396-b060-c0dbeefd34f5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2025-Q4: Duolingo Q4/FY2025 Shareholder Letter</a:t>
            </a:r>
          </a:p>
          <a:p xmlns:a="http://schemas.openxmlformats.org/drawingml/2006/main">
            <a:r>
              <a:t>https://www.sec.gov/Archives/edgar/data/1562088/000162828026012246/q4fy25duolingo12-31x25shar.htm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2025-Q4: Duolingo 2025 Form 10-K (supplemental definitions and ratio evidence)</a:t>
            </a:r>
          </a:p>
          <a:p xmlns:a="http://schemas.openxmlformats.org/drawingml/2006/main">
            <a:r>
              <a:t>https://www.sec.gov/Archives/edgar/data/1562088/000162828026012494/duol-20251231.htm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Definitions/formulas: docs/methodology.md and docs/data_dictionary.md. Corporate source lineage: docs/source_manifest.csv. Competitor website snapshot: February 2026; social snapshot: March 2026. Inherited historical coursework values; original dated captures are absent and historical provenance cannot be independently verified. These are contextual snapshots, not a longitudinal dataset, market share, conversion or retention evidence. No current observations replace these dates.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Final visualisation: two completed Tableau dashboards. Tableau Public: https://public.tableau.com/views/Duolingo_Growth_Marketing_Analytics/P1_Growth_Monetisation_Overview?:language=en-US&amp;:sid=&amp;:redirect=auth&amp;:display_count=n&amp;:origin=viz_share_link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SQL formulas checked through a SQLite compatibility adaptation; native MySQL execution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Corporate evidence: official Duolingo IR/SEC disclosures only, Q1 2023-Q4 2025. Analysis as of March 2026. Raw values preserved at disclosed precision; all ratios and growth are transparent calculations.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2023-Q1: Duolingo Q1 2023 Results</a:t>
            </a:r>
          </a:p>
          <a:p xmlns:a="http://schemas.openxmlformats.org/drawingml/2006/main">
            <a:r>
              <a:t>https://investors.duolingo.com/news-releases/news-release-details/duolingo-reports-62-dau-growth-42-revenue-growth-and-increased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2023-Q2: Duolingo Q2 2023 Results</a:t>
            </a:r>
          </a:p>
          <a:p xmlns:a="http://schemas.openxmlformats.org/drawingml/2006/main">
            <a:r>
              <a:t>https://investors.duolingo.com/news-releases/news-release-details/duolingo-reports-62-dau-growth-44-revenue-growth-and-stronger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2023-Q3: Duolingo Q3 2023 Results</a:t>
            </a:r>
          </a:p>
          <a:p xmlns:a="http://schemas.openxmlformats.org/drawingml/2006/main">
            <a:r>
              <a:t>https://investors.duolingo.com/news-releases/news-release-details/duolingo-reports-63-dau-growth-and-43-revenue-growth-third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2023-Q4: Duolingo Q4/FY2023 Results</a:t>
            </a:r>
          </a:p>
          <a:p xmlns:a="http://schemas.openxmlformats.org/drawingml/2006/main">
            <a:r>
              <a:t>https://investors.duolingo.com/news-releases/news-release-details/duolingo-reports-65-dau-growth-45-revenue-growth-and-record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2024-Q1: Duolingo Q1 2024 Results</a:t>
            </a:r>
          </a:p>
          <a:p xmlns:a="http://schemas.openxmlformats.org/drawingml/2006/main">
            <a:r>
              <a:t>https://investors.duolingo.com/news-releases/news-release-details/duolingo-reports-45-revenue-growth-and-record-profitability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2024-Q2: Duolingo Q2 2024 Results</a:t>
            </a:r>
          </a:p>
          <a:p xmlns:a="http://schemas.openxmlformats.org/drawingml/2006/main">
            <a:r>
              <a:t>https://investors.duolingo.com/news-releases/news-release-details/duolingo-hits-100m-maus-reports-59-dau-growth-and-41-revenue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2024-Q3: Duolingo Q3 2024 Results</a:t>
            </a:r>
          </a:p>
          <a:p xmlns:a="http://schemas.openxmlformats.org/drawingml/2006/main">
            <a:r>
              <a:t>https://investors.duolingo.com/news-releases/news-release-details/duolingo-achieves-54-dau-growth-and-40-revenue-growth-third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2024-Q4: Duolingo Q4/FY2024 Shareholder Letter</a:t>
            </a:r>
          </a:p>
          <a:p xmlns:a="http://schemas.openxmlformats.org/drawingml/2006/main">
            <a:r>
              <a:t>https://www.sec.gov/Archives/edgar/data/1562088/000156208825000039/q4fy24duolingo12-31x24shar.htm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2025-Q1: Duolingo Q1 2025 Shareholder Letter</a:t>
            </a:r>
          </a:p>
          <a:p xmlns:a="http://schemas.openxmlformats.org/drawingml/2006/main">
            <a:r>
              <a:t>https://www.sec.gov/Archives/edgar/data/1562088/000156208825000098/q1fy25duolingo3-31x25share.htm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2025-Q2: Duolingo Q2 2025 Shareholder Letter</a:t>
            </a:r>
          </a:p>
          <a:p xmlns:a="http://schemas.openxmlformats.org/drawingml/2006/main">
            <a:r>
              <a:t>https://investors.duolingo.com/static-files/0b55110c-2eb9-466d-8549-5459e0851290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2025-Q3: Duolingo Q3 2025 Shareholder Letter</a:t>
            </a:r>
          </a:p>
          <a:p xmlns:a="http://schemas.openxmlformats.org/drawingml/2006/main">
            <a:r>
              <a:t>https://investors.duolingo.com/static-files/c9bf5861-b19d-4396-b060-c0dbeefd34f5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2025-Q4: Duolingo Q4/FY2025 Shareholder Letter</a:t>
            </a:r>
          </a:p>
          <a:p xmlns:a="http://schemas.openxmlformats.org/drawingml/2006/main">
            <a:r>
              <a:t>https://www.sec.gov/Archives/edgar/data/1562088/000162828026012246/q4fy25duolingo12-31x25shar.htm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2025-Q4: Duolingo 2025 Form 10-K (supplemental definitions and ratio evidence)</a:t>
            </a:r>
          </a:p>
          <a:p xmlns:a="http://schemas.openxmlformats.org/drawingml/2006/main">
            <a:r>
              <a:t>https://www.sec.gov/Archives/edgar/data/1562088/000162828026012494/duol-20251231.htm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Definitions/formulas: docs/methodology.md and docs/data_dictionary.md. Corporate source lineage: docs/source_manifest.csv. Competitor website snapshot: February 2026; social snapshot: March 2026. Inherited historical coursework values; original dated captures are absent and historical provenance cannot be independently verified. These are contextual snapshots, not a longitudinal dataset, market share, conversion or retention evidence. No current observations replace these dates.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Final visualisation: two completed Tableau dashboards. Tableau Public: https://public.tableau.com/views/Duolingo_Growth_Marketing_Analytics/P1_Growth_Monetisation_Overview?:language=en-US&amp;:sid=&amp;:redirect=auth&amp;:display_count=n&amp;:origin=viz_share_link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SQL formulas checked through a SQLite compatibility adaptation; native MySQL execution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Corporate evidence: official Duolingo IR/SEC disclosures only, Q1 2023-Q4 2025. Analysis as of March 2026. Raw values preserved at disclosed precision; all ratios and growth are transparent calculations.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2023-Q1: Duolingo Q1 2023 Results</a:t>
            </a:r>
          </a:p>
          <a:p xmlns:a="http://schemas.openxmlformats.org/drawingml/2006/main">
            <a:r>
              <a:t>https://investors.duolingo.com/news-releases/news-release-details/duolingo-reports-62-dau-growth-42-revenue-growth-and-increased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2023-Q2: Duolingo Q2 2023 Results</a:t>
            </a:r>
          </a:p>
          <a:p xmlns:a="http://schemas.openxmlformats.org/drawingml/2006/main">
            <a:r>
              <a:t>https://investors.duolingo.com/news-releases/news-release-details/duolingo-reports-62-dau-growth-44-revenue-growth-and-stronger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2023-Q3: Duolingo Q3 2023 Results</a:t>
            </a:r>
          </a:p>
          <a:p xmlns:a="http://schemas.openxmlformats.org/drawingml/2006/main">
            <a:r>
              <a:t>https://investors.duolingo.com/news-releases/news-release-details/duolingo-reports-63-dau-growth-and-43-revenue-growth-third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2023-Q4: Duolingo Q4/FY2023 Results</a:t>
            </a:r>
          </a:p>
          <a:p xmlns:a="http://schemas.openxmlformats.org/drawingml/2006/main">
            <a:r>
              <a:t>https://investors.duolingo.com/news-releases/news-release-details/duolingo-reports-65-dau-growth-45-revenue-growth-and-record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2024-Q1: Duolingo Q1 2024 Results</a:t>
            </a:r>
          </a:p>
          <a:p xmlns:a="http://schemas.openxmlformats.org/drawingml/2006/main">
            <a:r>
              <a:t>https://investors.duolingo.com/news-releases/news-release-details/duolingo-reports-45-revenue-growth-and-record-profitability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2024-Q2: Duolingo Q2 2024 Results</a:t>
            </a:r>
          </a:p>
          <a:p xmlns:a="http://schemas.openxmlformats.org/drawingml/2006/main">
            <a:r>
              <a:t>https://investors.duolingo.com/news-releases/news-release-details/duolingo-hits-100m-maus-reports-59-dau-growth-and-41-revenue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2024-Q3: Duolingo Q3 2024 Results</a:t>
            </a:r>
          </a:p>
          <a:p xmlns:a="http://schemas.openxmlformats.org/drawingml/2006/main">
            <a:r>
              <a:t>https://investors.duolingo.com/news-releases/news-release-details/duolingo-achieves-54-dau-growth-and-40-revenue-growth-third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2024-Q4: Duolingo Q4/FY2024 Shareholder Letter</a:t>
            </a:r>
          </a:p>
          <a:p xmlns:a="http://schemas.openxmlformats.org/drawingml/2006/main">
            <a:r>
              <a:t>https://www.sec.gov/Archives/edgar/data/1562088/000156208825000039/q4fy24duolingo12-31x24shar.htm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2025-Q1: Duolingo Q1 2025 Shareholder Letter</a:t>
            </a:r>
          </a:p>
          <a:p xmlns:a="http://schemas.openxmlformats.org/drawingml/2006/main">
            <a:r>
              <a:t>https://www.sec.gov/Archives/edgar/data/1562088/000156208825000098/q1fy25duolingo3-31x25share.htm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2025-Q2: Duolingo Q2 2025 Shareholder Letter</a:t>
            </a:r>
          </a:p>
          <a:p xmlns:a="http://schemas.openxmlformats.org/drawingml/2006/main">
            <a:r>
              <a:t>https://investors.duolingo.com/static-files/0b55110c-2eb9-466d-8549-5459e0851290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2025-Q3: Duolingo Q3 2025 Shareholder Letter</a:t>
            </a:r>
          </a:p>
          <a:p xmlns:a="http://schemas.openxmlformats.org/drawingml/2006/main">
            <a:r>
              <a:t>https://investors.duolingo.com/static-files/c9bf5861-b19d-4396-b060-c0dbeefd34f5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2025-Q4: Duolingo Q4/FY2025 Shareholder Letter</a:t>
            </a:r>
          </a:p>
          <a:p xmlns:a="http://schemas.openxmlformats.org/drawingml/2006/main">
            <a:r>
              <a:t>https://www.sec.gov/Archives/edgar/data/1562088/000162828026012246/q4fy25duolingo12-31x25shar.htm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2025-Q4: Duolingo 2025 Form 10-K (supplemental definitions and ratio evidence)</a:t>
            </a:r>
          </a:p>
          <a:p xmlns:a="http://schemas.openxmlformats.org/drawingml/2006/main">
            <a:r>
              <a:t>https://www.sec.gov/Archives/edgar/data/1562088/000162828026012494/duol-20251231.htm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Definitions/formulas: docs/methodology.md and docs/data_dictionary.md. Corporate source lineage: docs/source_manifest.csv. Competitor website snapshot: February 2026; social snapshot: March 2026. Inherited historical coursework values; original dated captures are absent and historical provenance cannot be independently verified. These are contextual snapshots, not a longitudinal dataset, market share, conversion or retention evidence. No current observations replace these dates.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Final visualisation: two completed Tableau dashboards. Tableau Public: https://public.tableau.com/views/Duolingo_Growth_Marketing_Analytics/P1_Growth_Monetisation_Overview?:language=en-US&amp;:sid=&amp;:redirect=auth&amp;:display_count=n&amp;:origin=viz_share_link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SQL formulas checked through a SQLite compatibility adaptation; native MySQL execution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Corporate evidence: official Duolingo IR/SEC disclosures only, Q1 2023-Q4 2025. Analysis as of March 2026. Raw values preserved at disclosed precision; all ratios and growth are transparent calculations.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2023-Q1: Duolingo Q1 2023 Results</a:t>
            </a:r>
          </a:p>
          <a:p xmlns:a="http://schemas.openxmlformats.org/drawingml/2006/main">
            <a:r>
              <a:t>https://investors.duolingo.com/news-releases/news-release-details/duolingo-reports-62-dau-growth-42-revenue-growth-and-increased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2023-Q2: Duolingo Q2 2023 Results</a:t>
            </a:r>
          </a:p>
          <a:p xmlns:a="http://schemas.openxmlformats.org/drawingml/2006/main">
            <a:r>
              <a:t>https://investors.duolingo.com/news-releases/news-release-details/duolingo-reports-62-dau-growth-44-revenue-growth-and-stronger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2023-Q3: Duolingo Q3 2023 Results</a:t>
            </a:r>
          </a:p>
          <a:p xmlns:a="http://schemas.openxmlformats.org/drawingml/2006/main">
            <a:r>
              <a:t>https://investors.duolingo.com/news-releases/news-release-details/duolingo-reports-63-dau-growth-and-43-revenue-growth-third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2023-Q4: Duolingo Q4/FY2023 Results</a:t>
            </a:r>
          </a:p>
          <a:p xmlns:a="http://schemas.openxmlformats.org/drawingml/2006/main">
            <a:r>
              <a:t>https://investors.duolingo.com/news-releases/news-release-details/duolingo-reports-65-dau-growth-45-revenue-growth-and-record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2024-Q1: Duolingo Q1 2024 Results</a:t>
            </a:r>
          </a:p>
          <a:p xmlns:a="http://schemas.openxmlformats.org/drawingml/2006/main">
            <a:r>
              <a:t>https://investors.duolingo.com/news-releases/news-release-details/duolingo-reports-45-revenue-growth-and-record-profitability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2024-Q2: Duolingo Q2 2024 Results</a:t>
            </a:r>
          </a:p>
          <a:p xmlns:a="http://schemas.openxmlformats.org/drawingml/2006/main">
            <a:r>
              <a:t>https://investors.duolingo.com/news-releases/news-release-details/duolingo-hits-100m-maus-reports-59-dau-growth-and-41-revenue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2024-Q3: Duolingo Q3 2024 Results</a:t>
            </a:r>
          </a:p>
          <a:p xmlns:a="http://schemas.openxmlformats.org/drawingml/2006/main">
            <a:r>
              <a:t>https://investors.duolingo.com/news-releases/news-release-details/duolingo-achieves-54-dau-growth-and-40-revenue-growth-third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2024-Q4: Duolingo Q4/FY2024 Shareholder Letter</a:t>
            </a:r>
          </a:p>
          <a:p xmlns:a="http://schemas.openxmlformats.org/drawingml/2006/main">
            <a:r>
              <a:t>https://www.sec.gov/Archives/edgar/data/1562088/000156208825000039/q4fy24duolingo12-31x24shar.htm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2025-Q1: Duolingo Q1 2025 Shareholder Letter</a:t>
            </a:r>
          </a:p>
          <a:p xmlns:a="http://schemas.openxmlformats.org/drawingml/2006/main">
            <a:r>
              <a:t>https://www.sec.gov/Archives/edgar/data/1562088/000156208825000098/q1fy25duolingo3-31x25share.htm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2025-Q2: Duolingo Q2 2025 Shareholder Letter</a:t>
            </a:r>
          </a:p>
          <a:p xmlns:a="http://schemas.openxmlformats.org/drawingml/2006/main">
            <a:r>
              <a:t>https://investors.duolingo.com/static-files/0b55110c-2eb9-466d-8549-5459e0851290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2025-Q3: Duolingo Q3 2025 Shareholder Letter</a:t>
            </a:r>
          </a:p>
          <a:p xmlns:a="http://schemas.openxmlformats.org/drawingml/2006/main">
            <a:r>
              <a:t>https://investors.duolingo.com/static-files/c9bf5861-b19d-4396-b060-c0dbeefd34f5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2025-Q4: Duolingo Q4/FY2025 Shareholder Letter</a:t>
            </a:r>
          </a:p>
          <a:p xmlns:a="http://schemas.openxmlformats.org/drawingml/2006/main">
            <a:r>
              <a:t>https://www.sec.gov/Archives/edgar/data/1562088/000162828026012246/q4fy25duolingo12-31x25shar.htm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2025-Q4: Duolingo 2025 Form 10-K (supplemental definitions and ratio evidence)</a:t>
            </a:r>
          </a:p>
          <a:p xmlns:a="http://schemas.openxmlformats.org/drawingml/2006/main">
            <a:r>
              <a:t>https://www.sec.gov/Archives/edgar/data/1562088/000162828026012494/duol-20251231.htm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Definitions/formulas: docs/methodology.md and docs/data_dictionary.md. Corporate source lineage: docs/source_manifest.csv. Competitor website snapshot: February 2026; social snapshot: March 2026. Inherited historical coursework values; original dated captures are absent and historical provenance cannot be independently verified. These are contextual snapshots, not a longitudinal dataset, market share, conversion or retention evidence. No current observations replace these dates.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Final visualisation: two completed Tableau dashboards. Tableau Public: https://public.tableau.com/views/Duolingo_Growth_Marketing_Analytics/P1_Growth_Monetisation_Overview?:language=en-US&amp;:sid=&amp;:redirect=auth&amp;:display_count=n&amp;:origin=viz_share_link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SQL formulas checked through a SQLite compatibility adaptation; native MySQL execution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Corporate evidence: official Duolingo IR/SEC disclosures only, Q1 2023-Q4 2025. Analysis as of March 2026. Raw values preserved at disclosed precision; all ratios and growth are transparent calculations.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2023-Q1: Duolingo Q1 2023 Results</a:t>
            </a:r>
          </a:p>
          <a:p xmlns:a="http://schemas.openxmlformats.org/drawingml/2006/main">
            <a:r>
              <a:t>https://investors.duolingo.com/news-releases/news-release-details/duolingo-reports-62-dau-growth-42-revenue-growth-and-increased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2023-Q2: Duolingo Q2 2023 Results</a:t>
            </a:r>
          </a:p>
          <a:p xmlns:a="http://schemas.openxmlformats.org/drawingml/2006/main">
            <a:r>
              <a:t>https://investors.duolingo.com/news-releases/news-release-details/duolingo-reports-62-dau-growth-44-revenue-growth-and-stronger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2023-Q3: Duolingo Q3 2023 Results</a:t>
            </a:r>
          </a:p>
          <a:p xmlns:a="http://schemas.openxmlformats.org/drawingml/2006/main">
            <a:r>
              <a:t>https://investors.duolingo.com/news-releases/news-release-details/duolingo-reports-63-dau-growth-and-43-revenue-growth-third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2023-Q4: Duolingo Q4/FY2023 Results</a:t>
            </a:r>
          </a:p>
          <a:p xmlns:a="http://schemas.openxmlformats.org/drawingml/2006/main">
            <a:r>
              <a:t>https://investors.duolingo.com/news-releases/news-release-details/duolingo-reports-65-dau-growth-45-revenue-growth-and-record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2024-Q1: Duolingo Q1 2024 Results</a:t>
            </a:r>
          </a:p>
          <a:p xmlns:a="http://schemas.openxmlformats.org/drawingml/2006/main">
            <a:r>
              <a:t>https://investors.duolingo.com/news-releases/news-release-details/duolingo-reports-45-revenue-growth-and-record-profitability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2024-Q2: Duolingo Q2 2024 Results</a:t>
            </a:r>
          </a:p>
          <a:p xmlns:a="http://schemas.openxmlformats.org/drawingml/2006/main">
            <a:r>
              <a:t>https://investors.duolingo.com/news-releases/news-release-details/duolingo-hits-100m-maus-reports-59-dau-growth-and-41-revenue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2024-Q3: Duolingo Q3 2024 Results</a:t>
            </a:r>
          </a:p>
          <a:p xmlns:a="http://schemas.openxmlformats.org/drawingml/2006/main">
            <a:r>
              <a:t>https://investors.duolingo.com/news-releases/news-release-details/duolingo-achieves-54-dau-growth-and-40-revenue-growth-third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2024-Q4: Duolingo Q4/FY2024 Shareholder Letter</a:t>
            </a:r>
          </a:p>
          <a:p xmlns:a="http://schemas.openxmlformats.org/drawingml/2006/main">
            <a:r>
              <a:t>https://www.sec.gov/Archives/edgar/data/1562088/000156208825000039/q4fy24duolingo12-31x24shar.htm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2025-Q1: Duolingo Q1 2025 Shareholder Letter</a:t>
            </a:r>
          </a:p>
          <a:p xmlns:a="http://schemas.openxmlformats.org/drawingml/2006/main">
            <a:r>
              <a:t>https://www.sec.gov/Archives/edgar/data/1562088/000156208825000098/q1fy25duolingo3-31x25share.htm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2025-Q2: Duolingo Q2 2025 Shareholder Letter</a:t>
            </a:r>
          </a:p>
          <a:p xmlns:a="http://schemas.openxmlformats.org/drawingml/2006/main">
            <a:r>
              <a:t>https://investors.duolingo.com/static-files/0b55110c-2eb9-466d-8549-5459e0851290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2025-Q3: Duolingo Q3 2025 Shareholder Letter</a:t>
            </a:r>
          </a:p>
          <a:p xmlns:a="http://schemas.openxmlformats.org/drawingml/2006/main">
            <a:r>
              <a:t>https://investors.duolingo.com/static-files/c9bf5861-b19d-4396-b060-c0dbeefd34f5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2025-Q4: Duolingo Q4/FY2025 Shareholder Letter</a:t>
            </a:r>
          </a:p>
          <a:p xmlns:a="http://schemas.openxmlformats.org/drawingml/2006/main">
            <a:r>
              <a:t>https://www.sec.gov/Archives/edgar/data/1562088/000162828026012246/q4fy25duolingo12-31x25shar.htm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2025-Q4: Duolingo 2025 Form 10-K (supplemental definitions and ratio evidence)</a:t>
            </a:r>
          </a:p>
          <a:p xmlns:a="http://schemas.openxmlformats.org/drawingml/2006/main">
            <a:r>
              <a:t>https://www.sec.gov/Archives/edgar/data/1562088/000162828026012494/duol-20251231.htm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Definitions/formulas: docs/methodology.md and docs/data_dictionary.md. Corporate source lineage: docs/source_manifest.csv. Competitor website snapshot: February 2026; social snapshot: March 2026. Inherited historical coursework values; original dated captures are absent and historical provenance cannot be independently verified. These are contextual snapshots, not a longitudinal dataset, market share, conversion or retention evidence. No current observations replace these dates.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Final visualisation: two completed Tableau dashboards. Tableau Public: https://public.tableau.com/views/Duolingo_Growth_Marketing_Analytics/P1_Growth_Monetisation_Overview?:language=en-US&amp;:sid=&amp;:redirect=auth&amp;:display_count=n&amp;:origin=viz_share_link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SQL formulas checked through a SQLite compatibility adaptation; native MySQL execution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Recommendations are proposed internal reviews, not claims that Duolingo lacks tracking or that any tactic is effective.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Corporate evidence: official Duolingo IR/SEC disclosures only, Q1 2023-Q4 2025. Analysis as of March 2026. Raw values preserved at disclosed precision; all ratios and growth are transparent calculations.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2023-Q1: Duolingo Q1 2023 Results</a:t>
            </a:r>
          </a:p>
          <a:p xmlns:a="http://schemas.openxmlformats.org/drawingml/2006/main">
            <a:r>
              <a:t>https://investors.duolingo.com/news-releases/news-release-details/duolingo-reports-62-dau-growth-42-revenue-growth-and-increased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2023-Q2: Duolingo Q2 2023 Results</a:t>
            </a:r>
          </a:p>
          <a:p xmlns:a="http://schemas.openxmlformats.org/drawingml/2006/main">
            <a:r>
              <a:t>https://investors.duolingo.com/news-releases/news-release-details/duolingo-reports-62-dau-growth-44-revenue-growth-and-stronger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2023-Q3: Duolingo Q3 2023 Results</a:t>
            </a:r>
          </a:p>
          <a:p xmlns:a="http://schemas.openxmlformats.org/drawingml/2006/main">
            <a:r>
              <a:t>https://investors.duolingo.com/news-releases/news-release-details/duolingo-reports-63-dau-growth-and-43-revenue-growth-third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2023-Q4: Duolingo Q4/FY2023 Results</a:t>
            </a:r>
          </a:p>
          <a:p xmlns:a="http://schemas.openxmlformats.org/drawingml/2006/main">
            <a:r>
              <a:t>https://investors.duolingo.com/news-releases/news-release-details/duolingo-reports-65-dau-growth-45-revenue-growth-and-record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2024-Q1: Duolingo Q1 2024 Results</a:t>
            </a:r>
          </a:p>
          <a:p xmlns:a="http://schemas.openxmlformats.org/drawingml/2006/main">
            <a:r>
              <a:t>https://investors.duolingo.com/news-releases/news-release-details/duolingo-reports-45-revenue-growth-and-record-profitability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2024-Q2: Duolingo Q2 2024 Results</a:t>
            </a:r>
          </a:p>
          <a:p xmlns:a="http://schemas.openxmlformats.org/drawingml/2006/main">
            <a:r>
              <a:t>https://investors.duolingo.com/news-releases/news-release-details/duolingo-hits-100m-maus-reports-59-dau-growth-and-41-revenue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2024-Q3: Duolingo Q3 2024 Results</a:t>
            </a:r>
          </a:p>
          <a:p xmlns:a="http://schemas.openxmlformats.org/drawingml/2006/main">
            <a:r>
              <a:t>https://investors.duolingo.com/news-releases/news-release-details/duolingo-achieves-54-dau-growth-and-40-revenue-growth-third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2024-Q4: Duolingo Q4/FY2024 Shareholder Letter</a:t>
            </a:r>
          </a:p>
          <a:p xmlns:a="http://schemas.openxmlformats.org/drawingml/2006/main">
            <a:r>
              <a:t>https://www.sec.gov/Archives/edgar/data/1562088/000156208825000039/q4fy24duolingo12-31x24shar.htm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2025-Q1: Duolingo Q1 2025 Shareholder Letter</a:t>
            </a:r>
          </a:p>
          <a:p xmlns:a="http://schemas.openxmlformats.org/drawingml/2006/main">
            <a:r>
              <a:t>https://www.sec.gov/Archives/edgar/data/1562088/000156208825000098/q1fy25duolingo3-31x25share.htm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2025-Q2: Duolingo Q2 2025 Shareholder Letter</a:t>
            </a:r>
          </a:p>
          <a:p xmlns:a="http://schemas.openxmlformats.org/drawingml/2006/main">
            <a:r>
              <a:t>https://investors.duolingo.com/static-files/0b55110c-2eb9-466d-8549-5459e0851290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2025-Q3: Duolingo Q3 2025 Shareholder Letter</a:t>
            </a:r>
          </a:p>
          <a:p xmlns:a="http://schemas.openxmlformats.org/drawingml/2006/main">
            <a:r>
              <a:t>https://investors.duolingo.com/static-files/c9bf5861-b19d-4396-b060-c0dbeefd34f5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2025-Q4: Duolingo Q4/FY2025 Shareholder Letter</a:t>
            </a:r>
          </a:p>
          <a:p xmlns:a="http://schemas.openxmlformats.org/drawingml/2006/main">
            <a:r>
              <a:t>https://www.sec.gov/Archives/edgar/data/1562088/000162828026012246/q4fy25duolingo12-31x25shar.htm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2025-Q4: Duolingo 2025 Form 10-K (supplemental definitions and ratio evidence)</a:t>
            </a:r>
          </a:p>
          <a:p xmlns:a="http://schemas.openxmlformats.org/drawingml/2006/main">
            <a:r>
              <a:t>https://www.sec.gov/Archives/edgar/data/1562088/000162828026012494/duol-20251231.htm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Definitions/formulas: docs/methodology.md and docs/data_dictionary.md. Corporate source lineage: docs/source_manifest.csv. Competitor website snapshot: February 2026; social snapshot: March 2026. Inherited historical coursework values; original dated captures are absent and historical provenance cannot be independently verified. These are contextual snapshots, not a longitudinal dataset, market share, conversion or retention evidence. No current observations replace these dates.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Final visualisation: two completed Tableau dashboards. Tableau Public: https://public.tableau.com/views/Duolingo_Growth_Marketing_Analytics/P1_Growth_Monetisation_Overview?:language=en-US&amp;:sid=&amp;:redirect=auth&amp;:display_count=n&amp;:origin=viz_share_link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SQL formulas checked through a SQLite compatibility adaptation; native MySQL execution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ad9e61e056489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c5c0b62ae1486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37f68e3eab4fa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7292e8e5534a5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69b33fd8164b7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ff45d64020406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17913b7e5c4e9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471691f2dc453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09f706a22a43b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6db5687f7e4a9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f2a5e979b5445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C8A3DF-519E-403B-B5F0-5E723A781A7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AA60775-D5D2-4DCC-B3F4-E0D2024A2D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1753D07-1A00-41A7-9151-9836749B43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28475D6-6B9A-4B27-A30D-78BB0DBEA1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99753F-39B8-49AC-BC8F-90F1825648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BF907E-9708-4B29-B859-FBF4E6D46B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EB83E73-73D4-4E6F-8A46-11789E7EE18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9C4533-F1CB-481F-9AF7-2AB486EE17B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B0961C3-7846-4224-AEB2-61E766608D2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A5182ED-E932-4454-98CE-96746E45B63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6DED124-F932-4391-B409-72D9478799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59E9CCB-6814-4849-9C06-24BADA13593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3EA9ED0-B060-4C0B-8D4A-B25FC3BD0D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F7CB1C-FC15-4BD8-AC9F-EB5CE7B653D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55A0D64-ABF5-41FD-8A61-8CB055E5F1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EBB853-C843-4612-97B9-DA179E669C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8C175EF-E216-4B5C-B8CE-175011FC683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D9AB11C-843B-46BF-B157-165C2814337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0ECEDFD-60B0-4050-83D0-736A682446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3803AEA-C408-469A-A427-8DAF2FDDEE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6B81210-DC51-46AD-8DD2-3EA497A94C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2CB2C0-5436-4135-88D5-4C380BF021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E30E58-A49C-4A70-B6D9-9FE8CA6A31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2F51EEC-3674-40A5-8729-DF8B4ACEF8C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417A0FB-0BC7-43BF-A87E-0D166FA70CA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9341384-B6A0-45F4-B846-8F2CFF68DA2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64D4E09-DB54-478F-AAC2-A30B46341F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6660F8C-7700-4254-AE52-A6B98B0693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B7BCD4A-319F-48A5-81FF-C9166D94B7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0A4630-7593-428B-89F0-79248F05AF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0F1A6AB-8651-4FE6-9AA3-1F005DB3F7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D18B1CB-40A0-4AB2-9C17-F17525FDA8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83D6F26-D6D5-441C-9200-2AF80761B0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CF5AC5C-0F94-450A-8628-2B88335267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06FD98B-CA4F-4ED5-9FED-07EE14EA6F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07ABE39-E33B-426A-9EEB-08912C335B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4452855-AF43-4120-A273-B41A92EE99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7E3CE9-07A4-412D-AC40-112B7A3272F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BCBB69F-E932-4545-B02C-225A1BF523E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85D4022-6603-410A-8CE1-E76459C7D0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C377654-76A8-4A20-A7C9-A1DFA76D777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2422607-3A3D-4E42-9929-E6BE90B1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3BED105-6400-4D84-B87F-FEDD0D6D86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2E61FC8-F6BB-4D84-9882-B8C125C1EAF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009D8F2-33A6-405A-848F-39FE3A2CADF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D8AD641-658B-4CC1-B3D0-6C9AA38E3E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84DDC85-2932-4C11-9116-7D2CB4FA172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0CB0164-6835-420F-BF24-A5D392C6FA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059F32E-8732-48B4-9C2F-5CA6133AB7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6510147-9296-4A8D-A2E7-4E01C8CE93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05EA5B0-A14C-4247-9B4A-B668526E992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FBBF43-55A3-440E-9692-202DF624B4A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5D64384-7802-4523-AB0A-8E2CF7E946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4F04CB8-A07E-4147-B5E4-902174F24F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F213B93-806F-4A18-9437-00608D3FE5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88E2355-8F90-4DBE-A628-7FC12C283F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D1008B5-545F-499D-8A85-71C8B22A16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81CEED-975B-4699-B0DF-6B752FCFA04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979d5fc9c542dc" /><Relationship Type="http://schemas.openxmlformats.org/officeDocument/2006/relationships/slideLayout" Target="/ppt/slideLayouts/slideLayout1.xml" Id="R32f537796de54b1a" /><Relationship Type="http://schemas.openxmlformats.org/officeDocument/2006/relationships/slideLayout" Target="/ppt/slideLayouts/slideLayout2.xml" Id="Rfc0da92772ea45cd" /><Relationship Type="http://schemas.openxmlformats.org/officeDocument/2006/relationships/slideLayout" Target="/ppt/slideLayouts/slideLayout3.xml" Id="R2865ff9aa8fe4949" /><Relationship Type="http://schemas.openxmlformats.org/officeDocument/2006/relationships/slideLayout" Target="/ppt/slideLayouts/slideLayout4.xml" Id="R89fd3b5322e74cde" /><Relationship Type="http://schemas.openxmlformats.org/officeDocument/2006/relationships/slideLayout" Target="/ppt/slideLayouts/slideLayout5.xml" Id="R824a15f6422647ac" /><Relationship Type="http://schemas.openxmlformats.org/officeDocument/2006/relationships/slideLayout" Target="/ppt/slideLayouts/slideLayout6.xml" Id="Rae5ad23cdc5c4f3a" /><Relationship Type="http://schemas.openxmlformats.org/officeDocument/2006/relationships/slideLayout" Target="/ppt/slideLayouts/slideLayout7.xml" Id="R1544e0e3f5ea4e1f" /><Relationship Type="http://schemas.openxmlformats.org/officeDocument/2006/relationships/slideLayout" Target="/ppt/slideLayouts/slideLayout8.xml" Id="Rdad0812ca8f74c46" /><Relationship Type="http://schemas.openxmlformats.org/officeDocument/2006/relationships/slideLayout" Target="/ppt/slideLayouts/slideLayout9.xml" Id="R1ab323e97faa4f79" /><Relationship Type="http://schemas.openxmlformats.org/officeDocument/2006/relationships/slideLayout" Target="/ppt/slideLayouts/slideLayout10.xml" Id="R63efcb1667224a71" /><Relationship Type="http://schemas.openxmlformats.org/officeDocument/2006/relationships/slideLayout" Target="/ppt/slideLayouts/slideLayout11.xml" Id="R7df370d29ae9419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9D221B6-FF3C-42D6-B01D-95731D7199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63AB48-C6AE-44C9-B37E-389DD622501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87E66B-4AE1-4628-9882-B83D7CC8D00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1885AE-FE98-408F-AEF9-461DB2B2A6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FFFC1DC-DDE6-47EF-80CF-9E39491F3AC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f537796de54b1a"/>
    <p:sldLayoutId xmlns:r="http://schemas.openxmlformats.org/officeDocument/2006/relationships" id="2147483650" r:id="Rfc0da92772ea45cd"/>
    <p:sldLayoutId xmlns:r="http://schemas.openxmlformats.org/officeDocument/2006/relationships" id="2147483651" r:id="R2865ff9aa8fe4949"/>
    <p:sldLayoutId xmlns:r="http://schemas.openxmlformats.org/officeDocument/2006/relationships" id="2147483652" r:id="R89fd3b5322e74cde"/>
    <p:sldLayoutId xmlns:r="http://schemas.openxmlformats.org/officeDocument/2006/relationships" id="2147483653" r:id="R824a15f6422647ac"/>
    <p:sldLayoutId xmlns:r="http://schemas.openxmlformats.org/officeDocument/2006/relationships" id="2147483654" r:id="Rae5ad23cdc5c4f3a"/>
    <p:sldLayoutId xmlns:r="http://schemas.openxmlformats.org/officeDocument/2006/relationships" id="2147483655" r:id="R1544e0e3f5ea4e1f"/>
    <p:sldLayoutId xmlns:r="http://schemas.openxmlformats.org/officeDocument/2006/relationships" id="2147483656" r:id="Rdad0812ca8f74c46"/>
    <p:sldLayoutId xmlns:r="http://schemas.openxmlformats.org/officeDocument/2006/relationships" id="2147483657" r:id="R1ab323e97faa4f79"/>
    <p:sldLayoutId xmlns:r="http://schemas.openxmlformats.org/officeDocument/2006/relationships" id="2147483658" r:id="R63efcb1667224a71"/>
    <p:sldLayoutId xmlns:r="http://schemas.openxmlformats.org/officeDocument/2006/relationships" id="2147483659" r:id="R7df370d29ae94197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1cf5fa6851b4702" /><Relationship Type="http://schemas.openxmlformats.org/officeDocument/2006/relationships/hyperlink" Target="https://public.tableau.com/views/Duolingo_Growth_Marketing_Analytics/P1_Growth_Monetisation_Overview?:language=en-US&amp;:sid=&amp;:redirect=auth&amp;:display_count=n&amp;:origin=viz_share_link" TargetMode="External" Id="R7ebf130d4b884876" /><Relationship Type="http://schemas.openxmlformats.org/officeDocument/2006/relationships/notesSlide" Target="/ppt/notesSlides/notesSlide1.xml" Id="Re7e8a13ab3674f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6b79e5a29a048ca" /><Relationship Type="http://schemas.openxmlformats.org/officeDocument/2006/relationships/notesSlide" Target="/ppt/notesSlides/notesSlide2.xml" Id="R23d8bc284d9b449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299f7031e49487e" /><Relationship Type="http://schemas.openxmlformats.org/officeDocument/2006/relationships/image" Target="/ppt/media/image.png" Id="R6cb771a68e5c4c9d" /><Relationship Type="http://schemas.openxmlformats.org/officeDocument/2006/relationships/hyperlink" Target="https://public.tableau.com/views/Duolingo_Growth_Marketing_Analytics/P1_Growth_Monetisation_Overview?:language=en-US&amp;:sid=&amp;:redirect=auth&amp;:display_count=n&amp;:origin=viz_share_link" TargetMode="External" Id="R9feb06908fc44dc3" /><Relationship Type="http://schemas.openxmlformats.org/officeDocument/2006/relationships/notesSlide" Target="/ppt/notesSlides/notesSlide3.xml" Id="R29e499c0789e4c8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d135d161ce34a5d" /><Relationship Type="http://schemas.openxmlformats.org/officeDocument/2006/relationships/image" Target="/ppt/media/image2.png" Id="R8ea1e85429a246ea" /><Relationship Type="http://schemas.openxmlformats.org/officeDocument/2006/relationships/hyperlink" Target="https://public.tableau.com/views/Duolingo_Growth_Marketing_Analytics/P1_Growth_Monetisation_Overview?:language=en-US&amp;:sid=&amp;:redirect=auth&amp;:display_count=n&amp;:origin=viz_share_link" TargetMode="External" Id="Rf0583b17aab3498a" /><Relationship Type="http://schemas.openxmlformats.org/officeDocument/2006/relationships/notesSlide" Target="/ppt/notesSlides/notesSlide4.xml" Id="R8a15f2d0498943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9e7348072c04e12" /><Relationship Type="http://schemas.openxmlformats.org/officeDocument/2006/relationships/notesSlide" Target="/ppt/notesSlides/notesSlide5.xml" Id="Rf0a19977e19b475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c55d9b7e0447b5" /><Relationship Type="http://schemas.openxmlformats.org/officeDocument/2006/relationships/notesSlide" Target="/ppt/notesSlides/notesSlide6.xml" Id="R7bb1f7c468a7486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195c98b0444d5c" /><Relationship Type="http://schemas.openxmlformats.org/officeDocument/2006/relationships/notesSlide" Target="/ppt/notesSlides/notesSlide7.xml" Id="R2b176ba93c6341e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6C95B7F-E731-4788-85CB-7AFB51B15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0080"/>
            <a:ext cx="10881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28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28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rPr>
              <a:t>Duolingo 增长与营销运营分析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1F225B-FA6D-4ACF-BA41-28DCCF57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25880"/>
            <a:ext cx="9601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400">
                <a:solidFill>
                  <a:srgbClr val="6873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400">
                <a:solidFill>
                  <a:srgbClr val="6873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00" b="0">
                <a:solidFill>
                  <a:srgbClr val="68737D"/>
                </a:solidFill>
                <a:latin typeface="Hiragino Sans GB"/>
                <a:ea typeface="Hiragino Sans GB"/>
                <a:cs typeface="Hiragino Sans GB"/>
              </a:rPr>
              <a:t>案例研究 / 产品运营 / 用户运营 / 增长运营 / 综合运营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B42F55A1-058E-4DC9-AFE8-7C49C377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10881360" cy="3291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7ECE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>
            <a:defPPr>
              <a:defRPr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B2FB41F-AFFE-4D2C-B2C2-9631AADD5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423160"/>
            <a:ext cx="9875520" cy="1333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20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20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Duolingo 的用户规模扩大时，活跃与商业化是否同步增强？2023-2025 年，日常活</a:t>
            </a:r>
          </a:p>
          <a:p xmlns:a="http://schemas.openxmlformats.org/drawingml/2006/main">
            <a:pPr algn="l">
              <a:buNone/>
              <a:defRPr sz="20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跃与商业化增长均快于 MAU。本案例据此提出产品运营、用户运营与增长运营的监</a:t>
            </a:r>
          </a:p>
          <a:p xmlns:a="http://schemas.openxmlformats.org/drawingml/2006/main">
            <a:pPr algn="l">
              <a:buNone/>
              <a:defRPr sz="20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控和调查重点。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66273407-EAC9-41F9-9C03-284187AD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977639"/>
            <a:ext cx="1417320" cy="45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8DF"/>
          </a:solidFill>
          <a:ln xmlns:a="http://schemas.openxmlformats.org/drawingml/2006/main" w="12700">
            <a:solidFill>
              <a:srgbClr val="EAF8D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>
            <a:defPPr>
              <a:defRPr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24B75AC-DBC5-4D9C-BBDD-DCA6D980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087368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ctr">
              <a:defRPr sz="10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buNone/>
              <a:defRPr sz="10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0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rPr>
              <a:t>12 个季度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D81F413-E0F2-4796-A2FE-F1021DDF4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977639"/>
            <a:ext cx="1417320" cy="45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8DF"/>
          </a:solidFill>
          <a:ln xmlns:a="http://schemas.openxmlformats.org/drawingml/2006/main" w="12700">
            <a:solidFill>
              <a:srgbClr val="EAF8D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>
            <a:defPPr>
              <a:defRPr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D95F379-E17F-4BCE-8748-ACCC234E4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4087368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ctr">
              <a:defRPr sz="10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buNone/>
              <a:defRPr sz="10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0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rPr>
              <a:t>公开数据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2917FF3-3C08-4C74-A6E7-10CB9CA1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77639"/>
            <a:ext cx="1417320" cy="45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8DF"/>
          </a:solidFill>
          <a:ln xmlns:a="http://schemas.openxmlformats.org/drawingml/2006/main" w="12700">
            <a:solidFill>
              <a:srgbClr val="EAF8D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>
            <a:defPPr>
              <a:defRPr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BD749C2-601B-4431-B71D-42AB0BCC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87368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ctr">
              <a:defRPr sz="10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buNone/>
              <a:defRPr sz="10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0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rPr>
              <a:t>Tableau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6E49FE5D-2BB5-445A-B344-B02F33DA4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977639"/>
            <a:ext cx="1417320" cy="45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8DF"/>
          </a:solidFill>
          <a:ln xmlns:a="http://schemas.openxmlformats.org/drawingml/2006/main" w="12700">
            <a:solidFill>
              <a:srgbClr val="EAF8D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>
            <a:defPPr>
              <a:defRPr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0D29590-7653-4C06-9D7A-3331BC03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4087368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ctr">
              <a:defRPr sz="10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buNone/>
              <a:defRPr sz="10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0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rPr>
              <a:t>2023-2025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24639841-BB2F-4410-BDCC-82648639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3977639"/>
            <a:ext cx="1417320" cy="45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8DF"/>
          </a:solidFill>
          <a:ln xmlns:a="http://schemas.openxmlformats.org/drawingml/2006/main" w="12700">
            <a:solidFill>
              <a:srgbClr val="EAF8D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>
            <a:defPPr>
              <a:defRPr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1241EDF-57CC-403E-A824-E9397ED8E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4087368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ctr">
              <a:defRPr sz="10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buNone/>
              <a:defRPr sz="10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0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rPr>
              <a:t>March 2026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B4D8286-DA5C-4213-8406-1BC6EEFA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263640"/>
            <a:ext cx="10881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6873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200">
                <a:solidFill>
                  <a:srgbClr val="6873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68737D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7ebf130d4b884876"/>
              </a:rPr>
              <a:t>打开已发布的 Tableau 交互式 Dashboard</a:t>
            </a:r>
          </a:p>
        </p:txBody>
      </p:sp>
    </p:spTree>
    <p:extLst>
      <p:ext uri="{BB962C8B-B14F-4D97-AF65-F5344CB8AC3E}">
        <p14:creationId xmlns:p14="http://schemas.microsoft.com/office/powerpoint/2010/main" val="11543465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8CB8BC3-FB54-4F2C-AD8E-38CE51EC2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24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rPr>
              <a:t>1. 业务问题、数据与方法</a:t>
            </a:r>
          </a:p>
        </p:txBody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50D75210-531A-46F4-AEC0-A7B2E676C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143000"/>
            <a:ext cx="109728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7ECE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>
            <a:defPPr>
              <a:defRPr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457550A-5A7C-47A6-8F10-13F81316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04925"/>
            <a:ext cx="10332720" cy="742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5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5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仅看用户规模，无法完整判断经营表现。本项目结合日常活跃、付费订阅和收入，判断增长结构，并提出运营团队下一</a:t>
            </a:r>
          </a:p>
          <a:p xmlns:a="http://schemas.openxmlformats.org/drawingml/2006/main">
            <a:pPr algn="l">
              <a:buNone/>
              <a:defRPr sz="15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步应持续监控和深入调查的问题。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E2A8926-F416-481F-A418-DDC99588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51460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6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rPr>
              <a:t>核心业务问题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2E9EA9A-E9FE-4B6C-9303-E9B1BFF25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71800"/>
            <a:ext cx="5029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1. 12 个季度内，用户规模、日常活跃与商业化如何变化？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BB61BA9-BA16-408A-8E50-7A3B5CBEB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611880"/>
            <a:ext cx="5029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2. DAU、付费订阅和收入是否增长得比 MAU 更快？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6937D9B-3A87-42AA-8439-FF709AF68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251960"/>
            <a:ext cx="5029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3. 历史竞品快照能补充什么背景？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4E4A916-A7AD-494D-9F44-61D53DEA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92040"/>
            <a:ext cx="5029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4. 哪些运营重点需要内部数据继续验证？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9D6A198-0EBD-4F77-B75F-743D6D507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14600"/>
            <a:ext cx="4846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6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rPr>
              <a:t>数据与方法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3864D0A-9138-491A-A6C8-3BE060A9D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97180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12 个季度：2023 Q1-2025 Q4，来自 Duolingo IR /</a:t>
            </a:r>
          </a:p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SEC 官方披露。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B16823B-E432-4D4C-9FEB-FABD243E4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61188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比较 DAU/MAU、环比、同比及增长指数（2023 Q1 =</a:t>
            </a:r>
          </a:p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100）。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8EF33BA-9FBA-4BB2-B7F5-8E0632FE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25196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网站：2026 年 2 月；社媒：2026 年 3 月，仅作历史背</a:t>
            </a:r>
          </a:p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景。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2A9FEAC-EC5C-449F-9139-0CF79A764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9204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来源核对及 SQL / Python 校验支持两页最终 Tableau</a:t>
            </a:r>
          </a:p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Dashboard。</a:t>
            </a:r>
          </a:p>
        </p:txBody>
      </p:sp>
      <p:sp>
        <p:nvSpPr>
          <p:cNvPr id="15" name="Evidence footer">
            <a:extLst xmlns:a="http://schemas.openxmlformats.org/drawingml/2006/main">
              <a:ext uri="{FF2B5EF4-FFF2-40B4-BE49-F238E27FC236}">
                <a16:creationId xmlns:a16="http://schemas.microsoft.com/office/drawing/2014/main" id="{66AB5E74-B6F8-42A5-A048-8F9796247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29375"/>
            <a:ext cx="1085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l">
              <a:defRPr sz="900">
                <a:solidFill>
                  <a:srgbClr val="6873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900">
                <a:solidFill>
                  <a:srgbClr val="6873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00">
                <a:solidFill>
                  <a:srgbClr val="68737D"/>
                </a:solidFill>
                <a:latin typeface="Hiragino Sans GB"/>
                <a:ea typeface="Hiragino Sans GB"/>
                <a:cs typeface="Hiragino Sans GB"/>
              </a:rPr>
              <a:t>来源：Duolingo IR / SEC。定义与完整链接见方法说明、来源清单及演讲者备注</a:t>
            </a:r>
          </a:p>
        </p:txBody>
      </p:sp>
    </p:spTree>
    <p:extLst>
      <p:ext uri="{BB962C8B-B14F-4D97-AF65-F5344CB8AC3E}">
        <p14:creationId xmlns:p14="http://schemas.microsoft.com/office/powerpoint/2010/main" val="18939844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833836A-24B6-43CE-AF46-5B7E007F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rPr>
              <a:t>2. Dashboard - 增长与商业化概览</a:t>
            </a:r>
          </a:p>
        </p:txBody>
      </p:sp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0C8DAE48-0B54-4DF3-9600-D65F83E014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b771a68e5c4c9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30140" y="723900"/>
            <a:ext cx="10131720" cy="5867400"/>
          </a:xfrm>
          <a:prstGeom xmlns:a="http://schemas.openxmlformats.org/drawingml/2006/main" prst="rect">
            <a:avLst/>
          </a:prstGeom>
        </p:spPr>
      </p:pic>
      <p:sp>
        <p:nvSpPr>
          <p:cNvPr id="4" name="Published Tableau link">
            <a:extLst xmlns:a="http://schemas.openxmlformats.org/drawingml/2006/main">
              <a:ext uri="{FF2B5EF4-FFF2-40B4-BE49-F238E27FC236}">
                <a16:creationId xmlns:a16="http://schemas.microsoft.com/office/drawing/2014/main" id="{213D9332-B80A-412B-B605-11B5A71D2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1975"/>
            <a:ext cx="10134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900">
                <a:solidFill>
                  <a:srgbClr val="28752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900">
                <a:solidFill>
                  <a:srgbClr val="2875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00">
                <a:solidFill>
                  <a:srgbClr val="28752A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9feb06908fc44dc3"/>
              </a:rPr>
              <a:t>最终已发布的 Tableau 页面。点击打开交互式 Dashboard</a:t>
            </a:r>
          </a:p>
        </p:txBody>
      </p:sp>
    </p:spTree>
    <p:extLst>
      <p:ext uri="{BB962C8B-B14F-4D97-AF65-F5344CB8AC3E}">
        <p14:creationId xmlns:p14="http://schemas.microsoft.com/office/powerpoint/2010/main" val="15418411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FB8103C-50AD-45BD-9864-53B81975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rPr>
              <a:t>3. Dashboard - 增长质量诊断与战略背景</a:t>
            </a:r>
          </a:p>
        </p:txBody>
      </p:sp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824001C8-902D-445D-8BCF-10C278E5F0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a1e85429a246e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30140" y="723900"/>
            <a:ext cx="10131720" cy="5867400"/>
          </a:xfrm>
          <a:prstGeom xmlns:a="http://schemas.openxmlformats.org/drawingml/2006/main" prst="rect">
            <a:avLst/>
          </a:prstGeom>
        </p:spPr>
      </p:pic>
      <p:sp>
        <p:nvSpPr>
          <p:cNvPr id="4" name="Published Tableau link">
            <a:extLst xmlns:a="http://schemas.openxmlformats.org/drawingml/2006/main">
              <a:ext uri="{FF2B5EF4-FFF2-40B4-BE49-F238E27FC236}">
                <a16:creationId xmlns:a16="http://schemas.microsoft.com/office/drawing/2014/main" id="{5FEC1A72-700C-4935-A7FB-0C904565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1975"/>
            <a:ext cx="10134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900">
                <a:solidFill>
                  <a:srgbClr val="28752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>
              <a:defRPr sz="900">
                <a:solidFill>
                  <a:srgbClr val="2875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00">
                <a:solidFill>
                  <a:srgbClr val="28752A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f0583b17aab3498a"/>
              </a:rPr>
              <a:t>最终已发布的 Tableau 页面。点击打开交互式 Dashboard</a:t>
            </a:r>
          </a:p>
        </p:txBody>
      </p:sp>
    </p:spTree>
    <p:extLst>
      <p:ext uri="{BB962C8B-B14F-4D97-AF65-F5344CB8AC3E}">
        <p14:creationId xmlns:p14="http://schemas.microsoft.com/office/powerpoint/2010/main" val="10056115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A273427-76B4-46C8-9054-F49A9C5E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24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rPr>
              <a:t>4. 关键业务洞察</a:t>
            </a:r>
          </a:p>
        </p:txBody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30564653-E1A4-412E-AE10-A33B82B6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234440"/>
            <a:ext cx="5257800" cy="1737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7ECE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>
            <a:defPPr>
              <a:defRPr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79DFD2D-B32E-4CE0-9473-C6D08B1A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463040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6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rPr>
              <a:t>活跃质量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DAC2333-903A-4602-868A-9DED2D953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892808"/>
            <a:ext cx="4663440" cy="971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2023 Q1 至 2025 Q4，DAU 增长 160%，MAU 增长</a:t>
            </a:r>
          </a:p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83%。DAU/MAU 从 28.0% 升至 39.6%（+11.6 个百分</a:t>
            </a:r>
          </a:p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点），汇总活跃强度提升。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EA889E7-6515-4C2D-BEF2-BA8B31FA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234440"/>
            <a:ext cx="5257800" cy="1737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7ECE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>
            <a:defPPr>
              <a:defRPr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38725B0-47BC-46D6-A4B1-341B6A04A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1463040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6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rPr>
              <a:t>商业化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C8F42DD-35D1-4A3F-87F0-C54EB5C0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1892808"/>
            <a:ext cx="4663440" cy="971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付费订阅用户增长 154%，季度收入增长 145%，均快于</a:t>
            </a:r>
          </a:p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MAU，值得进一步调查商业化驱动因素。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557FA8C6-F311-460E-AAFE-3DF3EE7E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74720"/>
            <a:ext cx="5257800" cy="1737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7ECE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>
            <a:defPPr>
              <a:defRPr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ED21262-70C2-44FD-82F3-3B5102FC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703320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6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rPr>
              <a:t>增长结构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8EA8EC7-4E00-40B5-9A7B-A6D6880FD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133088"/>
            <a:ext cx="4663440" cy="971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到 2025 Q4，MAU 同比增速放缓至 14%，DAU、付费订</a:t>
            </a:r>
          </a:p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阅用户和收入分别增长 30%、28% 和 35%。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93EA81D-DFFF-47B4-895F-8EF4B6B4D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474720"/>
            <a:ext cx="5257800" cy="1737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7ECE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>
            <a:defPPr>
              <a:defRPr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5AA5ADB-3F71-4CFB-8912-158AC511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703320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6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rPr>
              <a:t>竞争背景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89F6F25-49CA-4955-9EDE-89632AFB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4133088"/>
            <a:ext cx="4663440" cy="971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沿用的 2026 年 2-3 月快照显示，三个观察品牌中</a:t>
            </a:r>
          </a:p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Duolingo 数字触达更大。原始历史截图未核实，仅作背景。</a:t>
            </a:r>
          </a:p>
        </p:txBody>
      </p:sp>
      <p:sp>
        <p:nvSpPr>
          <p:cNvPr id="15" name="Evidence footer">
            <a:extLst xmlns:a="http://schemas.openxmlformats.org/drawingml/2006/main">
              <a:ext uri="{FF2B5EF4-FFF2-40B4-BE49-F238E27FC236}">
                <a16:creationId xmlns:a16="http://schemas.microsoft.com/office/drawing/2014/main" id="{A62F6F63-2B98-4B4F-99F4-78D4A1C8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29375"/>
            <a:ext cx="1085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l">
              <a:defRPr sz="900">
                <a:solidFill>
                  <a:srgbClr val="6873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900">
                <a:solidFill>
                  <a:srgbClr val="6873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00">
                <a:solidFill>
                  <a:srgbClr val="68737D"/>
                </a:solidFill>
                <a:latin typeface="Hiragino Sans GB"/>
                <a:ea typeface="Hiragino Sans GB"/>
                <a:cs typeface="Hiragino Sans GB"/>
              </a:rPr>
              <a:t>来源：Duolingo IR / SEC。定义与完整链接见方法说明、来源清单及演讲者备注</a:t>
            </a:r>
          </a:p>
        </p:txBody>
      </p:sp>
    </p:spTree>
    <p:extLst>
      <p:ext uri="{BB962C8B-B14F-4D97-AF65-F5344CB8AC3E}">
        <p14:creationId xmlns:p14="http://schemas.microsoft.com/office/powerpoint/2010/main" val="3752271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27DBE56-5750-48D0-AFBF-DFF3DCD1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24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rPr>
              <a:t>5. 运营含义</a:t>
            </a:r>
          </a:p>
        </p:txBody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268BCA7B-A6A5-4444-80AA-9FAA3E41E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3429000" cy="4023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7ECE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>
            <a:defPPr>
              <a:defRPr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B0FB51B-E585-4154-ACFC-3ED6EE12F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91640"/>
            <a:ext cx="457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0A441AA-36F2-469E-B4CD-15200596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240280"/>
            <a:ext cx="28346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6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rPr>
              <a:t>保护活跃质量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36A3854-C2A9-444A-A52B-7A998D744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63240"/>
            <a:ext cx="2834640" cy="2019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调查 DAU 增长快于 MAU 的驱动</a:t>
            </a:r>
          </a:p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因素，并持续观察更高的活跃强度</a:t>
            </a:r>
          </a:p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能否维持。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11E52B14-12D3-486B-BD23-3E1940D02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417320"/>
            <a:ext cx="3429000" cy="4023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7ECE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>
            <a:defPPr>
              <a:defRPr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B99E77C-0294-40C7-AF2B-DFBED618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691640"/>
            <a:ext cx="457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A8A2B8E-2548-433F-9BDC-A65AAE80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240280"/>
            <a:ext cx="28346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6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rPr>
              <a:t>强化会员价值沟通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5E445DB-8B69-4D0B-866C-1795BB933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3063240"/>
            <a:ext cx="2834640" cy="2019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测试更清晰的订阅价值沟通与定向</a:t>
            </a:r>
          </a:p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试用机会，不能将更快的收入增长</a:t>
            </a:r>
          </a:p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直接解释为更高的转化效率。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48961B8-D9E2-4E5E-82DF-540CD071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59" y="1417320"/>
            <a:ext cx="3429000" cy="4023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7ECE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>
            <a:defPPr>
              <a:defRPr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DCE3DC-9F59-4BD2-856E-A2A8F018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691640"/>
            <a:ext cx="457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5B270FD-31E8-4476-B79A-392480BC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240280"/>
            <a:ext cx="28346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6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rPr>
              <a:t>兼顾增长与用户自主控制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85AEED4-1BAD-4175-B04D-4476612E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063240"/>
            <a:ext cx="2834640" cy="2019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保留可配置的互动设置，并在活跃</a:t>
            </a:r>
          </a:p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与商业化扩大的过程中持续监控用</a:t>
            </a:r>
          </a:p>
          <a:p xmlns:a="http://schemas.openxmlformats.org/drawingml/2006/main">
            <a:pPr algn="l">
              <a:buNone/>
              <a:defRPr sz="130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0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户反应。</a:t>
            </a:r>
          </a:p>
        </p:txBody>
      </p:sp>
      <p:sp>
        <p:nvSpPr>
          <p:cNvPr id="15" name="Evidence footer">
            <a:extLst xmlns:a="http://schemas.openxmlformats.org/drawingml/2006/main">
              <a:ext uri="{FF2B5EF4-FFF2-40B4-BE49-F238E27FC236}">
                <a16:creationId xmlns:a16="http://schemas.microsoft.com/office/drawing/2014/main" id="{14666DC3-C7F7-457D-A441-040F358C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29375"/>
            <a:ext cx="1085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l">
              <a:defRPr sz="900">
                <a:solidFill>
                  <a:srgbClr val="6873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900">
                <a:solidFill>
                  <a:srgbClr val="6873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00">
                <a:solidFill>
                  <a:srgbClr val="68737D"/>
                </a:solidFill>
                <a:latin typeface="Hiragino Sans GB"/>
                <a:ea typeface="Hiragino Sans GB"/>
                <a:cs typeface="Hiragino Sans GB"/>
              </a:rPr>
              <a:t>来源：Duolingo IR / SEC。定义与完整链接见方法说明、来源清单及演讲者备注</a:t>
            </a:r>
          </a:p>
        </p:txBody>
      </p:sp>
    </p:spTree>
    <p:extLst>
      <p:ext uri="{BB962C8B-B14F-4D97-AF65-F5344CB8AC3E}">
        <p14:creationId xmlns:p14="http://schemas.microsoft.com/office/powerpoint/2010/main" val="4332519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0B76636-71C8-4096-ADF3-0208EFE7A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24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rPr>
              <a:t>6. 方法与分析局限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14B67E5-382A-46F5-8159-561AA429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188720"/>
            <a:ext cx="5029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6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rPr>
              <a:t>分析流程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B6FCED-B0A7-451D-A7EE-0B90069D7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91640"/>
            <a:ext cx="4983480" cy="5619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25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25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5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• 官方披露覆盖 12 个季度、6 项公司指标，来源和定义均有记录。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F710B50-6771-48C6-9452-25A8CD2A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13432"/>
            <a:ext cx="4983480" cy="5619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25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25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5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• 比较期间增长、同比、环比、DAU/MAU 与增长指数，增速差</a:t>
            </a:r>
          </a:p>
          <a:p xmlns:a="http://schemas.openxmlformats.org/drawingml/2006/main">
            <a:pPr algn="l">
              <a:buNone/>
              <a:defRPr sz="125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5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用百分点表示。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94082E4-67EF-4E83-B1A1-D090D4512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35224"/>
            <a:ext cx="4983480" cy="5619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25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25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5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• SQL / Python 核对 16 个衍生字段，不可用的前期比较保留为</a:t>
            </a:r>
          </a:p>
          <a:p xmlns:a="http://schemas.openxmlformats.org/drawingml/2006/main">
            <a:pPr algn="l">
              <a:buNone/>
              <a:defRPr sz="125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5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空值。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7DD33CD-81E8-467E-8854-B0D3F100D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57016"/>
            <a:ext cx="4983480" cy="5619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25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25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5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• 两页已完成的 Tableau Dashboard 为最终可视化，中英文案</a:t>
            </a:r>
          </a:p>
          <a:p xmlns:a="http://schemas.openxmlformats.org/drawingml/2006/main">
            <a:pPr algn="l">
              <a:buNone/>
              <a:defRPr sz="125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5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例共用同一组页面。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1752DC-A8A5-4E9A-B646-6FE5CFD6D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188720"/>
            <a:ext cx="4937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6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00" b="1">
                <a:solidFill>
                  <a:srgbClr val="172B4D"/>
                </a:solidFill>
                <a:latin typeface="Hiragino Sans GB"/>
                <a:ea typeface="Hiragino Sans GB"/>
                <a:cs typeface="Hiragino Sans GB"/>
              </a:rPr>
              <a:t>分析边界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ACA7EE6-AA55-4F79-A973-527CD2D3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691640"/>
            <a:ext cx="4754880" cy="5619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25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25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5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• 公开汇总数据无法衡量 cohort 留存或真实的免费到付费漏</a:t>
            </a:r>
          </a:p>
          <a:p xmlns:a="http://schemas.openxmlformats.org/drawingml/2006/main">
            <a:pPr algn="l">
              <a:buNone/>
              <a:defRPr sz="125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5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斗。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2AA69E1-100A-4402-A516-565C606B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313432"/>
            <a:ext cx="4754880" cy="5619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25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25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5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• 竞品快照缺少原始带日期截图，仅用于背景。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A8703C4-54CA-45B0-8FAA-F65B5114F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935224"/>
            <a:ext cx="4754880" cy="5619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25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25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5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• DAU/MAU 描述汇总活跃强度，付费与收入增长无法隔离转</a:t>
            </a:r>
          </a:p>
          <a:p xmlns:a="http://schemas.openxmlformats.org/drawingml/2006/main">
            <a:pPr algn="l">
              <a:buNone/>
              <a:defRPr sz="125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5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化或定价影响。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F5C2022-DA4A-4E7F-B6AC-22753697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557016"/>
            <a:ext cx="4754880" cy="5619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l">
              <a:defRPr sz="125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125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50" b="0">
                <a:solidFill>
                  <a:srgbClr val="263238"/>
                </a:solidFill>
                <a:latin typeface="Hiragino Sans GB"/>
                <a:ea typeface="Hiragino Sans GB"/>
                <a:cs typeface="Hiragino Sans GB"/>
              </a:rPr>
              <a:t>• 结论为描述性关系，建议尚无实际业务效果验证。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0877CC58-288F-43B0-8AB2-542C95E7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63440"/>
            <a:ext cx="105156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7ECE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>
            <a:defPPr>
              <a:defRPr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6C7B1E7-5024-419B-9CE8-D1890A4EC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92040"/>
            <a:ext cx="10058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anchor="t">
            <a:noAutofit/>
          </a:bodyPr>
          <a:lstStyle xmlns:a="http://schemas.openxmlformats.org/drawingml/2006/main">
            <a:defPPr algn="ctr">
              <a:defRPr sz="15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buNone/>
              <a:defRPr sz="15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2FB344"/>
                </a:solidFill>
                <a:latin typeface="Hiragino Sans GB"/>
                <a:ea typeface="Hiragino Sans GB"/>
                <a:cs typeface="Hiragino Sans GB"/>
              </a:rPr>
              <a:t>项目产出是运营重点与监控框架。拟议的调查和实验需要内部数据，并经过验证后再行动。</a:t>
            </a:r>
          </a:p>
        </p:txBody>
      </p:sp>
      <p:sp>
        <p:nvSpPr>
          <p:cNvPr id="15" name="Evidence footer">
            <a:extLst xmlns:a="http://schemas.openxmlformats.org/drawingml/2006/main">
              <a:ext uri="{FF2B5EF4-FFF2-40B4-BE49-F238E27FC236}">
                <a16:creationId xmlns:a16="http://schemas.microsoft.com/office/drawing/2014/main" id="{0662D7D6-571E-43FA-B8FE-7CA777D91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29375"/>
            <a:ext cx="1085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l">
              <a:defRPr sz="900">
                <a:solidFill>
                  <a:srgbClr val="6873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buNone/>
              <a:defRPr sz="900">
                <a:solidFill>
                  <a:srgbClr val="6873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00">
                <a:solidFill>
                  <a:srgbClr val="68737D"/>
                </a:solidFill>
                <a:latin typeface="Hiragino Sans GB"/>
                <a:ea typeface="Hiragino Sans GB"/>
                <a:cs typeface="Hiragino Sans GB"/>
              </a:rPr>
              <a:t>来源：Duolingo IR / SEC。定义与完整链接见方法说明、来源清单及演讲者备注</a:t>
            </a:r>
          </a:p>
        </p:txBody>
      </p:sp>
    </p:spTree>
    <p:extLst>
      <p:ext uri="{BB962C8B-B14F-4D97-AF65-F5344CB8AC3E}">
        <p14:creationId xmlns:p14="http://schemas.microsoft.com/office/powerpoint/2010/main" val="132003801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2026-10-18T17:35:39.4430000Z</dcterms:created>
  <dcterms:modified xsi:type="dcterms:W3CDTF">2026-10-18T17:35:39.4430000Z</dcterms:modified>
</coreProperties>
</file>