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781d89db4c4623" /><Relationship Type="http://schemas.openxmlformats.org/officeDocument/2006/relationships/extended-properties" Target="/docProps/app.xml" Id="Rbb97c134343f4f18" /><Relationship Type="http://schemas.openxmlformats.org/officeDocument/2006/relationships/officeDocument" Target="/ppt/presentation.xml" Id="R2e32fbc4f1434397" /></Relationships>
</file>

<file path=ppt/presentation.xml><?xml version="1.0" encoding="utf-8"?>
<p:presentation xmlns:p="http://schemas.openxmlformats.org/presentationml/2006/main">
  <p:sldMasterIdLst>
    <p:sldMasterId xmlns:r="http://schemas.openxmlformats.org/officeDocument/2006/relationships" id="2147483648" r:id="R0d32e36c44df49d6"/>
  </p:sldMasterIdLst>
  <p:notesMasterIdLst>
    <p:notesMasterId xmlns:r="http://schemas.openxmlformats.org/officeDocument/2006/relationships" r:id="Rab8145cbbfc74f35"/>
  </p:notesMasterIdLst>
  <p:sldIdLst>
    <p:sldId xmlns:r="http://schemas.openxmlformats.org/officeDocument/2006/relationships" id="256" r:id="R68c8ff8c35274de6"/>
    <p:sldId xmlns:r="http://schemas.openxmlformats.org/officeDocument/2006/relationships" id="257" r:id="R42e575a56e9a4bb6"/>
    <p:sldId xmlns:r="http://schemas.openxmlformats.org/officeDocument/2006/relationships" id="258" r:id="R7d4ec8903bff4505"/>
    <p:sldId xmlns:r="http://schemas.openxmlformats.org/officeDocument/2006/relationships" id="259" r:id="R5c91a0fdba1b4009"/>
    <p:sldId xmlns:r="http://schemas.openxmlformats.org/officeDocument/2006/relationships" id="260" r:id="Rbd602cf7808e4ca4"/>
    <p:sldId xmlns:r="http://schemas.openxmlformats.org/officeDocument/2006/relationships" id="261" r:id="R45a15caabda44248"/>
    <p:sldId xmlns:r="http://schemas.openxmlformats.org/officeDocument/2006/relationships" id="262" r:id="R4656962a58954234"/>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6f4f88b15e441d5" /><Relationship Type="http://schemas.openxmlformats.org/officeDocument/2006/relationships/slideMaster" Target="/ppt/slideMasters/slideMaster1.xml" Id="R0d32e36c44df49d6" /><Relationship Type="http://schemas.openxmlformats.org/officeDocument/2006/relationships/notesMaster" Target="/ppt/notesMasters/notesMaster1.xml" Id="Rab8145cbbfc74f35" /><Relationship Type="http://schemas.openxmlformats.org/officeDocument/2006/relationships/presProps" Target="/ppt/presProps.xml" Id="R017065780d0444a0" /><Relationship Type="http://schemas.openxmlformats.org/officeDocument/2006/relationships/viewProps" Target="/ppt/viewProps.xml" Id="Rae2cac28124c48d6" /><Relationship Type="http://schemas.openxmlformats.org/officeDocument/2006/relationships/tableStyles" Target="/ppt/tableStyles.xml" Id="R440dfb73b6e14dfb" /><Relationship Type="http://schemas.openxmlformats.org/officeDocument/2006/relationships/slide" Target="/ppt/slides/slide1.xml" Id="R68c8ff8c35274de6" /><Relationship Type="http://schemas.openxmlformats.org/officeDocument/2006/relationships/slide" Target="/ppt/slides/slide2.xml" Id="R42e575a56e9a4bb6" /><Relationship Type="http://schemas.openxmlformats.org/officeDocument/2006/relationships/slide" Target="/ppt/slides/slide3.xml" Id="R7d4ec8903bff4505" /><Relationship Type="http://schemas.openxmlformats.org/officeDocument/2006/relationships/slide" Target="/ppt/slides/slide4.xml" Id="R5c91a0fdba1b4009" /><Relationship Type="http://schemas.openxmlformats.org/officeDocument/2006/relationships/slide" Target="/ppt/slides/slide5.xml" Id="Rbd602cf7808e4ca4" /><Relationship Type="http://schemas.openxmlformats.org/officeDocument/2006/relationships/slide" Target="/ppt/slides/slide6.xml" Id="R45a15caabda44248" /><Relationship Type="http://schemas.openxmlformats.org/officeDocument/2006/relationships/slide" Target="/ppt/slides/slide7.xml" Id="R4656962a589542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2d9c1bb2f040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41495cdd174262" /><Relationship Type="http://schemas.openxmlformats.org/officeDocument/2006/relationships/notesMaster" Target="/ppt/notesMasters/notesMaster1.xml" Id="R5db10c6ba1ad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8144b0e1fe418b" /><Relationship Type="http://schemas.openxmlformats.org/officeDocument/2006/relationships/notesMaster" Target="/ppt/notesMasters/notesMaster1.xml" Id="Red1249b467ce4e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f22fffe77a4ff6" /><Relationship Type="http://schemas.openxmlformats.org/officeDocument/2006/relationships/notesMaster" Target="/ppt/notesMasters/notesMaster1.xml" Id="R61386dda7df14f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e6a1006969433e" /><Relationship Type="http://schemas.openxmlformats.org/officeDocument/2006/relationships/notesMaster" Target="/ppt/notesMasters/notesMaster1.xml" Id="Rcd3b1ade6f3346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2328fa8bd949d1" /><Relationship Type="http://schemas.openxmlformats.org/officeDocument/2006/relationships/notesMaster" Target="/ppt/notesMasters/notesMaster1.xml" Id="Rfda946fa81c14c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8258f5a4f64e8d" /><Relationship Type="http://schemas.openxmlformats.org/officeDocument/2006/relationships/notesMaster" Target="/ppt/notesMasters/notesMaster1.xml" Id="R2e9caa4b7e33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49404ad3eb42a1" /><Relationship Type="http://schemas.openxmlformats.org/officeDocument/2006/relationships/notesMaster" Target="/ppt/notesMasters/notesMaster1.xml" Id="Re1f9efb1041147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 Duolingo 用户规模持续扩大，用户活跃度和商业化表现是否也同步提升？本项目基于 2023 Q1–2025 Q4 的公开经营数据，对用户规模、活跃度、付费订阅和收入增长进行对比，并结合 2026 年初的竞品数字表现，进一步提炼增长运营与用户运营的关注重点。</a:t>
            </a:r>
          </a:p>
          <a:p xmlns:a="http://schemas.openxmlformats.org/drawingml/2006/main">
            <a:r>
              <a:t/>
            </a:r>
          </a:p>
          <a:p xmlns:a="http://schemas.openxmlformats.org/drawingml/2006/main">
            <a:r>
              <a:t>项目工作：明确业务问题，统一指标口径，核对公开数据与计算结果，完成两页 Tableau Dashboard，并将分析发现转化为运营关注重点。</a:t>
            </a:r>
          </a:p>
          <a:p xmlns:a="http://schemas.openxmlformats.org/drawingml/2006/main">
            <a:r>
              <a:t/>
            </a:r>
          </a:p>
          <a:p xmlns:a="http://schemas.openxmlformats.org/drawingml/2006/main">
            <a:r>
              <a:t>增长率根据公开披露的数值计算，并按展示需要四舍五入。MAU、DAU 为季度平均人数，付费订阅用户为期末人数，收入为当季金额。披露数值本身已做过舍入，因此计算增速可能与公司使用未舍入数据公布的增速略有差异。</a:t>
            </a:r>
          </a:p>
          <a:p xmlns:a="http://schemas.openxmlformats.org/drawingml/2006/main">
            <a:r>
              <a:t/>
            </a:r>
          </a:p>
          <a:p xmlns:a="http://schemas.openxmlformats.org/drawingml/2006/main">
            <a:r>
              <a:t>DAU/MAU 是季度平均 DAU 与季度平均 MAU 的比值，反映整体活跃强度，不等同于留存率，也不能代表某个用户每日使用的概率。增速差用百分点表示，增长指数以 2023 Q1 = 100 为基期。</a:t>
            </a:r>
          </a:p>
          <a:p xmlns:a="http://schemas.openxmlformats.org/drawingml/2006/main">
            <a:r>
              <a:t/>
            </a:r>
          </a:p>
          <a:p xmlns:a="http://schemas.openxmlformats.org/drawingml/2006/main">
            <a:r>
              <a:t>MAU、DAU 采用 Duolingo 自有的分析定义和估算口径，本项目未对用户人数进行独立测量。</a:t>
            </a:r>
          </a:p>
          <a:p xmlns:a="http://schemas.openxmlformats.org/drawingml/2006/main">
            <a:r>
              <a:t/>
            </a:r>
          </a:p>
          <a:p xmlns:a="http://schemas.openxmlformats.org/drawingml/2006/main">
            <a:r>
              <a:t>竞品网站与社媒数据来自原课程项目中记录的历史快照。由于原始带日期截图和部分账户链接未保留，目前无法独立复核其准确采集时间，因此这些数据仅用于补充竞争背景，不用于推断市场份额、转化率、留存或长期趋势。</a:t>
            </a:r>
          </a:p>
          <a:p xmlns:a="http://schemas.openxmlformats.org/drawingml/2006/main">
            <a:r>
              <a:t/>
            </a:r>
          </a:p>
          <a:p xmlns:a="http://schemas.openxmlformats.org/drawingml/2006/main">
            <a:r>
              <a:t>SQL 逻辑已通过 SQLite 兼容环境进行结果核对；原生 MySQL 环境未单独执行验证。原始数据、处理后 CSV、指标定义和已确认的分析结论均保持不变。</a:t>
            </a:r>
          </a:p>
          <a:p xmlns:a="http://schemas.openxmlformats.org/drawingml/2006/main">
            <a:r>
              <a:t/>
            </a:r>
          </a:p>
          <a:p xmlns:a="http://schemas.openxmlformats.org/drawingml/2006/main">
            <a:r>
              <a:t>以下方向基于公开数据提出，仍需结合内部用户数据和实际测试进一步验证。本项目不声称相关策略已经实施或产生业务效果。</a:t>
            </a:r>
          </a:p>
          <a:p xmlns:a="http://schemas.openxmlformats.org/drawingml/2006/main">
            <a:r>
              <a:t/>
            </a:r>
          </a:p>
          <a:p xmlns:a="http://schemas.openxmlformats.org/drawingml/2006/main">
            <a:r>
              <a:t>本项目将公开数据中的增长变化转化为运营关注重点与验证方向。后续行动仍需结合内部数据和实际测试，并关注免费用户体验与学习体验。</a:t>
            </a:r>
          </a:p>
          <a:p xmlns:a="http://schemas.openxmlformats.org/drawingml/2006/main">
            <a:r>
              <a:t/>
            </a:r>
          </a:p>
          <a:p xmlns:a="http://schemas.openxmlformats.org/drawingml/2006/main">
            <a:r>
              <a:t>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 Methodology</a:t>
            </a:r>
          </a:p>
          <a:p xmlns:a="http://schemas.openxmlformats.org/drawingml/2006/main">
            <a:r>
              <a:t/>
            </a:r>
          </a:p>
          <a:p xmlns:a="http://schemas.openxmlformats.org/drawingml/2006/main">
            <a:r>
              <a:t>## Fixed analytical scope</a:t>
            </a:r>
          </a:p>
          <a:p xmlns:a="http://schemas.openxmlformats.org/drawingml/2006/main">
            <a:r>
              <a:t/>
            </a:r>
          </a:p>
          <a:p xmlns:a="http://schemas.openxmlformats.org/drawingml/2006/main">
            <a:r>
              <a:t>- Analysis as of: **March 2026**.</a:t>
            </a:r>
          </a:p>
          <a:p xmlns:a="http://schemas.openxmlformats.org/drawingml/2006/main">
            <a:r>
              <a:t>- Corporate performance: **Q1 2023–Q4 2025**, 12 complete quarters.</a:t>
            </a:r>
          </a:p>
          <a:p xmlns:a="http://schemas.openxmlformats.org/drawingml/2006/main">
            <a:r>
              <a:t>- Competitive website context: inherited **February 2026** snapshot.</a:t>
            </a:r>
          </a:p>
          <a:p xmlns:a="http://schemas.openxmlformats.org/drawingml/2006/main">
            <a:r>
              <a:t>- Competitive social context: inherited **March 2026** snapshot.</a:t>
            </a:r>
          </a:p>
          <a:p xmlns:a="http://schemas.openxmlformats.org/drawingml/2006/main">
            <a:r>
              <a:t/>
            </a:r>
          </a:p>
          <a:p xmlns:a="http://schemas.openxmlformats.org/drawingml/2006/main">
            <a:r>
              <a:t>The continuation audit was performed on **October 14, 2026** using historical official documents published before the March 2026 analysis cutoff. The review date does not move the analysis date. Later operating results and current competitor values are excluded.</a:t>
            </a:r>
          </a:p>
          <a:p xmlns:a="http://schemas.openxmlformats.org/drawingml/2006/main">
            <a:r>
              <a:t/>
            </a:r>
          </a:p>
          <a:p xmlns:a="http://schemas.openxmlformats.org/drawingml/2006/main">
            <a:r>
              <a:t>## Business questions and evidence</a:t>
            </a:r>
          </a:p>
          <a:p xmlns:a="http://schemas.openxmlformats.org/drawingml/2006/main">
            <a:r>
              <a:t/>
            </a:r>
          </a:p>
          <a:p xmlns:a="http://schemas.openxmlformats.org/drawingml/2006/main">
            <a:r>
              <a:t>The case study examines whether audience growth coincided with deeper aggregate daily activity and larger paid-subscriber/revenue bases, then identifies operational questions for a growth team. It does not reconstruct Duolingo's internal funnel or assess campaign effectiveness.</a:t>
            </a:r>
          </a:p>
          <a:p xmlns:a="http://schemas.openxmlformats.org/drawingml/2006/main">
            <a:r>
              <a:t/>
            </a:r>
          </a:p>
          <a:p xmlns:a="http://schemas.openxmlformats.org/drawingml/2006/main">
            <a:r>
              <a:t>The primary evidence is six company-reported metrics per quarter: average MAU, average DAU, period-end paid subscribers, quarterly GAAP revenue, total bookings and subscription bookings. Every raw corporate value must trace to official Investor Relations or SEC material through `source_id`. The historical competitor values provide limited context and have weaker provenance; they are not used to establish Duolingo's operating performance.</a:t>
            </a:r>
          </a:p>
          <a:p xmlns:a="http://schemas.openxmlformats.org/drawingml/2006/main">
            <a:r>
              <a:t/>
            </a:r>
          </a:p>
          <a:p xmlns:a="http://schemas.openxmlformats.org/drawingml/2006/main">
            <a:r>
              <a:t>An inherited RACE/coursework narrative is motivation for the project, not independently established evidence. The original coursework and competitor captures are absent. Descriptive findings here depend on the inspected public data, not on unprovided prior summaries.</a:t>
            </a:r>
          </a:p>
          <a:p xmlns:a="http://schemas.openxmlformats.org/drawingml/2006/main">
            <a:r>
              <a:t/>
            </a:r>
          </a:p>
          <a:p xmlns:a="http://schemas.openxmlformats.org/drawingml/2006/main">
            <a:r>
              <a:t>## Source verification</a:t>
            </a:r>
          </a:p>
          <a:p xmlns:a="http://schemas.openxmlformats.org/drawingml/2006/main">
            <a:r>
              <a:t/>
            </a:r>
          </a:p>
          <a:p xmlns:a="http://schemas.openxmlformats.org/drawingml/2006/main">
            <a:r>
              <a:t>The October 2026 continuation audit independently matched **all 72 corporate metric cells** (12 quarters × six metrics) to official historical numerical disclosures. No raw corporate values needed replacement. See `source_manifest.csv` for document URLs and publication dates.</a:t>
            </a:r>
          </a:p>
          <a:p xmlns:a="http://schemas.openxmlformats.org/drawingml/2006/main">
            <a:r>
              <a:t/>
            </a:r>
          </a:p>
          <a:p xmlns:a="http://schemas.openxmlformats.org/drawingml/2006/main">
            <a:r>
              <a:t>| Corporate periods | Numerical disclosure used | Precision retained |</a:t>
            </a:r>
          </a:p>
          <a:p xmlns:a="http://schemas.openxmlformats.org/drawingml/2006/main">
            <a:r>
              <a:t>|---|---|---|</a:t>
            </a:r>
          </a:p>
          <a:p xmlns:a="http://schemas.openxmlformats.org/drawingml/2006/main">
            <a:r>
              <a:t>| 2023-Q1, Q2, Q3, Q4 | Original official quarterly releases: `DUOL_2023_Q1_IR` through `DUOL_2023_Q4_IR` | User counts in millions; financial USD thousands divided by 1,000 |</a:t>
            </a:r>
          </a:p>
          <a:p xmlns:a="http://schemas.openxmlformats.org/drawingml/2006/main">
            <a:r>
              <a:t>| 2024-Q1, Q2, Q3 | Original official quarterly releases: `DUOL_2024_Q1_IR` through `DUOL_2024_Q3_IR` | User counts in millions; financial USD thousands divided by 1,000 |</a:t>
            </a:r>
          </a:p>
          <a:p xmlns:a="http://schemas.openxmlformats.org/drawingml/2006/main">
            <a:r>
              <a:t>| 2024-Q4 | Original Q4/FY2024 shareholder letter: `DUOL_2024_Q4_IR` | Disclosed one-decimal millions |</a:t>
            </a:r>
          </a:p>
          <a:p xmlns:a="http://schemas.openxmlformats.org/drawingml/2006/main">
            <a:r>
              <a:t>| 2025-Q1 | Original Q1 2025 shareholder letter: `DUOL_2025_Q1_IR` | Disclosed one-decimal millions |</a:t>
            </a:r>
          </a:p>
          <a:p xmlns:a="http://schemas.openxmlformats.org/drawingml/2006/main">
            <a:r>
              <a:t>| 2025-Q2 | Original Q2 2025 shareholder letter: `DUOL_2025_Q2_IR` | Disclosed one-decimal millions |</a:t>
            </a:r>
          </a:p>
          <a:p xmlns:a="http://schemas.openxmlformats.org/drawingml/2006/main">
            <a:r>
              <a:t>| 2025-Q3 | Original Q3 2025 shareholder letter: `DUOL_2025_Q3_IR` | Disclosed one-decimal millions |</a:t>
            </a:r>
          </a:p>
          <a:p xmlns:a="http://schemas.openxmlformats.org/drawingml/2006/main">
            <a:r>
              <a:t>| 2025-Q4 | Original Q4/FY2025 shareholder letter: `DUOL_2025_Q4_SEC` | Disclosed one-decimal millions |</a:t>
            </a:r>
          </a:p>
          <a:p xmlns:a="http://schemas.openxmlformats.org/drawingml/2006/main">
            <a:r>
              <a:t/>
            </a:r>
          </a:p>
          <a:p xmlns:a="http://schemas.openxmlformats.org/drawingml/2006/main">
            <a:r>
              <a:t>The Q4 2025 DAU/MAU ratio is calculated as `52.7 / 133.1 = 39.594…%`, displayed as **39.6%**. The supplemental original [2025 Form 10-K](https://www.sec.gov/Archives/edgar/data/1562088/000162828026012494/duol-20251231.htm), published February 27, 2026, explicitly reports 39.6% and provides metric definitions. It adds no quarter or business metric to the dataset. Four announcement-only manifest links were corrected to the numerical shareholder letters.</a:t>
            </a:r>
          </a:p>
          <a:p xmlns:a="http://schemas.openxmlformats.org/drawingml/2006/main">
            <a:r>
              <a:t/>
            </a:r>
          </a:p>
          <a:p xmlns:a="http://schemas.openxmlformats.org/drawingml/2006/main">
            <a:r>
              <a:t>The company explains that its published growth percentages can use underlying unrounded figures. This project transparently derives rates from the disclosed values stored in its CSVs, so minor differences from rounded official rates are expected and are not evidence of a data error.</a:t>
            </a:r>
          </a:p>
          <a:p xmlns:a="http://schemas.openxmlformats.org/drawingml/2006/main">
            <a:r>
              <a:t/>
            </a:r>
          </a:p>
          <a:p xmlns:a="http://schemas.openxmlformats.org/drawingml/2006/main">
            <a:r>
              <a:t>## Data preparation and calculations</a:t>
            </a:r>
          </a:p>
          <a:p xmlns:a="http://schemas.openxmlformats.org/drawingml/2006/main">
            <a:r>
              <a:t/>
            </a:r>
          </a:p>
          <a:p xmlns:a="http://schemas.openxmlformats.org/drawingml/2006/main">
            <a:r>
              <a:t>1. Preserve the three canonical raw CSVs and source manifest. The builder reads these existing inputs; it does not recreate or overwrite raw values.</a:t>
            </a:r>
          </a:p>
          <a:p xmlns:a="http://schemas.openxmlformats.org/drawingml/2006/main">
            <a:r>
              <a:t>2. Require the exact 12-quarter sequence, consistent fiscal metadata and actual quarter-end dates. Require positive core values, DAU no greater than MAU, and subscription bookings no greater than total bookings.</a:t>
            </a:r>
          </a:p>
          <a:p xmlns:a="http://schemas.openxmlformats.org/drawingml/2006/main">
            <a:r>
              <a:t>3. Calculate DAU/MAU, QoQ, YoY, four growth indexes (2023-Q1 = 100) and three YoY growth-rate gaps in Python for the processed quarterly CSV.</a:t>
            </a:r>
          </a:p>
          <a:p xmlns:a="http://schemas.openxmlformats.org/drawingml/2006/main">
            <a:r>
              <a:t>4. Preserve unavailable prior-period comparisons as missing values. QoQ is missing in 2023-Q1; YoY and growth gaps are missing in all four 2023 quarters. No observations before 2023-Q1 are fabricated or imported.</a:t>
            </a:r>
          </a:p>
          <a:p xmlns:a="http://schemas.openxmlformats.org/drawingml/2006/main">
            <a:r>
              <a:t>5. Reshape 13 selected metrics into the existing 156-row Tableau long CSV, retaining quarter keys, dates, numeric values and missing-value masks.</a:t>
            </a:r>
          </a:p>
          <a:p xmlns:a="http://schemas.openxmlformats.org/drawingml/2006/main">
            <a:r>
              <a:t>6. Copy the historical competitor snapshots into processed inputs without changing their values or months. Validate three unique web rows and nine unique brand/platform social rows.</a:t>
            </a:r>
          </a:p>
          <a:p xmlns:a="http://schemas.openxmlformats.org/drawingml/2006/main">
            <a:r>
              <a:t/>
            </a:r>
          </a:p>
          <a:p xmlns:a="http://schemas.openxmlformats.org/drawingml/2006/main">
            <a:r>
              <a:t>Full formulas, units and field definitions are in `data_dictionary.md`. Rate differences are reported in **percentage points**; ratios and growth rates are reported in percent; indexes are index points. Period growth compares the two endpoint quarters, not annual totals.</a:t>
            </a:r>
          </a:p>
          <a:p xmlns:a="http://schemas.openxmlformats.org/drawingml/2006/main">
            <a:r>
              <a:t/>
            </a:r>
          </a:p>
          <a:p xmlns:a="http://schemas.openxmlformats.org/drawingml/2006/main">
            <a:r>
              <a:t>## Independent reconciliation and SQL scope</a:t>
            </a:r>
          </a:p>
          <a:p xmlns:a="http://schemas.openxmlformats.org/drawingml/2006/main">
            <a:r>
              <a:t/>
            </a:r>
          </a:p>
          <a:p xmlns:a="http://schemas.openxmlformats.org/drawingml/2006/main">
            <a:r>
              <a:t>The processed values are independently recalculated from raw CSV strings using Python's Decimal arithmetic, joined by `quarter`, and reconciled across **all 16 derived fields and their missing-value masks**. Floating-point exports are compared within a small numerical tolerance, not for literal decimal-string identity. Raw fields and the long-format key/date/value mapping are also checked.</a:t>
            </a:r>
          </a:p>
          <a:p xmlns:a="http://schemas.openxmlformats.org/drawingml/2006/main">
            <a:r>
              <a:t/>
            </a:r>
          </a:p>
          <a:p xmlns:a="http://schemas.openxmlformats.org/drawingml/2006/main">
            <a:r>
              <a:t>The supplied SQL is intended for MySQL 8. It independently expresses the same quarterly formulas using `LAG`, `FIRST_VALUE` and analytical views. During this continuation, the actual schema, seed and view scripts are also executed against an in-memory **SQLite compatibility adaptation**, then their results are reconciled with the Python data. The adaptation removes MySQL database-selection statements, changes `CREATE OR REPLACE VIEW` to `CREATE VIEW`, and changes `CAST(... AS DOUBLE)` to a real-number cast. SQLite accepts the declared string/decimal types but does not reproduce MySQL's precision, coercion and constraint behavior.</a:t>
            </a:r>
          </a:p>
          <a:p xmlns:a="http://schemas.openxmlformats.org/drawingml/2006/main">
            <a:r>
              <a:t/>
            </a:r>
          </a:p>
          <a:p xmlns:a="http://schemas.openxmlformats.org/drawingml/2006/main">
            <a:r>
              <a:t>Verification includes seeded raw values, all derived fields and NULL masks, SQL validation outputs, and the latest-quarter comparison. **Native MySQL execution is not verified.** This check demonstrates formula/result agreement through the disclosed adaptation; it does not certify MySQL deployment compatibility. See the executed notebook and final QA report for run evidence.</a:t>
            </a:r>
          </a:p>
          <a:p xmlns:a="http://schemas.openxmlformats.org/drawingml/2006/main">
            <a:r>
              <a:t/>
            </a:r>
          </a:p>
          <a:p xmlns:a="http://schemas.openxmlformats.org/drawingml/2006/main">
            <a:r>
              <a:t>## Interpretation and operational use</a:t>
            </a:r>
          </a:p>
          <a:p xmlns:a="http://schemas.openxmlformats.org/drawingml/2006/main">
            <a:r>
              <a:t/>
            </a:r>
          </a:p>
          <a:p xmlns:a="http://schemas.openxmlformats.org/drawingml/2006/main">
            <a:r>
              <a:t>- DAU/MAU is a ratio of separately averaged period counts and an aggregate engagement-intensity proxy; it is not cohort retention or an individual user's daily-use probability.</a:t>
            </a:r>
          </a:p>
          <a:p xmlns:a="http://schemas.openxmlformats.org/drawingml/2006/main">
            <a:r>
              <a:t>- Period-end paid subscribers and quarterly revenue do not constitute a measured free-to-paid funnel. Revenue growth combines multiple sources and timing effects; it cannot isolate subscription conversion, pricing, packaging, willingness to pay or commercial efficiency.</a:t>
            </a:r>
          </a:p>
          <a:p xmlns:a="http://schemas.openxmlformats.org/drawingml/2006/main">
            <a:r>
              <a:t>- Faster DAU/paid/revenue growth than MAU is an observed divergence. It suggests questions for operational review, not a proven causal mechanism.</a:t>
            </a:r>
          </a:p>
          <a:p xmlns:a="http://schemas.openxmlformats.org/drawingml/2006/main">
            <a:r>
              <a:t>- Proposed operational priorities require authorised internal evidence: review existing measurement, inspect cohort/renewal and conversion behavior where available, and evaluate possible actions against free-experience and learning guardrails. The portfolio's lack of access does not establish that Duolingo lacks instrumentation.</a:t>
            </a:r>
          </a:p>
          <a:p xmlns:a="http://schemas.openxmlformats.org/drawingml/2006/main">
            <a:r>
              <a:t>- As-of-cutoff management commentary can supply context when attributed to an official source. The [Q4/FY2025 shareholder letter](https://www.sec.gov/Archives/edgar/data/1562088/000162828026012246/q4fy25duolingo12-31x25shar.htm) describes prioritising teaching/user growth and reducing monetisation friction. This is a disclosed management direction, not a causal conclusion inferred from the quarterly metrics; forward forecasts are excluded from this case study.</a:t>
            </a:r>
          </a:p>
          <a:p xmlns:a="http://schemas.openxmlformats.org/drawingml/2006/main">
            <a:r>
              <a:t/>
            </a:r>
          </a:p>
          <a:p xmlns:a="http://schemas.openxmlformats.org/drawingml/2006/main">
            <a:r>
              <a:t>## Competitive and delivery limitations</a:t>
            </a:r>
          </a:p>
          <a:p xmlns:a="http://schemas.openxmlformats.org/drawingml/2006/main">
            <a:r>
              <a:t/>
            </a:r>
          </a:p>
          <a:p xmlns:a="http://schemas.openxmlformats.org/drawingml/2006/main">
            <a:r>
              <a:t>The inherited website/social observations remain point-in-time contextual snapshots. Original captures, exact observation dates and exact social account URLs are unavailable, so their historical provenance is explicitly **unverified**. The known months are preserved; unsupported exact dates are removed. Current provider pages cannot authenticate historical values and must not be used to replace the snapshots. The websites are not the apps; browsing metrics do not establish learning quality or conversion. Social audiences overlap, so followers are not summed across platforms. No market-share estimate or longitudinal competitor dataset is constructed.</a:t>
            </a:r>
          </a:p>
          <a:p xmlns:a="http://schemas.openxmlformats.org/drawingml/2006/main">
            <a:r>
              <a:t/>
            </a:r>
          </a:p>
          <a:p xmlns:a="http://schemas.openxmlformats.org/drawingml/2006/main">
            <a:r>
              <a:t>The final presentation uses the completed and published two-page English Tableau dashboard and `dashboard/final/Duolingo_Growth_Marketing_Analytics.twbx`. Page 2 retains Q4 2025 growth-gap cards, Indexed Growth Comparison, Engagement Growth Gap, Monetisation Growth Gaps, separate Website Traffic and Social Audience contextual snapshots, and Operational Priorities. The approved priority headings are Protect engagement quality; Strengthen premium value communication; Balance growth with user control. Tableau Public URLs, including the exact supplied Share URL, are recorded in `docs/portfolio_links.json`. Both pages' public PNG exports were retrieved without authentication on October 18, 2026; interactive browser tabs were not tested. Final dashboard images are kept in `dashboard/final/`; earlier bilingual static images are legacy prototypes retained for reference. English and Chinese case-study deliverables share the same final visuals, observations, calculations, conclusions and analytical limits. Exported pages must be visually inspected after regeneration, as numerical reconciliation alone does not establish visual QA. This presentation update does not change the March 2026 analysis cutoff or the frozen data definitions.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 Duolingo 用户规模持续扩大，用户活跃度和商业化表现是否也同步提升？本项目基于 2023 Q1–2025 Q4 的公开经营数据，对用户规模、活跃度、付费订阅和收入增长进行对比，并结合 2026 年初的竞品数字表现，进一步提炼增长运营与用户运营的关注重点。</a:t>
            </a:r>
          </a:p>
          <a:p xmlns:a="http://schemas.openxmlformats.org/drawingml/2006/main">
            <a:r>
              <a:t/>
            </a:r>
          </a:p>
          <a:p xmlns:a="http://schemas.openxmlformats.org/drawingml/2006/main">
            <a:r>
              <a:t>项目工作：明确业务问题，统一指标口径，核对公开数据与计算结果，完成两页 Tableau Dashboard，并将分析发现转化为运营关注重点。</a:t>
            </a:r>
          </a:p>
          <a:p xmlns:a="http://schemas.openxmlformats.org/drawingml/2006/main">
            <a:r>
              <a:t/>
            </a:r>
          </a:p>
          <a:p xmlns:a="http://schemas.openxmlformats.org/drawingml/2006/main">
            <a:r>
              <a:t>增长率根据公开披露的数值计算，并按展示需要四舍五入。MAU、DAU 为季度平均人数，付费订阅用户为期末人数，收入为当季金额。披露数值本身已做过舍入，因此计算增速可能与公司使用未舍入数据公布的增速略有差异。</a:t>
            </a:r>
          </a:p>
          <a:p xmlns:a="http://schemas.openxmlformats.org/drawingml/2006/main">
            <a:r>
              <a:t/>
            </a:r>
          </a:p>
          <a:p xmlns:a="http://schemas.openxmlformats.org/drawingml/2006/main">
            <a:r>
              <a:t>DAU/MAU 是季度平均 DAU 与季度平均 MAU 的比值，反映整体活跃强度，不等同于留存率，也不能代表某个用户每日使用的概率。增速差用百分点表示，增长指数以 2023 Q1 = 100 为基期。</a:t>
            </a:r>
          </a:p>
          <a:p xmlns:a="http://schemas.openxmlformats.org/drawingml/2006/main">
            <a:r>
              <a:t/>
            </a:r>
          </a:p>
          <a:p xmlns:a="http://schemas.openxmlformats.org/drawingml/2006/main">
            <a:r>
              <a:t>MAU、DAU 采用 Duolingo 自有的分析定义和估算口径，本项目未对用户人数进行独立测量。</a:t>
            </a:r>
          </a:p>
          <a:p xmlns:a="http://schemas.openxmlformats.org/drawingml/2006/main">
            <a:r>
              <a:t/>
            </a:r>
          </a:p>
          <a:p xmlns:a="http://schemas.openxmlformats.org/drawingml/2006/main">
            <a:r>
              <a:t>竞品网站与社媒数据来自原课程项目中记录的历史快照。由于原始带日期截图和部分账户链接未保留，目前无法独立复核其准确采集时间，因此这些数据仅用于补充竞争背景，不用于推断市场份额、转化率、留存或长期趋势。</a:t>
            </a:r>
          </a:p>
          <a:p xmlns:a="http://schemas.openxmlformats.org/drawingml/2006/main">
            <a:r>
              <a:t/>
            </a:r>
          </a:p>
          <a:p xmlns:a="http://schemas.openxmlformats.org/drawingml/2006/main">
            <a:r>
              <a:t>SQL 逻辑已通过 SQLite 兼容环境进行结果核对；原生 MySQL 环境未单独执行验证。原始数据、处理后 CSV、指标定义和已确认的分析结论均保持不变。</a:t>
            </a:r>
          </a:p>
          <a:p xmlns:a="http://schemas.openxmlformats.org/drawingml/2006/main">
            <a:r>
              <a:t/>
            </a:r>
          </a:p>
          <a:p xmlns:a="http://schemas.openxmlformats.org/drawingml/2006/main">
            <a:r>
              <a:t>以下方向基于公开数据提出，仍需结合内部用户数据和实际测试进一步验证。本项目不声称相关策略已经实施或产生业务效果。</a:t>
            </a:r>
          </a:p>
          <a:p xmlns:a="http://schemas.openxmlformats.org/drawingml/2006/main">
            <a:r>
              <a:t/>
            </a:r>
          </a:p>
          <a:p xmlns:a="http://schemas.openxmlformats.org/drawingml/2006/main">
            <a:r>
              <a:t>本项目将公开数据中的增长变化转化为运营关注重点与验证方向。后续行动仍需结合内部数据和实际测试，并关注免费用户体验与学习体验。</a:t>
            </a:r>
          </a:p>
          <a:p xmlns:a="http://schemas.openxmlformats.org/drawingml/2006/main">
            <a:r>
              <a:t/>
            </a:r>
          </a:p>
          <a:p xmlns:a="http://schemas.openxmlformats.org/drawingml/2006/main">
            <a:r>
              <a:t>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 Methodology</a:t>
            </a:r>
          </a:p>
          <a:p xmlns:a="http://schemas.openxmlformats.org/drawingml/2006/main">
            <a:r>
              <a:t/>
            </a:r>
          </a:p>
          <a:p xmlns:a="http://schemas.openxmlformats.org/drawingml/2006/main">
            <a:r>
              <a:t>## Fixed analytical scope</a:t>
            </a:r>
          </a:p>
          <a:p xmlns:a="http://schemas.openxmlformats.org/drawingml/2006/main">
            <a:r>
              <a:t/>
            </a:r>
          </a:p>
          <a:p xmlns:a="http://schemas.openxmlformats.org/drawingml/2006/main">
            <a:r>
              <a:t>- Analysis as of: **March 2026**.</a:t>
            </a:r>
          </a:p>
          <a:p xmlns:a="http://schemas.openxmlformats.org/drawingml/2006/main">
            <a:r>
              <a:t>- Corporate performance: **Q1 2023–Q4 2025**, 12 complete quarters.</a:t>
            </a:r>
          </a:p>
          <a:p xmlns:a="http://schemas.openxmlformats.org/drawingml/2006/main">
            <a:r>
              <a:t>- Competitive website context: inherited **February 2026** snapshot.</a:t>
            </a:r>
          </a:p>
          <a:p xmlns:a="http://schemas.openxmlformats.org/drawingml/2006/main">
            <a:r>
              <a:t>- Competitive social context: inherited **March 2026** snapshot.</a:t>
            </a:r>
          </a:p>
          <a:p xmlns:a="http://schemas.openxmlformats.org/drawingml/2006/main">
            <a:r>
              <a:t/>
            </a:r>
          </a:p>
          <a:p xmlns:a="http://schemas.openxmlformats.org/drawingml/2006/main">
            <a:r>
              <a:t>The continuation audit was performed on **October 14, 2026** using historical official documents published before the March 2026 analysis cutoff. The review date does not move the analysis date. Later operating results and current competitor values are excluded.</a:t>
            </a:r>
          </a:p>
          <a:p xmlns:a="http://schemas.openxmlformats.org/drawingml/2006/main">
            <a:r>
              <a:t/>
            </a:r>
          </a:p>
          <a:p xmlns:a="http://schemas.openxmlformats.org/drawingml/2006/main">
            <a:r>
              <a:t>## Business questions and evidence</a:t>
            </a:r>
          </a:p>
          <a:p xmlns:a="http://schemas.openxmlformats.org/drawingml/2006/main">
            <a:r>
              <a:t/>
            </a:r>
          </a:p>
          <a:p xmlns:a="http://schemas.openxmlformats.org/drawingml/2006/main">
            <a:r>
              <a:t>The case study examines whether audience growth coincided with deeper aggregate daily activity and larger paid-subscriber/revenue bases, then identifies operational questions for a growth team. It does not reconstruct Duolingo's internal funnel or assess campaign effectiveness.</a:t>
            </a:r>
          </a:p>
          <a:p xmlns:a="http://schemas.openxmlformats.org/drawingml/2006/main">
            <a:r>
              <a:t/>
            </a:r>
          </a:p>
          <a:p xmlns:a="http://schemas.openxmlformats.org/drawingml/2006/main">
            <a:r>
              <a:t>The primary evidence is six company-reported metrics per quarter: average MAU, average DAU, period-end paid subscribers, quarterly GAAP revenue, total bookings and subscription bookings. Every raw corporate value must trace to official Investor Relations or SEC material through `source_id`. The historical competitor values provide limited context and have weaker provenance; they are not used to establish Duolingo's operating performance.</a:t>
            </a:r>
          </a:p>
          <a:p xmlns:a="http://schemas.openxmlformats.org/drawingml/2006/main">
            <a:r>
              <a:t/>
            </a:r>
          </a:p>
          <a:p xmlns:a="http://schemas.openxmlformats.org/drawingml/2006/main">
            <a:r>
              <a:t>An inherited RACE/coursework narrative is motivation for the project, not independently established evidence. The original coursework and competitor captures are absent. Descriptive findings here depend on the inspected public data, not on unprovided prior summaries.</a:t>
            </a:r>
          </a:p>
          <a:p xmlns:a="http://schemas.openxmlformats.org/drawingml/2006/main">
            <a:r>
              <a:t/>
            </a:r>
          </a:p>
          <a:p xmlns:a="http://schemas.openxmlformats.org/drawingml/2006/main">
            <a:r>
              <a:t>## Source verification</a:t>
            </a:r>
          </a:p>
          <a:p xmlns:a="http://schemas.openxmlformats.org/drawingml/2006/main">
            <a:r>
              <a:t/>
            </a:r>
          </a:p>
          <a:p xmlns:a="http://schemas.openxmlformats.org/drawingml/2006/main">
            <a:r>
              <a:t>The October 2026 continuation audit independently matched **all 72 corporate metric cells** (12 quarters × six metrics) to official historical numerical disclosures. No raw corporate values needed replacement. See `source_manifest.csv` for document URLs and publication dates.</a:t>
            </a:r>
          </a:p>
          <a:p xmlns:a="http://schemas.openxmlformats.org/drawingml/2006/main">
            <a:r>
              <a:t/>
            </a:r>
          </a:p>
          <a:p xmlns:a="http://schemas.openxmlformats.org/drawingml/2006/main">
            <a:r>
              <a:t>| Corporate periods | Numerical disclosure used | Precision retained |</a:t>
            </a:r>
          </a:p>
          <a:p xmlns:a="http://schemas.openxmlformats.org/drawingml/2006/main">
            <a:r>
              <a:t>|---|---|---|</a:t>
            </a:r>
          </a:p>
          <a:p xmlns:a="http://schemas.openxmlformats.org/drawingml/2006/main">
            <a:r>
              <a:t>| 2023-Q1, Q2, Q3, Q4 | Original official quarterly releases: `DUOL_2023_Q1_IR` through `DUOL_2023_Q4_IR` | User counts in millions; financial USD thousands divided by 1,000 |</a:t>
            </a:r>
          </a:p>
          <a:p xmlns:a="http://schemas.openxmlformats.org/drawingml/2006/main">
            <a:r>
              <a:t>| 2024-Q1, Q2, Q3 | Original official quarterly releases: `DUOL_2024_Q1_IR` through `DUOL_2024_Q3_IR` | User counts in millions; financial USD thousands divided by 1,000 |</a:t>
            </a:r>
          </a:p>
          <a:p xmlns:a="http://schemas.openxmlformats.org/drawingml/2006/main">
            <a:r>
              <a:t>| 2024-Q4 | Original Q4/FY2024 shareholder letter: `DUOL_2024_Q4_IR` | Disclosed one-decimal millions |</a:t>
            </a:r>
          </a:p>
          <a:p xmlns:a="http://schemas.openxmlformats.org/drawingml/2006/main">
            <a:r>
              <a:t>| 2025-Q1 | Original Q1 2025 shareholder letter: `DUOL_2025_Q1_IR` | Disclosed one-decimal millions |</a:t>
            </a:r>
          </a:p>
          <a:p xmlns:a="http://schemas.openxmlformats.org/drawingml/2006/main">
            <a:r>
              <a:t>| 2025-Q2 | Original Q2 2025 shareholder letter: `DUOL_2025_Q2_IR` | Disclosed one-decimal millions |</a:t>
            </a:r>
          </a:p>
          <a:p xmlns:a="http://schemas.openxmlformats.org/drawingml/2006/main">
            <a:r>
              <a:t>| 2025-Q3 | Original Q3 2025 shareholder letter: `DUOL_2025_Q3_IR` | Disclosed one-decimal millions |</a:t>
            </a:r>
          </a:p>
          <a:p xmlns:a="http://schemas.openxmlformats.org/drawingml/2006/main">
            <a:r>
              <a:t>| 2025-Q4 | Original Q4/FY2025 shareholder letter: `DUOL_2025_Q4_SEC` | Disclosed one-decimal millions |</a:t>
            </a:r>
          </a:p>
          <a:p xmlns:a="http://schemas.openxmlformats.org/drawingml/2006/main">
            <a:r>
              <a:t/>
            </a:r>
          </a:p>
          <a:p xmlns:a="http://schemas.openxmlformats.org/drawingml/2006/main">
            <a:r>
              <a:t>The Q4 2025 DAU/MAU ratio is calculated as `52.7 / 133.1 = 39.594…%`, displayed as **39.6%**. The supplemental original [2025 Form 10-K](https://www.sec.gov/Archives/edgar/data/1562088/000162828026012494/duol-20251231.htm), published February 27, 2026, explicitly reports 39.6% and provides metric definitions. It adds no quarter or business metric to the dataset. Four announcement-only manifest links were corrected to the numerical shareholder letters.</a:t>
            </a:r>
          </a:p>
          <a:p xmlns:a="http://schemas.openxmlformats.org/drawingml/2006/main">
            <a:r>
              <a:t/>
            </a:r>
          </a:p>
          <a:p xmlns:a="http://schemas.openxmlformats.org/drawingml/2006/main">
            <a:r>
              <a:t>The company explains that its published growth percentages can use underlying unrounded figures. This project transparently derives rates from the disclosed values stored in its CSVs, so minor differences from rounded official rates are expected and are not evidence of a data error.</a:t>
            </a:r>
          </a:p>
          <a:p xmlns:a="http://schemas.openxmlformats.org/drawingml/2006/main">
            <a:r>
              <a:t/>
            </a:r>
          </a:p>
          <a:p xmlns:a="http://schemas.openxmlformats.org/drawingml/2006/main">
            <a:r>
              <a:t>## Data preparation and calculations</a:t>
            </a:r>
          </a:p>
          <a:p xmlns:a="http://schemas.openxmlformats.org/drawingml/2006/main">
            <a:r>
              <a:t/>
            </a:r>
          </a:p>
          <a:p xmlns:a="http://schemas.openxmlformats.org/drawingml/2006/main">
            <a:r>
              <a:t>1. Preserve the three canonical raw CSVs and source manifest. The builder reads these existing inputs; it does not recreate or overwrite raw values.</a:t>
            </a:r>
          </a:p>
          <a:p xmlns:a="http://schemas.openxmlformats.org/drawingml/2006/main">
            <a:r>
              <a:t>2. Require the exact 12-quarter sequence, consistent fiscal metadata and actual quarter-end dates. Require positive core values, DAU no greater than MAU, and subscription bookings no greater than total bookings.</a:t>
            </a:r>
          </a:p>
          <a:p xmlns:a="http://schemas.openxmlformats.org/drawingml/2006/main">
            <a:r>
              <a:t>3. Calculate DAU/MAU, QoQ, YoY, four growth indexes (2023-Q1 = 100) and three YoY growth-rate gaps in Python for the processed quarterly CSV.</a:t>
            </a:r>
          </a:p>
          <a:p xmlns:a="http://schemas.openxmlformats.org/drawingml/2006/main">
            <a:r>
              <a:t>4. Preserve unavailable prior-period comparisons as missing values. QoQ is missing in 2023-Q1; YoY and growth gaps are missing in all four 2023 quarters. No observations before 2023-Q1 are fabricated or imported.</a:t>
            </a:r>
          </a:p>
          <a:p xmlns:a="http://schemas.openxmlformats.org/drawingml/2006/main">
            <a:r>
              <a:t>5. Reshape 13 selected metrics into the existing 156-row Tableau long CSV, retaining quarter keys, dates, numeric values and missing-value masks.</a:t>
            </a:r>
          </a:p>
          <a:p xmlns:a="http://schemas.openxmlformats.org/drawingml/2006/main">
            <a:r>
              <a:t>6. Copy the historical competitor snapshots into processed inputs without changing their values or months. Validate three unique web rows and nine unique brand/platform social rows.</a:t>
            </a:r>
          </a:p>
          <a:p xmlns:a="http://schemas.openxmlformats.org/drawingml/2006/main">
            <a:r>
              <a:t/>
            </a:r>
          </a:p>
          <a:p xmlns:a="http://schemas.openxmlformats.org/drawingml/2006/main">
            <a:r>
              <a:t>Full formulas, units and field definitions are in `data_dictionary.md`. Rate differences are reported in **percentage points**; ratios and growth rates are reported in percent; indexes are index points. Period growth compares the two endpoint quarters, not annual totals.</a:t>
            </a:r>
          </a:p>
          <a:p xmlns:a="http://schemas.openxmlformats.org/drawingml/2006/main">
            <a:r>
              <a:t/>
            </a:r>
          </a:p>
          <a:p xmlns:a="http://schemas.openxmlformats.org/drawingml/2006/main">
            <a:r>
              <a:t>## Independent reconciliation and SQL scope</a:t>
            </a:r>
          </a:p>
          <a:p xmlns:a="http://schemas.openxmlformats.org/drawingml/2006/main">
            <a:r>
              <a:t/>
            </a:r>
          </a:p>
          <a:p xmlns:a="http://schemas.openxmlformats.org/drawingml/2006/main">
            <a:r>
              <a:t>The processed values are independently recalculated from raw CSV strings using Python's Decimal arithmetic, joined by `quarter`, and reconciled across **all 16 derived fields and their missing-value masks**. Floating-point exports are compared within a small numerical tolerance, not for literal decimal-string identity. Raw fields and the long-format key/date/value mapping are also checked.</a:t>
            </a:r>
          </a:p>
          <a:p xmlns:a="http://schemas.openxmlformats.org/drawingml/2006/main">
            <a:r>
              <a:t/>
            </a:r>
          </a:p>
          <a:p xmlns:a="http://schemas.openxmlformats.org/drawingml/2006/main">
            <a:r>
              <a:t>The supplied SQL is intended for MySQL 8. It independently expresses the same quarterly formulas using `LAG`, `FIRST_VALUE` and analytical views. During this continuation, the actual schema, seed and view scripts are also executed against an in-memory **SQLite compatibility adaptation**, then their results are reconciled with the Python data. The adaptation removes MySQL database-selection statements, changes `CREATE OR REPLACE VIEW` to `CREATE VIEW`, and changes `CAST(... AS DOUBLE)` to a real-number cast. SQLite accepts the declared string/decimal types but does not reproduce MySQL's precision, coercion and constraint behavior.</a:t>
            </a:r>
          </a:p>
          <a:p xmlns:a="http://schemas.openxmlformats.org/drawingml/2006/main">
            <a:r>
              <a:t/>
            </a:r>
          </a:p>
          <a:p xmlns:a="http://schemas.openxmlformats.org/drawingml/2006/main">
            <a:r>
              <a:t>Verification includes seeded raw values, all derived fields and NULL masks, SQL validation outputs, and the latest-quarter comparison. **Native MySQL execution is not verified.** This check demonstrates formula/result agreement through the disclosed adaptation; it does not certify MySQL deployment compatibility. See the executed notebook and final QA report for run evidence.</a:t>
            </a:r>
          </a:p>
          <a:p xmlns:a="http://schemas.openxmlformats.org/drawingml/2006/main">
            <a:r>
              <a:t/>
            </a:r>
          </a:p>
          <a:p xmlns:a="http://schemas.openxmlformats.org/drawingml/2006/main">
            <a:r>
              <a:t>## Interpretation and operational use</a:t>
            </a:r>
          </a:p>
          <a:p xmlns:a="http://schemas.openxmlformats.org/drawingml/2006/main">
            <a:r>
              <a:t/>
            </a:r>
          </a:p>
          <a:p xmlns:a="http://schemas.openxmlformats.org/drawingml/2006/main">
            <a:r>
              <a:t>- DAU/MAU is a ratio of separately averaged period counts and an aggregate engagement-intensity proxy; it is not cohort retention or an individual user's daily-use probability.</a:t>
            </a:r>
          </a:p>
          <a:p xmlns:a="http://schemas.openxmlformats.org/drawingml/2006/main">
            <a:r>
              <a:t>- Period-end paid subscribers and quarterly revenue do not constitute a measured free-to-paid funnel. Revenue growth combines multiple sources and timing effects; it cannot isolate subscription conversion, pricing, packaging, willingness to pay or commercial efficiency.</a:t>
            </a:r>
          </a:p>
          <a:p xmlns:a="http://schemas.openxmlformats.org/drawingml/2006/main">
            <a:r>
              <a:t>- Faster DAU/paid/revenue growth than MAU is an observed divergence. It suggests questions for operational review, not a proven causal mechanism.</a:t>
            </a:r>
          </a:p>
          <a:p xmlns:a="http://schemas.openxmlformats.org/drawingml/2006/main">
            <a:r>
              <a:t>- Proposed operational priorities require authorised internal evidence: review existing measurement, inspect cohort/renewal and conversion behavior where available, and evaluate possible actions against free-experience and learning guardrails. The portfolio's lack of access does not establish that Duolingo lacks instrumentation.</a:t>
            </a:r>
          </a:p>
          <a:p xmlns:a="http://schemas.openxmlformats.org/drawingml/2006/main">
            <a:r>
              <a:t>- As-of-cutoff management commentary can supply context when attributed to an official source. The [Q4/FY2025 shareholder letter](https://www.sec.gov/Archives/edgar/data/1562088/000162828026012246/q4fy25duolingo12-31x25shar.htm) describes prioritising teaching/user growth and reducing monetisation friction. This is a disclosed management direction, not a causal conclusion inferred from the quarterly metrics; forward forecasts are excluded from this case study.</a:t>
            </a:r>
          </a:p>
          <a:p xmlns:a="http://schemas.openxmlformats.org/drawingml/2006/main">
            <a:r>
              <a:t/>
            </a:r>
          </a:p>
          <a:p xmlns:a="http://schemas.openxmlformats.org/drawingml/2006/main">
            <a:r>
              <a:t>## Competitive and delivery limitations</a:t>
            </a:r>
          </a:p>
          <a:p xmlns:a="http://schemas.openxmlformats.org/drawingml/2006/main">
            <a:r>
              <a:t/>
            </a:r>
          </a:p>
          <a:p xmlns:a="http://schemas.openxmlformats.org/drawingml/2006/main">
            <a:r>
              <a:t>The inherited website/social observations remain point-in-time contextual snapshots. Original captures, exact observation dates and exact social account URLs are unavailable, so their historical provenance is explicitly **unverified**. The known months are preserved; unsupported exact dates are removed. Current provider pages cannot authenticate historical values and must not be used to replace the snapshots. The websites are not the apps; browsing metrics do not establish learning quality or conversion. Social audiences overlap, so followers are not summed across platforms. No market-share estimate or longitudinal competitor dataset is constructed.</a:t>
            </a:r>
          </a:p>
          <a:p xmlns:a="http://schemas.openxmlformats.org/drawingml/2006/main">
            <a:r>
              <a:t/>
            </a:r>
          </a:p>
          <a:p xmlns:a="http://schemas.openxmlformats.org/drawingml/2006/main">
            <a:r>
              <a:t>The final presentation uses the completed and published two-page English Tableau dashboard and `dashboard/final/Duolingo_Growth_Marketing_Analytics.twbx`. Page 2 retains Q4 2025 growth-gap cards, Indexed Growth Comparison, Engagement Growth Gap, Monetisation Growth Gaps, separate Website Traffic and Social Audience contextual snapshots, and Operational Priorities. The approved priority headings are Protect engagement quality; Strengthen premium value communication; Balance growth with user control. Tableau Public URLs, including the exact supplied Share URL, are recorded in `docs/portfolio_links.json`. Both pages' public PNG exports were retrieved without authentication on October 18, 2026; interactive browser tabs were not tested. Final dashboard images are kept in `dashboard/final/`; earlier bilingual static images are legacy prototypes retained for reference. English and Chinese case-study deliverables share the same final visuals, observations, calculations, conclusions and analytical limits. Exported pages must be visually inspected after regeneration, as numerical reconciliation alone does not establish visual QA. This presentation update does not change the March 2026 analysis cutoff or the frozen data definitions.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Corporate evidence: official Duolingo IR/SEC disclosures only, Q1 2023-Q4 2025. Analysis as of March 2026. Raw values preserved at disclosed precision; all ratios and growth are transparent calculations.</a:t>
            </a:r>
          </a:p>
          <a:p xmlns:a="http://schemas.openxmlformats.org/drawingml/2006/main">
            <a:r>
              <a:t/>
            </a:r>
          </a:p>
          <a:p xmlns:a="http://schemas.openxmlformats.org/drawingml/2006/main">
            <a:r>
              <a:t>2023-Q1: Duolingo Q1 2023 Results</a:t>
            </a:r>
          </a:p>
          <a:p xmlns:a="http://schemas.openxmlformats.org/drawingml/2006/main">
            <a:r>
              <a:t>https://investors.duolingo.com/news-releases/news-release-details/duolingo-reports-62-dau-growth-42-revenue-growth-and-increased</a:t>
            </a:r>
          </a:p>
          <a:p xmlns:a="http://schemas.openxmlformats.org/drawingml/2006/main">
            <a:r>
              <a:t/>
            </a:r>
          </a:p>
          <a:p xmlns:a="http://schemas.openxmlformats.org/drawingml/2006/main">
            <a:r>
              <a:t>2023-Q2: Duolingo Q2 2023 Results</a:t>
            </a:r>
          </a:p>
          <a:p xmlns:a="http://schemas.openxmlformats.org/drawingml/2006/main">
            <a:r>
              <a:t>https://investors.duolingo.com/news-releases/news-release-details/duolingo-reports-62-dau-growth-44-revenue-growth-and-stronger</a:t>
            </a:r>
          </a:p>
          <a:p xmlns:a="http://schemas.openxmlformats.org/drawingml/2006/main">
            <a:r>
              <a:t/>
            </a:r>
          </a:p>
          <a:p xmlns:a="http://schemas.openxmlformats.org/drawingml/2006/main">
            <a:r>
              <a:t>2023-Q3: Duolingo Q3 2023 Results</a:t>
            </a:r>
          </a:p>
          <a:p xmlns:a="http://schemas.openxmlformats.org/drawingml/2006/main">
            <a:r>
              <a:t>https://investors.duolingo.com/news-releases/news-release-details/duolingo-reports-63-dau-growth-and-43-revenue-growth-third</a:t>
            </a:r>
          </a:p>
          <a:p xmlns:a="http://schemas.openxmlformats.org/drawingml/2006/main">
            <a:r>
              <a:t/>
            </a:r>
          </a:p>
          <a:p xmlns:a="http://schemas.openxmlformats.org/drawingml/2006/main">
            <a:r>
              <a:t>2023-Q4: Duolingo Q4/FY2023 Results</a:t>
            </a:r>
          </a:p>
          <a:p xmlns:a="http://schemas.openxmlformats.org/drawingml/2006/main">
            <a:r>
              <a:t>https://investors.duolingo.com/news-releases/news-release-details/duolingo-reports-65-dau-growth-45-revenue-growth-and-record</a:t>
            </a:r>
          </a:p>
          <a:p xmlns:a="http://schemas.openxmlformats.org/drawingml/2006/main">
            <a:r>
              <a:t/>
            </a:r>
          </a:p>
          <a:p xmlns:a="http://schemas.openxmlformats.org/drawingml/2006/main">
            <a:r>
              <a:t>2024-Q1: Duolingo Q1 2024 Results</a:t>
            </a:r>
          </a:p>
          <a:p xmlns:a="http://schemas.openxmlformats.org/drawingml/2006/main">
            <a:r>
              <a:t>https://investors.duolingo.com/news-releases/news-release-details/duolingo-reports-45-revenue-growth-and-record-profitability</a:t>
            </a:r>
          </a:p>
          <a:p xmlns:a="http://schemas.openxmlformats.org/drawingml/2006/main">
            <a:r>
              <a:t/>
            </a:r>
          </a:p>
          <a:p xmlns:a="http://schemas.openxmlformats.org/drawingml/2006/main">
            <a:r>
              <a:t>2024-Q2: Duolingo Q2 2024 Results</a:t>
            </a:r>
          </a:p>
          <a:p xmlns:a="http://schemas.openxmlformats.org/drawingml/2006/main">
            <a:r>
              <a:t>https://investors.duolingo.com/news-releases/news-release-details/duolingo-hits-100m-maus-reports-59-dau-growth-and-41-revenue</a:t>
            </a:r>
          </a:p>
          <a:p xmlns:a="http://schemas.openxmlformats.org/drawingml/2006/main">
            <a:r>
              <a:t/>
            </a:r>
          </a:p>
          <a:p xmlns:a="http://schemas.openxmlformats.org/drawingml/2006/main">
            <a:r>
              <a:t>2024-Q3: Duolingo Q3 2024 Results</a:t>
            </a:r>
          </a:p>
          <a:p xmlns:a="http://schemas.openxmlformats.org/drawingml/2006/main">
            <a:r>
              <a:t>https://investors.duolingo.com/news-releases/news-release-details/duolingo-achieves-54-dau-growth-and-40-revenue-growth-third</a:t>
            </a:r>
          </a:p>
          <a:p xmlns:a="http://schemas.openxmlformats.org/drawingml/2006/main">
            <a:r>
              <a:t/>
            </a:r>
          </a:p>
          <a:p xmlns:a="http://schemas.openxmlformats.org/drawingml/2006/main">
            <a:r>
              <a:t>2024-Q4: Duolingo Q4/FY2024 Shareholder Letter</a:t>
            </a:r>
          </a:p>
          <a:p xmlns:a="http://schemas.openxmlformats.org/drawingml/2006/main">
            <a:r>
              <a:t>https://www.sec.gov/Archives/edgar/data/1562088/000156208825000039/q4fy24duolingo12-31x24shar.htm</a:t>
            </a:r>
          </a:p>
          <a:p xmlns:a="http://schemas.openxmlformats.org/drawingml/2006/main">
            <a:r>
              <a:t/>
            </a:r>
          </a:p>
          <a:p xmlns:a="http://schemas.openxmlformats.org/drawingml/2006/main">
            <a:r>
              <a:t>2025-Q1: Duolingo Q1 2025 Shareholder Letter</a:t>
            </a:r>
          </a:p>
          <a:p xmlns:a="http://schemas.openxmlformats.org/drawingml/2006/main">
            <a:r>
              <a:t>https://www.sec.gov/Archives/edgar/data/1562088/000156208825000098/q1fy25duolingo3-31x25share.htm</a:t>
            </a:r>
          </a:p>
          <a:p xmlns:a="http://schemas.openxmlformats.org/drawingml/2006/main">
            <a:r>
              <a:t/>
            </a:r>
          </a:p>
          <a:p xmlns:a="http://schemas.openxmlformats.org/drawingml/2006/main">
            <a:r>
              <a:t>2025-Q2: Duolingo Q2 2025 Shareholder Letter</a:t>
            </a:r>
          </a:p>
          <a:p xmlns:a="http://schemas.openxmlformats.org/drawingml/2006/main">
            <a:r>
              <a:t>https://investors.duolingo.com/static-files/0b55110c-2eb9-466d-8549-5459e0851290</a:t>
            </a:r>
          </a:p>
          <a:p xmlns:a="http://schemas.openxmlformats.org/drawingml/2006/main">
            <a:r>
              <a:t/>
            </a:r>
          </a:p>
          <a:p xmlns:a="http://schemas.openxmlformats.org/drawingml/2006/main">
            <a:r>
              <a:t>2025-Q3: Duolingo Q3 2025 Shareholder Letter</a:t>
            </a:r>
          </a:p>
          <a:p xmlns:a="http://schemas.openxmlformats.org/drawingml/2006/main">
            <a:r>
              <a:t>https://investors.duolingo.com/static-files/c9bf5861-b19d-4396-b060-c0dbeefd34f5</a:t>
            </a:r>
          </a:p>
          <a:p xmlns:a="http://schemas.openxmlformats.org/drawingml/2006/main">
            <a:r>
              <a:t/>
            </a:r>
          </a:p>
          <a:p xmlns:a="http://schemas.openxmlformats.org/drawingml/2006/main">
            <a:r>
              <a:t>2025-Q4: Duolingo Q4/FY2025 Shareholder Letter</a:t>
            </a:r>
          </a:p>
          <a:p xmlns:a="http://schemas.openxmlformats.org/drawingml/2006/main">
            <a:r>
              <a:t>https://www.sec.gov/Archives/edgar/data/1562088/000162828026012246/q4fy25duolingo12-31x25shar.htm</a:t>
            </a:r>
          </a:p>
          <a:p xmlns:a="http://schemas.openxmlformats.org/drawingml/2006/main">
            <a:r>
              <a:t/>
            </a:r>
          </a:p>
          <a:p xmlns:a="http://schemas.openxmlformats.org/drawingml/2006/main">
            <a:r>
              <a:t>2025-Q4: Duolingo 2025 Form 10-K (supplemental definitions and ratio evidence)</a:t>
            </a:r>
          </a:p>
          <a:p xmlns:a="http://schemas.openxmlformats.org/drawingml/2006/main">
            <a:r>
              <a:t>https://www.sec.gov/Archives/edgar/data/1562088/000162828026012494/duol-20251231.htm</a:t>
            </a:r>
          </a:p>
          <a:p xmlns:a="http://schemas.openxmlformats.org/drawingml/2006/main">
            <a:r>
              <a:t/>
            </a:r>
          </a:p>
          <a:p xmlns:a="http://schemas.openxmlformats.org/drawingml/2006/main">
            <a:r>
              <a:t>Definitions/formulas: docs/methodology.md and docs/data_dictionary.md. Corporate source lineage: docs/source_manifest.csv. Competitor website snapshot: February 2026; social snapshot: March 2026. Inherited historical coursework values; original dated captures are absent and historical provenance cannot be independently verified. These are contextual snapshots, not a longitudinal dataset, market share, conversion or retention evidence. No current observations replace these dates.</a:t>
            </a:r>
          </a:p>
          <a:p xmlns:a="http://schemas.openxmlformats.org/drawingml/2006/main">
            <a:r>
              <a:t/>
            </a:r>
          </a:p>
          <a:p xmlns:a="http://schemas.openxmlformats.org/drawingml/2006/main">
            <a:r>
              <a:t>Final visualisation: two completed Tableau dashboards. 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SQL formulas checked through a SQLite compatibility adaptation; native MySQL execution unverified.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Corporate evidence: official Duolingo IR/SEC disclosures only, Q1 2023-Q4 2025. Analysis as of March 2026. Raw values preserved at disclosed precision; all ratios and growth are transparent calculations.</a:t>
            </a:r>
          </a:p>
          <a:p xmlns:a="http://schemas.openxmlformats.org/drawingml/2006/main">
            <a:r>
              <a:t/>
            </a:r>
          </a:p>
          <a:p xmlns:a="http://schemas.openxmlformats.org/drawingml/2006/main">
            <a:r>
              <a:t>2023-Q1: Duolingo Q1 2023 Results</a:t>
            </a:r>
          </a:p>
          <a:p xmlns:a="http://schemas.openxmlformats.org/drawingml/2006/main">
            <a:r>
              <a:t>https://investors.duolingo.com/news-releases/news-release-details/duolingo-reports-62-dau-growth-42-revenue-growth-and-increased</a:t>
            </a:r>
          </a:p>
          <a:p xmlns:a="http://schemas.openxmlformats.org/drawingml/2006/main">
            <a:r>
              <a:t/>
            </a:r>
          </a:p>
          <a:p xmlns:a="http://schemas.openxmlformats.org/drawingml/2006/main">
            <a:r>
              <a:t>2023-Q2: Duolingo Q2 2023 Results</a:t>
            </a:r>
          </a:p>
          <a:p xmlns:a="http://schemas.openxmlformats.org/drawingml/2006/main">
            <a:r>
              <a:t>https://investors.duolingo.com/news-releases/news-release-details/duolingo-reports-62-dau-growth-44-revenue-growth-and-stronger</a:t>
            </a:r>
          </a:p>
          <a:p xmlns:a="http://schemas.openxmlformats.org/drawingml/2006/main">
            <a:r>
              <a:t/>
            </a:r>
          </a:p>
          <a:p xmlns:a="http://schemas.openxmlformats.org/drawingml/2006/main">
            <a:r>
              <a:t>2023-Q3: Duolingo Q3 2023 Results</a:t>
            </a:r>
          </a:p>
          <a:p xmlns:a="http://schemas.openxmlformats.org/drawingml/2006/main">
            <a:r>
              <a:t>https://investors.duolingo.com/news-releases/news-release-details/duolingo-reports-63-dau-growth-and-43-revenue-growth-third</a:t>
            </a:r>
          </a:p>
          <a:p xmlns:a="http://schemas.openxmlformats.org/drawingml/2006/main">
            <a:r>
              <a:t/>
            </a:r>
          </a:p>
          <a:p xmlns:a="http://schemas.openxmlformats.org/drawingml/2006/main">
            <a:r>
              <a:t>2023-Q4: Duolingo Q4/FY2023 Results</a:t>
            </a:r>
          </a:p>
          <a:p xmlns:a="http://schemas.openxmlformats.org/drawingml/2006/main">
            <a:r>
              <a:t>https://investors.duolingo.com/news-releases/news-release-details/duolingo-reports-65-dau-growth-45-revenue-growth-and-record</a:t>
            </a:r>
          </a:p>
          <a:p xmlns:a="http://schemas.openxmlformats.org/drawingml/2006/main">
            <a:r>
              <a:t/>
            </a:r>
          </a:p>
          <a:p xmlns:a="http://schemas.openxmlformats.org/drawingml/2006/main">
            <a:r>
              <a:t>2024-Q1: Duolingo Q1 2024 Results</a:t>
            </a:r>
          </a:p>
          <a:p xmlns:a="http://schemas.openxmlformats.org/drawingml/2006/main">
            <a:r>
              <a:t>https://investors.duolingo.com/news-releases/news-release-details/duolingo-reports-45-revenue-growth-and-record-profitability</a:t>
            </a:r>
          </a:p>
          <a:p xmlns:a="http://schemas.openxmlformats.org/drawingml/2006/main">
            <a:r>
              <a:t/>
            </a:r>
          </a:p>
          <a:p xmlns:a="http://schemas.openxmlformats.org/drawingml/2006/main">
            <a:r>
              <a:t>2024-Q2: Duolingo Q2 2024 Results</a:t>
            </a:r>
          </a:p>
          <a:p xmlns:a="http://schemas.openxmlformats.org/drawingml/2006/main">
            <a:r>
              <a:t>https://investors.duolingo.com/news-releases/news-release-details/duolingo-hits-100m-maus-reports-59-dau-growth-and-41-revenue</a:t>
            </a:r>
          </a:p>
          <a:p xmlns:a="http://schemas.openxmlformats.org/drawingml/2006/main">
            <a:r>
              <a:t/>
            </a:r>
          </a:p>
          <a:p xmlns:a="http://schemas.openxmlformats.org/drawingml/2006/main">
            <a:r>
              <a:t>2024-Q3: Duolingo Q3 2024 Results</a:t>
            </a:r>
          </a:p>
          <a:p xmlns:a="http://schemas.openxmlformats.org/drawingml/2006/main">
            <a:r>
              <a:t>https://investors.duolingo.com/news-releases/news-release-details/duolingo-achieves-54-dau-growth-and-40-revenue-growth-third</a:t>
            </a:r>
          </a:p>
          <a:p xmlns:a="http://schemas.openxmlformats.org/drawingml/2006/main">
            <a:r>
              <a:t/>
            </a:r>
          </a:p>
          <a:p xmlns:a="http://schemas.openxmlformats.org/drawingml/2006/main">
            <a:r>
              <a:t>2024-Q4: Duolingo Q4/FY2024 Shareholder Letter</a:t>
            </a:r>
          </a:p>
          <a:p xmlns:a="http://schemas.openxmlformats.org/drawingml/2006/main">
            <a:r>
              <a:t>https://www.sec.gov/Archives/edgar/data/1562088/000156208825000039/q4fy24duolingo12-31x24shar.htm</a:t>
            </a:r>
          </a:p>
          <a:p xmlns:a="http://schemas.openxmlformats.org/drawingml/2006/main">
            <a:r>
              <a:t/>
            </a:r>
          </a:p>
          <a:p xmlns:a="http://schemas.openxmlformats.org/drawingml/2006/main">
            <a:r>
              <a:t>2025-Q1: Duolingo Q1 2025 Shareholder Letter</a:t>
            </a:r>
          </a:p>
          <a:p xmlns:a="http://schemas.openxmlformats.org/drawingml/2006/main">
            <a:r>
              <a:t>https://www.sec.gov/Archives/edgar/data/1562088/000156208825000098/q1fy25duolingo3-31x25share.htm</a:t>
            </a:r>
          </a:p>
          <a:p xmlns:a="http://schemas.openxmlformats.org/drawingml/2006/main">
            <a:r>
              <a:t/>
            </a:r>
          </a:p>
          <a:p xmlns:a="http://schemas.openxmlformats.org/drawingml/2006/main">
            <a:r>
              <a:t>2025-Q2: Duolingo Q2 2025 Shareholder Letter</a:t>
            </a:r>
          </a:p>
          <a:p xmlns:a="http://schemas.openxmlformats.org/drawingml/2006/main">
            <a:r>
              <a:t>https://investors.duolingo.com/static-files/0b55110c-2eb9-466d-8549-5459e0851290</a:t>
            </a:r>
          </a:p>
          <a:p xmlns:a="http://schemas.openxmlformats.org/drawingml/2006/main">
            <a:r>
              <a:t/>
            </a:r>
          </a:p>
          <a:p xmlns:a="http://schemas.openxmlformats.org/drawingml/2006/main">
            <a:r>
              <a:t>2025-Q3: Duolingo Q3 2025 Shareholder Letter</a:t>
            </a:r>
          </a:p>
          <a:p xmlns:a="http://schemas.openxmlformats.org/drawingml/2006/main">
            <a:r>
              <a:t>https://investors.duolingo.com/static-files/c9bf5861-b19d-4396-b060-c0dbeefd34f5</a:t>
            </a:r>
          </a:p>
          <a:p xmlns:a="http://schemas.openxmlformats.org/drawingml/2006/main">
            <a:r>
              <a:t/>
            </a:r>
          </a:p>
          <a:p xmlns:a="http://schemas.openxmlformats.org/drawingml/2006/main">
            <a:r>
              <a:t>2025-Q4: Duolingo Q4/FY2025 Shareholder Letter</a:t>
            </a:r>
          </a:p>
          <a:p xmlns:a="http://schemas.openxmlformats.org/drawingml/2006/main">
            <a:r>
              <a:t>https://www.sec.gov/Archives/edgar/data/1562088/000162828026012246/q4fy25duolingo12-31x25shar.htm</a:t>
            </a:r>
          </a:p>
          <a:p xmlns:a="http://schemas.openxmlformats.org/drawingml/2006/main">
            <a:r>
              <a:t/>
            </a:r>
          </a:p>
          <a:p xmlns:a="http://schemas.openxmlformats.org/drawingml/2006/main">
            <a:r>
              <a:t>2025-Q4: Duolingo 2025 Form 10-K (supplemental definitions and ratio evidence)</a:t>
            </a:r>
          </a:p>
          <a:p xmlns:a="http://schemas.openxmlformats.org/drawingml/2006/main">
            <a:r>
              <a:t>https://www.sec.gov/Archives/edgar/data/1562088/000162828026012494/duol-20251231.htm</a:t>
            </a:r>
          </a:p>
          <a:p xmlns:a="http://schemas.openxmlformats.org/drawingml/2006/main">
            <a:r>
              <a:t/>
            </a:r>
          </a:p>
          <a:p xmlns:a="http://schemas.openxmlformats.org/drawingml/2006/main">
            <a:r>
              <a:t>Definitions/formulas: docs/methodology.md and docs/data_dictionary.md. Corporate source lineage: docs/source_manifest.csv. Competitor website snapshot: February 2026; social snapshot: March 2026. Inherited historical coursework values; original dated captures are absent and historical provenance cannot be independently verified. These are contextual snapshots, not a longitudinal dataset, market share, conversion or retention evidence. No current observations replace these dates.</a:t>
            </a:r>
          </a:p>
          <a:p xmlns:a="http://schemas.openxmlformats.org/drawingml/2006/main">
            <a:r>
              <a:t/>
            </a:r>
          </a:p>
          <a:p xmlns:a="http://schemas.openxmlformats.org/drawingml/2006/main">
            <a:r>
              <a:t>Final visualisation: two completed Tableau dashboards. 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SQL formulas checked through a SQLite compatibility adaptation; native MySQL execution unverified.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 Duolingo 用户规模持续扩大，用户活跃度和商业化表现是否也同步提升？本项目基于 2023 Q1–2025 Q4 的公开经营数据，对用户规模、活跃度、付费订阅和收入增长进行对比，并结合 2026 年初的竞品数字表现，进一步提炼增长运营与用户运营的关注重点。</a:t>
            </a:r>
          </a:p>
          <a:p xmlns:a="http://schemas.openxmlformats.org/drawingml/2006/main">
            <a:r>
              <a:t/>
            </a:r>
          </a:p>
          <a:p xmlns:a="http://schemas.openxmlformats.org/drawingml/2006/main">
            <a:r>
              <a:t>项目工作：明确业务问题，统一指标口径，核对公开数据与计算结果，完成两页 Tableau Dashboard，并将分析发现转化为运营关注重点。</a:t>
            </a:r>
          </a:p>
          <a:p xmlns:a="http://schemas.openxmlformats.org/drawingml/2006/main">
            <a:r>
              <a:t/>
            </a:r>
          </a:p>
          <a:p xmlns:a="http://schemas.openxmlformats.org/drawingml/2006/main">
            <a:r>
              <a:t>增长率根据公开披露的数值计算，并按展示需要四舍五入。MAU、DAU 为季度平均人数，付费订阅用户为期末人数，收入为当季金额。披露数值本身已做过舍入，因此计算增速可能与公司使用未舍入数据公布的增速略有差异。</a:t>
            </a:r>
          </a:p>
          <a:p xmlns:a="http://schemas.openxmlformats.org/drawingml/2006/main">
            <a:r>
              <a:t/>
            </a:r>
          </a:p>
          <a:p xmlns:a="http://schemas.openxmlformats.org/drawingml/2006/main">
            <a:r>
              <a:t>DAU/MAU 是季度平均 DAU 与季度平均 MAU 的比值，反映整体活跃强度，不等同于留存率，也不能代表某个用户每日使用的概率。增速差用百分点表示，增长指数以 2023 Q1 = 100 为基期。</a:t>
            </a:r>
          </a:p>
          <a:p xmlns:a="http://schemas.openxmlformats.org/drawingml/2006/main">
            <a:r>
              <a:t/>
            </a:r>
          </a:p>
          <a:p xmlns:a="http://schemas.openxmlformats.org/drawingml/2006/main">
            <a:r>
              <a:t>MAU、DAU 采用 Duolingo 自有的分析定义和估算口径，本项目未对用户人数进行独立测量。</a:t>
            </a:r>
          </a:p>
          <a:p xmlns:a="http://schemas.openxmlformats.org/drawingml/2006/main">
            <a:r>
              <a:t/>
            </a:r>
          </a:p>
          <a:p xmlns:a="http://schemas.openxmlformats.org/drawingml/2006/main">
            <a:r>
              <a:t>竞品网站与社媒数据来自原课程项目中记录的历史快照。由于原始带日期截图和部分账户链接未保留，目前无法独立复核其准确采集时间，因此这些数据仅用于补充竞争背景，不用于推断市场份额、转化率、留存或长期趋势。</a:t>
            </a:r>
          </a:p>
          <a:p xmlns:a="http://schemas.openxmlformats.org/drawingml/2006/main">
            <a:r>
              <a:t/>
            </a:r>
          </a:p>
          <a:p xmlns:a="http://schemas.openxmlformats.org/drawingml/2006/main">
            <a:r>
              <a:t>SQL 逻辑已通过 SQLite 兼容环境进行结果核对；原生 MySQL 环境未单独执行验证。原始数据、处理后 CSV、指标定义和已确认的分析结论均保持不变。</a:t>
            </a:r>
          </a:p>
          <a:p xmlns:a="http://schemas.openxmlformats.org/drawingml/2006/main">
            <a:r>
              <a:t/>
            </a:r>
          </a:p>
          <a:p xmlns:a="http://schemas.openxmlformats.org/drawingml/2006/main">
            <a:r>
              <a:t>以下方向基于公开数据提出，仍需结合内部用户数据和实际测试进一步验证。本项目不声称相关策略已经实施或产生业务效果。</a:t>
            </a:r>
          </a:p>
          <a:p xmlns:a="http://schemas.openxmlformats.org/drawingml/2006/main">
            <a:r>
              <a:t/>
            </a:r>
          </a:p>
          <a:p xmlns:a="http://schemas.openxmlformats.org/drawingml/2006/main">
            <a:r>
              <a:t>本项目将公开数据中的增长变化转化为运营关注重点与验证方向。后续行动仍需结合内部数据和实际测试，并关注免费用户体验与学习体验。</a:t>
            </a:r>
          </a:p>
          <a:p xmlns:a="http://schemas.openxmlformats.org/drawingml/2006/main">
            <a:r>
              <a:t/>
            </a:r>
          </a:p>
          <a:p xmlns:a="http://schemas.openxmlformats.org/drawingml/2006/main">
            <a:r>
              <a:t>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 Methodology</a:t>
            </a:r>
          </a:p>
          <a:p xmlns:a="http://schemas.openxmlformats.org/drawingml/2006/main">
            <a:r>
              <a:t/>
            </a:r>
          </a:p>
          <a:p xmlns:a="http://schemas.openxmlformats.org/drawingml/2006/main">
            <a:r>
              <a:t>## Fixed analytical scope</a:t>
            </a:r>
          </a:p>
          <a:p xmlns:a="http://schemas.openxmlformats.org/drawingml/2006/main">
            <a:r>
              <a:t/>
            </a:r>
          </a:p>
          <a:p xmlns:a="http://schemas.openxmlformats.org/drawingml/2006/main">
            <a:r>
              <a:t>- Analysis as of: **March 2026**.</a:t>
            </a:r>
          </a:p>
          <a:p xmlns:a="http://schemas.openxmlformats.org/drawingml/2006/main">
            <a:r>
              <a:t>- Corporate performance: **Q1 2023–Q4 2025**, 12 complete quarters.</a:t>
            </a:r>
          </a:p>
          <a:p xmlns:a="http://schemas.openxmlformats.org/drawingml/2006/main">
            <a:r>
              <a:t>- Competitive website context: inherited **February 2026** snapshot.</a:t>
            </a:r>
          </a:p>
          <a:p xmlns:a="http://schemas.openxmlformats.org/drawingml/2006/main">
            <a:r>
              <a:t>- Competitive social context: inherited **March 2026** snapshot.</a:t>
            </a:r>
          </a:p>
          <a:p xmlns:a="http://schemas.openxmlformats.org/drawingml/2006/main">
            <a:r>
              <a:t/>
            </a:r>
          </a:p>
          <a:p xmlns:a="http://schemas.openxmlformats.org/drawingml/2006/main">
            <a:r>
              <a:t>The continuation audit was performed on **October 14, 2026** using historical official documents published before the March 2026 analysis cutoff. The review date does not move the analysis date. Later operating results and current competitor values are excluded.</a:t>
            </a:r>
          </a:p>
          <a:p xmlns:a="http://schemas.openxmlformats.org/drawingml/2006/main">
            <a:r>
              <a:t/>
            </a:r>
          </a:p>
          <a:p xmlns:a="http://schemas.openxmlformats.org/drawingml/2006/main">
            <a:r>
              <a:t>## Business questions and evidence</a:t>
            </a:r>
          </a:p>
          <a:p xmlns:a="http://schemas.openxmlformats.org/drawingml/2006/main">
            <a:r>
              <a:t/>
            </a:r>
          </a:p>
          <a:p xmlns:a="http://schemas.openxmlformats.org/drawingml/2006/main">
            <a:r>
              <a:t>The case study examines whether audience growth coincided with deeper aggregate daily activity and larger paid-subscriber/revenue bases, then identifies operational questions for a growth team. It does not reconstruct Duolingo's internal funnel or assess campaign effectiveness.</a:t>
            </a:r>
          </a:p>
          <a:p xmlns:a="http://schemas.openxmlformats.org/drawingml/2006/main">
            <a:r>
              <a:t/>
            </a:r>
          </a:p>
          <a:p xmlns:a="http://schemas.openxmlformats.org/drawingml/2006/main">
            <a:r>
              <a:t>The primary evidence is six company-reported metrics per quarter: average MAU, average DAU, period-end paid subscribers, quarterly GAAP revenue, total bookings and subscription bookings. Every raw corporate value must trace to official Investor Relations or SEC material through `source_id`. The historical competitor values provide limited context and have weaker provenance; they are not used to establish Duolingo's operating performance.</a:t>
            </a:r>
          </a:p>
          <a:p xmlns:a="http://schemas.openxmlformats.org/drawingml/2006/main">
            <a:r>
              <a:t/>
            </a:r>
          </a:p>
          <a:p xmlns:a="http://schemas.openxmlformats.org/drawingml/2006/main">
            <a:r>
              <a:t>An inherited RACE/coursework narrative is motivation for the project, not independently established evidence. The original coursework and competitor captures are absent. Descriptive findings here depend on the inspected public data, not on unprovided prior summaries.</a:t>
            </a:r>
          </a:p>
          <a:p xmlns:a="http://schemas.openxmlformats.org/drawingml/2006/main">
            <a:r>
              <a:t/>
            </a:r>
          </a:p>
          <a:p xmlns:a="http://schemas.openxmlformats.org/drawingml/2006/main">
            <a:r>
              <a:t>## Source verification</a:t>
            </a:r>
          </a:p>
          <a:p xmlns:a="http://schemas.openxmlformats.org/drawingml/2006/main">
            <a:r>
              <a:t/>
            </a:r>
          </a:p>
          <a:p xmlns:a="http://schemas.openxmlformats.org/drawingml/2006/main">
            <a:r>
              <a:t>The October 2026 continuation audit independently matched **all 72 corporate metric cells** (12 quarters × six metrics) to official historical numerical disclosures. No raw corporate values needed replacement. See `source_manifest.csv` for document URLs and publication dates.</a:t>
            </a:r>
          </a:p>
          <a:p xmlns:a="http://schemas.openxmlformats.org/drawingml/2006/main">
            <a:r>
              <a:t/>
            </a:r>
          </a:p>
          <a:p xmlns:a="http://schemas.openxmlformats.org/drawingml/2006/main">
            <a:r>
              <a:t>| Corporate periods | Numerical disclosure used | Precision retained |</a:t>
            </a:r>
          </a:p>
          <a:p xmlns:a="http://schemas.openxmlformats.org/drawingml/2006/main">
            <a:r>
              <a:t>|---|---|---|</a:t>
            </a:r>
          </a:p>
          <a:p xmlns:a="http://schemas.openxmlformats.org/drawingml/2006/main">
            <a:r>
              <a:t>| 2023-Q1, Q2, Q3, Q4 | Original official quarterly releases: `DUOL_2023_Q1_IR` through `DUOL_2023_Q4_IR` | User counts in millions; financial USD thousands divided by 1,000 |</a:t>
            </a:r>
          </a:p>
          <a:p xmlns:a="http://schemas.openxmlformats.org/drawingml/2006/main">
            <a:r>
              <a:t>| 2024-Q1, Q2, Q3 | Original official quarterly releases: `DUOL_2024_Q1_IR` through `DUOL_2024_Q3_IR` | User counts in millions; financial USD thousands divided by 1,000 |</a:t>
            </a:r>
          </a:p>
          <a:p xmlns:a="http://schemas.openxmlformats.org/drawingml/2006/main">
            <a:r>
              <a:t>| 2024-Q4 | Original Q4/FY2024 shareholder letter: `DUOL_2024_Q4_IR` | Disclosed one-decimal millions |</a:t>
            </a:r>
          </a:p>
          <a:p xmlns:a="http://schemas.openxmlformats.org/drawingml/2006/main">
            <a:r>
              <a:t>| 2025-Q1 | Original Q1 2025 shareholder letter: `DUOL_2025_Q1_IR` | Disclosed one-decimal millions |</a:t>
            </a:r>
          </a:p>
          <a:p xmlns:a="http://schemas.openxmlformats.org/drawingml/2006/main">
            <a:r>
              <a:t>| 2025-Q2 | Original Q2 2025 shareholder letter: `DUOL_2025_Q2_IR` | Disclosed one-decimal millions |</a:t>
            </a:r>
          </a:p>
          <a:p xmlns:a="http://schemas.openxmlformats.org/drawingml/2006/main">
            <a:r>
              <a:t>| 2025-Q3 | Original Q3 2025 shareholder letter: `DUOL_2025_Q3_IR` | Disclosed one-decimal millions |</a:t>
            </a:r>
          </a:p>
          <a:p xmlns:a="http://schemas.openxmlformats.org/drawingml/2006/main">
            <a:r>
              <a:t>| 2025-Q4 | Original Q4/FY2025 shareholder letter: `DUOL_2025_Q4_SEC` | Disclosed one-decimal millions |</a:t>
            </a:r>
          </a:p>
          <a:p xmlns:a="http://schemas.openxmlformats.org/drawingml/2006/main">
            <a:r>
              <a:t/>
            </a:r>
          </a:p>
          <a:p xmlns:a="http://schemas.openxmlformats.org/drawingml/2006/main">
            <a:r>
              <a:t>The Q4 2025 DAU/MAU ratio is calculated as `52.7 / 133.1 = 39.594…%`, displayed as **39.6%**. The supplemental original [2025 Form 10-K](https://www.sec.gov/Archives/edgar/data/1562088/000162828026012494/duol-20251231.htm), published February 27, 2026, explicitly reports 39.6% and provides metric definitions. It adds no quarter or business metric to the dataset. Four announcement-only manifest links were corrected to the numerical shareholder letters.</a:t>
            </a:r>
          </a:p>
          <a:p xmlns:a="http://schemas.openxmlformats.org/drawingml/2006/main">
            <a:r>
              <a:t/>
            </a:r>
          </a:p>
          <a:p xmlns:a="http://schemas.openxmlformats.org/drawingml/2006/main">
            <a:r>
              <a:t>The company explains that its published growth percentages can use underlying unrounded figures. This project transparently derives rates from the disclosed values stored in its CSVs, so minor differences from rounded official rates are expected and are not evidence of a data error.</a:t>
            </a:r>
          </a:p>
          <a:p xmlns:a="http://schemas.openxmlformats.org/drawingml/2006/main">
            <a:r>
              <a:t/>
            </a:r>
          </a:p>
          <a:p xmlns:a="http://schemas.openxmlformats.org/drawingml/2006/main">
            <a:r>
              <a:t>## Data preparation and calculations</a:t>
            </a:r>
          </a:p>
          <a:p xmlns:a="http://schemas.openxmlformats.org/drawingml/2006/main">
            <a:r>
              <a:t/>
            </a:r>
          </a:p>
          <a:p xmlns:a="http://schemas.openxmlformats.org/drawingml/2006/main">
            <a:r>
              <a:t>1. Preserve the three canonical raw CSVs and source manifest. The builder reads these existing inputs; it does not recreate or overwrite raw values.</a:t>
            </a:r>
          </a:p>
          <a:p xmlns:a="http://schemas.openxmlformats.org/drawingml/2006/main">
            <a:r>
              <a:t>2. Require the exact 12-quarter sequence, consistent fiscal metadata and actual quarter-end dates. Require positive core values, DAU no greater than MAU, and subscription bookings no greater than total bookings.</a:t>
            </a:r>
          </a:p>
          <a:p xmlns:a="http://schemas.openxmlformats.org/drawingml/2006/main">
            <a:r>
              <a:t>3. Calculate DAU/MAU, QoQ, YoY, four growth indexes (2023-Q1 = 100) and three YoY growth-rate gaps in Python for the processed quarterly CSV.</a:t>
            </a:r>
          </a:p>
          <a:p xmlns:a="http://schemas.openxmlformats.org/drawingml/2006/main">
            <a:r>
              <a:t>4. Preserve unavailable prior-period comparisons as missing values. QoQ is missing in 2023-Q1; YoY and growth gaps are missing in all four 2023 quarters. No observations before 2023-Q1 are fabricated or imported.</a:t>
            </a:r>
          </a:p>
          <a:p xmlns:a="http://schemas.openxmlformats.org/drawingml/2006/main">
            <a:r>
              <a:t>5. Reshape 13 selected metrics into the existing 156-row Tableau long CSV, retaining quarter keys, dates, numeric values and missing-value masks.</a:t>
            </a:r>
          </a:p>
          <a:p xmlns:a="http://schemas.openxmlformats.org/drawingml/2006/main">
            <a:r>
              <a:t>6. Copy the historical competitor snapshots into processed inputs without changing their values or months. Validate three unique web rows and nine unique brand/platform social rows.</a:t>
            </a:r>
          </a:p>
          <a:p xmlns:a="http://schemas.openxmlformats.org/drawingml/2006/main">
            <a:r>
              <a:t/>
            </a:r>
          </a:p>
          <a:p xmlns:a="http://schemas.openxmlformats.org/drawingml/2006/main">
            <a:r>
              <a:t>Full formulas, units and field definitions are in `data_dictionary.md`. Rate differences are reported in **percentage points**; ratios and growth rates are reported in percent; indexes are index points. Period growth compares the two endpoint quarters, not annual totals.</a:t>
            </a:r>
          </a:p>
          <a:p xmlns:a="http://schemas.openxmlformats.org/drawingml/2006/main">
            <a:r>
              <a:t/>
            </a:r>
          </a:p>
          <a:p xmlns:a="http://schemas.openxmlformats.org/drawingml/2006/main">
            <a:r>
              <a:t>## Independent reconciliation and SQL scope</a:t>
            </a:r>
          </a:p>
          <a:p xmlns:a="http://schemas.openxmlformats.org/drawingml/2006/main">
            <a:r>
              <a:t/>
            </a:r>
          </a:p>
          <a:p xmlns:a="http://schemas.openxmlformats.org/drawingml/2006/main">
            <a:r>
              <a:t>The processed values are independently recalculated from raw CSV strings using Python's Decimal arithmetic, joined by `quarter`, and reconciled across **all 16 derived fields and their missing-value masks**. Floating-point exports are compared within a small numerical tolerance, not for literal decimal-string identity. Raw fields and the long-format key/date/value mapping are also checked.</a:t>
            </a:r>
          </a:p>
          <a:p xmlns:a="http://schemas.openxmlformats.org/drawingml/2006/main">
            <a:r>
              <a:t/>
            </a:r>
          </a:p>
          <a:p xmlns:a="http://schemas.openxmlformats.org/drawingml/2006/main">
            <a:r>
              <a:t>The supplied SQL is intended for MySQL 8. It independently expresses the same quarterly formulas using `LAG`, `FIRST_VALUE` and analytical views. During this continuation, the actual schema, seed and view scripts are also executed against an in-memory **SQLite compatibility adaptation**, then their results are reconciled with the Python data. The adaptation removes MySQL database-selection statements, changes `CREATE OR REPLACE VIEW` to `CREATE VIEW`, and changes `CAST(... AS DOUBLE)` to a real-number cast. SQLite accepts the declared string/decimal types but does not reproduce MySQL's precision, coercion and constraint behavior.</a:t>
            </a:r>
          </a:p>
          <a:p xmlns:a="http://schemas.openxmlformats.org/drawingml/2006/main">
            <a:r>
              <a:t/>
            </a:r>
          </a:p>
          <a:p xmlns:a="http://schemas.openxmlformats.org/drawingml/2006/main">
            <a:r>
              <a:t>Verification includes seeded raw values, all derived fields and NULL masks, SQL validation outputs, and the latest-quarter comparison. **Native MySQL execution is not verified.** This check demonstrates formula/result agreement through the disclosed adaptation; it does not certify MySQL deployment compatibility. See the executed notebook and final QA report for run evidence.</a:t>
            </a:r>
          </a:p>
          <a:p xmlns:a="http://schemas.openxmlformats.org/drawingml/2006/main">
            <a:r>
              <a:t/>
            </a:r>
          </a:p>
          <a:p xmlns:a="http://schemas.openxmlformats.org/drawingml/2006/main">
            <a:r>
              <a:t>## Interpretation and operational use</a:t>
            </a:r>
          </a:p>
          <a:p xmlns:a="http://schemas.openxmlformats.org/drawingml/2006/main">
            <a:r>
              <a:t/>
            </a:r>
          </a:p>
          <a:p xmlns:a="http://schemas.openxmlformats.org/drawingml/2006/main">
            <a:r>
              <a:t>- DAU/MAU is a ratio of separately averaged period counts and an aggregate engagement-intensity proxy; it is not cohort retention or an individual user's daily-use probability.</a:t>
            </a:r>
          </a:p>
          <a:p xmlns:a="http://schemas.openxmlformats.org/drawingml/2006/main">
            <a:r>
              <a:t>- Period-end paid subscribers and quarterly revenue do not constitute a measured free-to-paid funnel. Revenue growth combines multiple sources and timing effects; it cannot isolate subscription conversion, pricing, packaging, willingness to pay or commercial efficiency.</a:t>
            </a:r>
          </a:p>
          <a:p xmlns:a="http://schemas.openxmlformats.org/drawingml/2006/main">
            <a:r>
              <a:t>- Faster DAU/paid/revenue growth than MAU is an observed divergence. It suggests questions for operational review, not a proven causal mechanism.</a:t>
            </a:r>
          </a:p>
          <a:p xmlns:a="http://schemas.openxmlformats.org/drawingml/2006/main">
            <a:r>
              <a:t>- Proposed operational priorities require authorised internal evidence: review existing measurement, inspect cohort/renewal and conversion behavior where available, and evaluate possible actions against free-experience and learning guardrails. The portfolio's lack of access does not establish that Duolingo lacks instrumentation.</a:t>
            </a:r>
          </a:p>
          <a:p xmlns:a="http://schemas.openxmlformats.org/drawingml/2006/main">
            <a:r>
              <a:t>- As-of-cutoff management commentary can supply context when attributed to an official source. The [Q4/FY2025 shareholder letter](https://www.sec.gov/Archives/edgar/data/1562088/000162828026012246/q4fy25duolingo12-31x25shar.htm) describes prioritising teaching/user growth and reducing monetisation friction. This is a disclosed management direction, not a causal conclusion inferred from the quarterly metrics; forward forecasts are excluded from this case study.</a:t>
            </a:r>
          </a:p>
          <a:p xmlns:a="http://schemas.openxmlformats.org/drawingml/2006/main">
            <a:r>
              <a:t/>
            </a:r>
          </a:p>
          <a:p xmlns:a="http://schemas.openxmlformats.org/drawingml/2006/main">
            <a:r>
              <a:t>## Competitive and delivery limitations</a:t>
            </a:r>
          </a:p>
          <a:p xmlns:a="http://schemas.openxmlformats.org/drawingml/2006/main">
            <a:r>
              <a:t/>
            </a:r>
          </a:p>
          <a:p xmlns:a="http://schemas.openxmlformats.org/drawingml/2006/main">
            <a:r>
              <a:t>The inherited website/social observations remain point-in-time contextual snapshots. Original captures, exact observation dates and exact social account URLs are unavailable, so their historical provenance is explicitly **unverified**. The known months are preserved; unsupported exact dates are removed. Current provider pages cannot authenticate historical values and must not be used to replace the snapshots. The websites are not the apps; browsing metrics do not establish learning quality or conversion. Social audiences overlap, so followers are not summed across platforms. No market-share estimate or longitudinal competitor dataset is constructed.</a:t>
            </a:r>
          </a:p>
          <a:p xmlns:a="http://schemas.openxmlformats.org/drawingml/2006/main">
            <a:r>
              <a:t/>
            </a:r>
          </a:p>
          <a:p xmlns:a="http://schemas.openxmlformats.org/drawingml/2006/main">
            <a:r>
              <a:t>The final presentation uses the completed and published two-page English Tableau dashboard and `dashboard/final/Duolingo_Growth_Marketing_Analytics.twbx`. Page 2 retains Q4 2025 growth-gap cards, Indexed Growth Comparison, Engagement Growth Gap, Monetisation Growth Gaps, separate Website Traffic and Social Audience contextual snapshots, and Operational Priorities. The approved priority headings are Protect engagement quality; Strengthen premium value communication; Balance growth with user control. Tableau Public URLs, including the exact supplied Share URL, are recorded in `docs/portfolio_links.json`. Both pages' public PNG exports were retrieved without authentication on October 18, 2026; interactive browser tabs were not tested. Final dashboard images are kept in `dashboard/final/`; earlier bilingual static images are legacy prototypes retained for reference. English and Chinese case-study deliverables share the same final visuals, observations, calculations, conclusions and analytical limits. Exported pages must be visually inspected after regeneration, as numerical reconciliation alone does not establish visual QA. This presentation update does not change the March 2026 analysis cutoff or the frozen data definitions.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 Duolingo 用户规模持续扩大，用户活跃度和商业化表现是否也同步提升？本项目基于 2023 Q1–2025 Q4 的公开经营数据，对用户规模、活跃度、付费订阅和收入增长进行对比，并结合 2026 年初的竞品数字表现，进一步提炼增长运营与用户运营的关注重点。</a:t>
            </a:r>
          </a:p>
          <a:p xmlns:a="http://schemas.openxmlformats.org/drawingml/2006/main">
            <a:r>
              <a:t/>
            </a:r>
          </a:p>
          <a:p xmlns:a="http://schemas.openxmlformats.org/drawingml/2006/main">
            <a:r>
              <a:t>项目工作：明确业务问题，统一指标口径，核对公开数据与计算结果，完成两页 Tableau Dashboard，并将分析发现转化为运营关注重点。</a:t>
            </a:r>
          </a:p>
          <a:p xmlns:a="http://schemas.openxmlformats.org/drawingml/2006/main">
            <a:r>
              <a:t/>
            </a:r>
          </a:p>
          <a:p xmlns:a="http://schemas.openxmlformats.org/drawingml/2006/main">
            <a:r>
              <a:t>增长率根据公开披露的数值计算，并按展示需要四舍五入。MAU、DAU 为季度平均人数，付费订阅用户为期末人数，收入为当季金额。披露数值本身已做过舍入，因此计算增速可能与公司使用未舍入数据公布的增速略有差异。</a:t>
            </a:r>
          </a:p>
          <a:p xmlns:a="http://schemas.openxmlformats.org/drawingml/2006/main">
            <a:r>
              <a:t/>
            </a:r>
          </a:p>
          <a:p xmlns:a="http://schemas.openxmlformats.org/drawingml/2006/main">
            <a:r>
              <a:t>DAU/MAU 是季度平均 DAU 与季度平均 MAU 的比值，反映整体活跃强度，不等同于留存率，也不能代表某个用户每日使用的概率。增速差用百分点表示，增长指数以 2023 Q1 = 100 为基期。</a:t>
            </a:r>
          </a:p>
          <a:p xmlns:a="http://schemas.openxmlformats.org/drawingml/2006/main">
            <a:r>
              <a:t/>
            </a:r>
          </a:p>
          <a:p xmlns:a="http://schemas.openxmlformats.org/drawingml/2006/main">
            <a:r>
              <a:t>MAU、DAU 采用 Duolingo 自有的分析定义和估算口径，本项目未对用户人数进行独立测量。</a:t>
            </a:r>
          </a:p>
          <a:p xmlns:a="http://schemas.openxmlformats.org/drawingml/2006/main">
            <a:r>
              <a:t/>
            </a:r>
          </a:p>
          <a:p xmlns:a="http://schemas.openxmlformats.org/drawingml/2006/main">
            <a:r>
              <a:t>竞品网站与社媒数据来自原课程项目中记录的历史快照。由于原始带日期截图和部分账户链接未保留，目前无法独立复核其准确采集时间，因此这些数据仅用于补充竞争背景，不用于推断市场份额、转化率、留存或长期趋势。</a:t>
            </a:r>
          </a:p>
          <a:p xmlns:a="http://schemas.openxmlformats.org/drawingml/2006/main">
            <a:r>
              <a:t/>
            </a:r>
          </a:p>
          <a:p xmlns:a="http://schemas.openxmlformats.org/drawingml/2006/main">
            <a:r>
              <a:t>SQL 逻辑已通过 SQLite 兼容环境进行结果核对；原生 MySQL 环境未单独执行验证。原始数据、处理后 CSV、指标定义和已确认的分析结论均保持不变。</a:t>
            </a:r>
          </a:p>
          <a:p xmlns:a="http://schemas.openxmlformats.org/drawingml/2006/main">
            <a:r>
              <a:t/>
            </a:r>
          </a:p>
          <a:p xmlns:a="http://schemas.openxmlformats.org/drawingml/2006/main">
            <a:r>
              <a:t>以下方向基于公开数据提出，仍需结合内部用户数据和实际测试进一步验证。本项目不声称相关策略已经实施或产生业务效果。</a:t>
            </a:r>
          </a:p>
          <a:p xmlns:a="http://schemas.openxmlformats.org/drawingml/2006/main">
            <a:r>
              <a:t/>
            </a:r>
          </a:p>
          <a:p xmlns:a="http://schemas.openxmlformats.org/drawingml/2006/main">
            <a:r>
              <a:t>本项目将公开数据中的增长变化转化为运营关注重点与验证方向。后续行动仍需结合内部数据和实际测试，并关注免费用户体验与学习体验。</a:t>
            </a:r>
          </a:p>
          <a:p xmlns:a="http://schemas.openxmlformats.org/drawingml/2006/main">
            <a:r>
              <a:t/>
            </a:r>
          </a:p>
          <a:p xmlns:a="http://schemas.openxmlformats.org/drawingml/2006/main">
            <a:r>
              <a:t>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 Methodology</a:t>
            </a:r>
          </a:p>
          <a:p xmlns:a="http://schemas.openxmlformats.org/drawingml/2006/main">
            <a:r>
              <a:t/>
            </a:r>
          </a:p>
          <a:p xmlns:a="http://schemas.openxmlformats.org/drawingml/2006/main">
            <a:r>
              <a:t>## Fixed analytical scope</a:t>
            </a:r>
          </a:p>
          <a:p xmlns:a="http://schemas.openxmlformats.org/drawingml/2006/main">
            <a:r>
              <a:t/>
            </a:r>
          </a:p>
          <a:p xmlns:a="http://schemas.openxmlformats.org/drawingml/2006/main">
            <a:r>
              <a:t>- Analysis as of: **March 2026**.</a:t>
            </a:r>
          </a:p>
          <a:p xmlns:a="http://schemas.openxmlformats.org/drawingml/2006/main">
            <a:r>
              <a:t>- Corporate performance: **Q1 2023–Q4 2025**, 12 complete quarters.</a:t>
            </a:r>
          </a:p>
          <a:p xmlns:a="http://schemas.openxmlformats.org/drawingml/2006/main">
            <a:r>
              <a:t>- Competitive website context: inherited **February 2026** snapshot.</a:t>
            </a:r>
          </a:p>
          <a:p xmlns:a="http://schemas.openxmlformats.org/drawingml/2006/main">
            <a:r>
              <a:t>- Competitive social context: inherited **March 2026** snapshot.</a:t>
            </a:r>
          </a:p>
          <a:p xmlns:a="http://schemas.openxmlformats.org/drawingml/2006/main">
            <a:r>
              <a:t/>
            </a:r>
          </a:p>
          <a:p xmlns:a="http://schemas.openxmlformats.org/drawingml/2006/main">
            <a:r>
              <a:t>The continuation audit was performed on **October 14, 2026** using historical official documents published before the March 2026 analysis cutoff. The review date does not move the analysis date. Later operating results and current competitor values are excluded.</a:t>
            </a:r>
          </a:p>
          <a:p xmlns:a="http://schemas.openxmlformats.org/drawingml/2006/main">
            <a:r>
              <a:t/>
            </a:r>
          </a:p>
          <a:p xmlns:a="http://schemas.openxmlformats.org/drawingml/2006/main">
            <a:r>
              <a:t>## Business questions and evidence</a:t>
            </a:r>
          </a:p>
          <a:p xmlns:a="http://schemas.openxmlformats.org/drawingml/2006/main">
            <a:r>
              <a:t/>
            </a:r>
          </a:p>
          <a:p xmlns:a="http://schemas.openxmlformats.org/drawingml/2006/main">
            <a:r>
              <a:t>The case study examines whether audience growth coincided with deeper aggregate daily activity and larger paid-subscriber/revenue bases, then identifies operational questions for a growth team. It does not reconstruct Duolingo's internal funnel or assess campaign effectiveness.</a:t>
            </a:r>
          </a:p>
          <a:p xmlns:a="http://schemas.openxmlformats.org/drawingml/2006/main">
            <a:r>
              <a:t/>
            </a:r>
          </a:p>
          <a:p xmlns:a="http://schemas.openxmlformats.org/drawingml/2006/main">
            <a:r>
              <a:t>The primary evidence is six company-reported metrics per quarter: average MAU, average DAU, period-end paid subscribers, quarterly GAAP revenue, total bookings and subscription bookings. Every raw corporate value must trace to official Investor Relations or SEC material through `source_id`. The historical competitor values provide limited context and have weaker provenance; they are not used to establish Duolingo's operating performance.</a:t>
            </a:r>
          </a:p>
          <a:p xmlns:a="http://schemas.openxmlformats.org/drawingml/2006/main">
            <a:r>
              <a:t/>
            </a:r>
          </a:p>
          <a:p xmlns:a="http://schemas.openxmlformats.org/drawingml/2006/main">
            <a:r>
              <a:t>An inherited RACE/coursework narrative is motivation for the project, not independently established evidence. The original coursework and competitor captures are absent. Descriptive findings here depend on the inspected public data, not on unprovided prior summaries.</a:t>
            </a:r>
          </a:p>
          <a:p xmlns:a="http://schemas.openxmlformats.org/drawingml/2006/main">
            <a:r>
              <a:t/>
            </a:r>
          </a:p>
          <a:p xmlns:a="http://schemas.openxmlformats.org/drawingml/2006/main">
            <a:r>
              <a:t>## Source verification</a:t>
            </a:r>
          </a:p>
          <a:p xmlns:a="http://schemas.openxmlformats.org/drawingml/2006/main">
            <a:r>
              <a:t/>
            </a:r>
          </a:p>
          <a:p xmlns:a="http://schemas.openxmlformats.org/drawingml/2006/main">
            <a:r>
              <a:t>The October 2026 continuation audit independently matched **all 72 corporate metric cells** (12 quarters × six metrics) to official historical numerical disclosures. No raw corporate values needed replacement. See `source_manifest.csv` for document URLs and publication dates.</a:t>
            </a:r>
          </a:p>
          <a:p xmlns:a="http://schemas.openxmlformats.org/drawingml/2006/main">
            <a:r>
              <a:t/>
            </a:r>
          </a:p>
          <a:p xmlns:a="http://schemas.openxmlformats.org/drawingml/2006/main">
            <a:r>
              <a:t>| Corporate periods | Numerical disclosure used | Precision retained |</a:t>
            </a:r>
          </a:p>
          <a:p xmlns:a="http://schemas.openxmlformats.org/drawingml/2006/main">
            <a:r>
              <a:t>|---|---|---|</a:t>
            </a:r>
          </a:p>
          <a:p xmlns:a="http://schemas.openxmlformats.org/drawingml/2006/main">
            <a:r>
              <a:t>| 2023-Q1, Q2, Q3, Q4 | Original official quarterly releases: `DUOL_2023_Q1_IR` through `DUOL_2023_Q4_IR` | User counts in millions; financial USD thousands divided by 1,000 |</a:t>
            </a:r>
          </a:p>
          <a:p xmlns:a="http://schemas.openxmlformats.org/drawingml/2006/main">
            <a:r>
              <a:t>| 2024-Q1, Q2, Q3 | Original official quarterly releases: `DUOL_2024_Q1_IR` through `DUOL_2024_Q3_IR` | User counts in millions; financial USD thousands divided by 1,000 |</a:t>
            </a:r>
          </a:p>
          <a:p xmlns:a="http://schemas.openxmlformats.org/drawingml/2006/main">
            <a:r>
              <a:t>| 2024-Q4 | Original Q4/FY2024 shareholder letter: `DUOL_2024_Q4_IR` | Disclosed one-decimal millions |</a:t>
            </a:r>
          </a:p>
          <a:p xmlns:a="http://schemas.openxmlformats.org/drawingml/2006/main">
            <a:r>
              <a:t>| 2025-Q1 | Original Q1 2025 shareholder letter: `DUOL_2025_Q1_IR` | Disclosed one-decimal millions |</a:t>
            </a:r>
          </a:p>
          <a:p xmlns:a="http://schemas.openxmlformats.org/drawingml/2006/main">
            <a:r>
              <a:t>| 2025-Q2 | Original Q2 2025 shareholder letter: `DUOL_2025_Q2_IR` | Disclosed one-decimal millions |</a:t>
            </a:r>
          </a:p>
          <a:p xmlns:a="http://schemas.openxmlformats.org/drawingml/2006/main">
            <a:r>
              <a:t>| 2025-Q3 | Original Q3 2025 shareholder letter: `DUOL_2025_Q3_IR` | Disclosed one-decimal millions |</a:t>
            </a:r>
          </a:p>
          <a:p xmlns:a="http://schemas.openxmlformats.org/drawingml/2006/main">
            <a:r>
              <a:t>| 2025-Q4 | Original Q4/FY2025 shareholder letter: `DUOL_2025_Q4_SEC` | Disclosed one-decimal millions |</a:t>
            </a:r>
          </a:p>
          <a:p xmlns:a="http://schemas.openxmlformats.org/drawingml/2006/main">
            <a:r>
              <a:t/>
            </a:r>
          </a:p>
          <a:p xmlns:a="http://schemas.openxmlformats.org/drawingml/2006/main">
            <a:r>
              <a:t>The Q4 2025 DAU/MAU ratio is calculated as `52.7 / 133.1 = 39.594…%`, displayed as **39.6%**. The supplemental original [2025 Form 10-K](https://www.sec.gov/Archives/edgar/data/1562088/000162828026012494/duol-20251231.htm), published February 27, 2026, explicitly reports 39.6% and provides metric definitions. It adds no quarter or business metric to the dataset. Four announcement-only manifest links were corrected to the numerical shareholder letters.</a:t>
            </a:r>
          </a:p>
          <a:p xmlns:a="http://schemas.openxmlformats.org/drawingml/2006/main">
            <a:r>
              <a:t/>
            </a:r>
          </a:p>
          <a:p xmlns:a="http://schemas.openxmlformats.org/drawingml/2006/main">
            <a:r>
              <a:t>The company explains that its published growth percentages can use underlying unrounded figures. This project transparently derives rates from the disclosed values stored in its CSVs, so minor differences from rounded official rates are expected and are not evidence of a data error.</a:t>
            </a:r>
          </a:p>
          <a:p xmlns:a="http://schemas.openxmlformats.org/drawingml/2006/main">
            <a:r>
              <a:t/>
            </a:r>
          </a:p>
          <a:p xmlns:a="http://schemas.openxmlformats.org/drawingml/2006/main">
            <a:r>
              <a:t>## Data preparation and calculations</a:t>
            </a:r>
          </a:p>
          <a:p xmlns:a="http://schemas.openxmlformats.org/drawingml/2006/main">
            <a:r>
              <a:t/>
            </a:r>
          </a:p>
          <a:p xmlns:a="http://schemas.openxmlformats.org/drawingml/2006/main">
            <a:r>
              <a:t>1. Preserve the three canonical raw CSVs and source manifest. The builder reads these existing inputs; it does not recreate or overwrite raw values.</a:t>
            </a:r>
          </a:p>
          <a:p xmlns:a="http://schemas.openxmlformats.org/drawingml/2006/main">
            <a:r>
              <a:t>2. Require the exact 12-quarter sequence, consistent fiscal metadata and actual quarter-end dates. Require positive core values, DAU no greater than MAU, and subscription bookings no greater than total bookings.</a:t>
            </a:r>
          </a:p>
          <a:p xmlns:a="http://schemas.openxmlformats.org/drawingml/2006/main">
            <a:r>
              <a:t>3. Calculate DAU/MAU, QoQ, YoY, four growth indexes (2023-Q1 = 100) and three YoY growth-rate gaps in Python for the processed quarterly CSV.</a:t>
            </a:r>
          </a:p>
          <a:p xmlns:a="http://schemas.openxmlformats.org/drawingml/2006/main">
            <a:r>
              <a:t>4. Preserve unavailable prior-period comparisons as missing values. QoQ is missing in 2023-Q1; YoY and growth gaps are missing in all four 2023 quarters. No observations before 2023-Q1 are fabricated or imported.</a:t>
            </a:r>
          </a:p>
          <a:p xmlns:a="http://schemas.openxmlformats.org/drawingml/2006/main">
            <a:r>
              <a:t>5. Reshape 13 selected metrics into the existing 156-row Tableau long CSV, retaining quarter keys, dates, numeric values and missing-value masks.</a:t>
            </a:r>
          </a:p>
          <a:p xmlns:a="http://schemas.openxmlformats.org/drawingml/2006/main">
            <a:r>
              <a:t>6. Copy the historical competitor snapshots into processed inputs without changing their values or months. Validate three unique web rows and nine unique brand/platform social rows.</a:t>
            </a:r>
          </a:p>
          <a:p xmlns:a="http://schemas.openxmlformats.org/drawingml/2006/main">
            <a:r>
              <a:t/>
            </a:r>
          </a:p>
          <a:p xmlns:a="http://schemas.openxmlformats.org/drawingml/2006/main">
            <a:r>
              <a:t>Full formulas, units and field definitions are in `data_dictionary.md`. Rate differences are reported in **percentage points**; ratios and growth rates are reported in percent; indexes are index points. Period growth compares the two endpoint quarters, not annual totals.</a:t>
            </a:r>
          </a:p>
          <a:p xmlns:a="http://schemas.openxmlformats.org/drawingml/2006/main">
            <a:r>
              <a:t/>
            </a:r>
          </a:p>
          <a:p xmlns:a="http://schemas.openxmlformats.org/drawingml/2006/main">
            <a:r>
              <a:t>## Independent reconciliation and SQL scope</a:t>
            </a:r>
          </a:p>
          <a:p xmlns:a="http://schemas.openxmlformats.org/drawingml/2006/main">
            <a:r>
              <a:t/>
            </a:r>
          </a:p>
          <a:p xmlns:a="http://schemas.openxmlformats.org/drawingml/2006/main">
            <a:r>
              <a:t>The processed values are independently recalculated from raw CSV strings using Python's Decimal arithmetic, joined by `quarter`, and reconciled across **all 16 derived fields and their missing-value masks**. Floating-point exports are compared within a small numerical tolerance, not for literal decimal-string identity. Raw fields and the long-format key/date/value mapping are also checked.</a:t>
            </a:r>
          </a:p>
          <a:p xmlns:a="http://schemas.openxmlformats.org/drawingml/2006/main">
            <a:r>
              <a:t/>
            </a:r>
          </a:p>
          <a:p xmlns:a="http://schemas.openxmlformats.org/drawingml/2006/main">
            <a:r>
              <a:t>The supplied SQL is intended for MySQL 8. It independently expresses the same quarterly formulas using `LAG`, `FIRST_VALUE` and analytical views. During this continuation, the actual schema, seed and view scripts are also executed against an in-memory **SQLite compatibility adaptation**, then their results are reconciled with the Python data. The adaptation removes MySQL database-selection statements, changes `CREATE OR REPLACE VIEW` to `CREATE VIEW`, and changes `CAST(... AS DOUBLE)` to a real-number cast. SQLite accepts the declared string/decimal types but does not reproduce MySQL's precision, coercion and constraint behavior.</a:t>
            </a:r>
          </a:p>
          <a:p xmlns:a="http://schemas.openxmlformats.org/drawingml/2006/main">
            <a:r>
              <a:t/>
            </a:r>
          </a:p>
          <a:p xmlns:a="http://schemas.openxmlformats.org/drawingml/2006/main">
            <a:r>
              <a:t>Verification includes seeded raw values, all derived fields and NULL masks, SQL validation outputs, and the latest-quarter comparison. **Native MySQL execution is not verified.** This check demonstrates formula/result agreement through the disclosed adaptation; it does not certify MySQL deployment compatibility. See the executed notebook and final QA report for run evidence.</a:t>
            </a:r>
          </a:p>
          <a:p xmlns:a="http://schemas.openxmlformats.org/drawingml/2006/main">
            <a:r>
              <a:t/>
            </a:r>
          </a:p>
          <a:p xmlns:a="http://schemas.openxmlformats.org/drawingml/2006/main">
            <a:r>
              <a:t>## Interpretation and operational use</a:t>
            </a:r>
          </a:p>
          <a:p xmlns:a="http://schemas.openxmlformats.org/drawingml/2006/main">
            <a:r>
              <a:t/>
            </a:r>
          </a:p>
          <a:p xmlns:a="http://schemas.openxmlformats.org/drawingml/2006/main">
            <a:r>
              <a:t>- DAU/MAU is a ratio of separately averaged period counts and an aggregate engagement-intensity proxy; it is not cohort retention or an individual user's daily-use probability.</a:t>
            </a:r>
          </a:p>
          <a:p xmlns:a="http://schemas.openxmlformats.org/drawingml/2006/main">
            <a:r>
              <a:t>- Period-end paid subscribers and quarterly revenue do not constitute a measured free-to-paid funnel. Revenue growth combines multiple sources and timing effects; it cannot isolate subscription conversion, pricing, packaging, willingness to pay or commercial efficiency.</a:t>
            </a:r>
          </a:p>
          <a:p xmlns:a="http://schemas.openxmlformats.org/drawingml/2006/main">
            <a:r>
              <a:t>- Faster DAU/paid/revenue growth than MAU is an observed divergence. It suggests questions for operational review, not a proven causal mechanism.</a:t>
            </a:r>
          </a:p>
          <a:p xmlns:a="http://schemas.openxmlformats.org/drawingml/2006/main">
            <a:r>
              <a:t>- Proposed operational priorities require authorised internal evidence: review existing measurement, inspect cohort/renewal and conversion behavior where available, and evaluate possible actions against free-experience and learning guardrails. The portfolio's lack of access does not establish that Duolingo lacks instrumentation.</a:t>
            </a:r>
          </a:p>
          <a:p xmlns:a="http://schemas.openxmlformats.org/drawingml/2006/main">
            <a:r>
              <a:t>- As-of-cutoff management commentary can supply context when attributed to an official source. The [Q4/FY2025 shareholder letter](https://www.sec.gov/Archives/edgar/data/1562088/000162828026012246/q4fy25duolingo12-31x25shar.htm) describes prioritising teaching/user growth and reducing monetisation friction. This is a disclosed management direction, not a causal conclusion inferred from the quarterly metrics; forward forecasts are excluded from this case study.</a:t>
            </a:r>
          </a:p>
          <a:p xmlns:a="http://schemas.openxmlformats.org/drawingml/2006/main">
            <a:r>
              <a:t/>
            </a:r>
          </a:p>
          <a:p xmlns:a="http://schemas.openxmlformats.org/drawingml/2006/main">
            <a:r>
              <a:t>## Competitive and delivery limitations</a:t>
            </a:r>
          </a:p>
          <a:p xmlns:a="http://schemas.openxmlformats.org/drawingml/2006/main">
            <a:r>
              <a:t/>
            </a:r>
          </a:p>
          <a:p xmlns:a="http://schemas.openxmlformats.org/drawingml/2006/main">
            <a:r>
              <a:t>The inherited website/social observations remain point-in-time contextual snapshots. Original captures, exact observation dates and exact social account URLs are unavailable, so their historical provenance is explicitly **unverified**. The known months are preserved; unsupported exact dates are removed. Current provider pages cannot authenticate historical values and must not be used to replace the snapshots. The websites are not the apps; browsing metrics do not establish learning quality or conversion. Social audiences overlap, so followers are not summed across platforms. No market-share estimate or longitudinal competitor dataset is constructed.</a:t>
            </a:r>
          </a:p>
          <a:p xmlns:a="http://schemas.openxmlformats.org/drawingml/2006/main">
            <a:r>
              <a:t/>
            </a:r>
          </a:p>
          <a:p xmlns:a="http://schemas.openxmlformats.org/drawingml/2006/main">
            <a:r>
              <a:t>The final presentation uses the completed and published two-page English Tableau dashboard and `dashboard/final/Duolingo_Growth_Marketing_Analytics.twbx`. Page 2 retains Q4 2025 growth-gap cards, Indexed Growth Comparison, Engagement Growth Gap, Monetisation Growth Gaps, separate Website Traffic and Social Audience contextual snapshots, and Operational Priorities. The approved priority headings are Protect engagement quality; Strengthen premium value communication; Balance growth with user control. Tableau Public URLs, including the exact supplied Share URL, are recorded in `docs/portfolio_links.json`. Both pages' public PNG exports were retrieved without authentication on October 18, 2026; interactive browser tabs were not tested. Final dashboard images are kept in `dashboard/final/`; earlier bilingual static images are legacy prototypes retained for reference. English and Chinese case-study deliverables share the same final visuals, observations, calculations, conclusions and analytical limits. Exported pages must be visually inspected after regeneration, as numerical reconciliation alone does not establish visual QA. This presentation update does not change the March 2026 analysis cutoff or the frozen data definitions.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 Duolingo 用户规模持续扩大，用户活跃度和商业化表现是否也同步提升？本项目基于 2023 Q1–2025 Q4 的公开经营数据，对用户规模、活跃度、付费订阅和收入增长进行对比，并结合 2026 年初的竞品数字表现，进一步提炼增长运营与用户运营的关注重点。</a:t>
            </a:r>
          </a:p>
          <a:p xmlns:a="http://schemas.openxmlformats.org/drawingml/2006/main">
            <a:r>
              <a:t/>
            </a:r>
          </a:p>
          <a:p xmlns:a="http://schemas.openxmlformats.org/drawingml/2006/main">
            <a:r>
              <a:t>项目工作：明确业务问题，统一指标口径，核对公开数据与计算结果，完成两页 Tableau Dashboard，并将分析发现转化为运营关注重点。</a:t>
            </a:r>
          </a:p>
          <a:p xmlns:a="http://schemas.openxmlformats.org/drawingml/2006/main">
            <a:r>
              <a:t/>
            </a:r>
          </a:p>
          <a:p xmlns:a="http://schemas.openxmlformats.org/drawingml/2006/main">
            <a:r>
              <a:t>增长率根据公开披露的数值计算，并按展示需要四舍五入。MAU、DAU 为季度平均人数，付费订阅用户为期末人数，收入为当季金额。披露数值本身已做过舍入，因此计算增速可能与公司使用未舍入数据公布的增速略有差异。</a:t>
            </a:r>
          </a:p>
          <a:p xmlns:a="http://schemas.openxmlformats.org/drawingml/2006/main">
            <a:r>
              <a:t/>
            </a:r>
          </a:p>
          <a:p xmlns:a="http://schemas.openxmlformats.org/drawingml/2006/main">
            <a:r>
              <a:t>DAU/MAU 是季度平均 DAU 与季度平均 MAU 的比值，反映整体活跃强度，不等同于留存率，也不能代表某个用户每日使用的概率。增速差用百分点表示，增长指数以 2023 Q1 = 100 为基期。</a:t>
            </a:r>
          </a:p>
          <a:p xmlns:a="http://schemas.openxmlformats.org/drawingml/2006/main">
            <a:r>
              <a:t/>
            </a:r>
          </a:p>
          <a:p xmlns:a="http://schemas.openxmlformats.org/drawingml/2006/main">
            <a:r>
              <a:t>MAU、DAU 采用 Duolingo 自有的分析定义和估算口径，本项目未对用户人数进行独立测量。</a:t>
            </a:r>
          </a:p>
          <a:p xmlns:a="http://schemas.openxmlformats.org/drawingml/2006/main">
            <a:r>
              <a:t/>
            </a:r>
          </a:p>
          <a:p xmlns:a="http://schemas.openxmlformats.org/drawingml/2006/main">
            <a:r>
              <a:t>竞品网站与社媒数据来自原课程项目中记录的历史快照。由于原始带日期截图和部分账户链接未保留，目前无法独立复核其准确采集时间，因此这些数据仅用于补充竞争背景，不用于推断市场份额、转化率、留存或长期趋势。</a:t>
            </a:r>
          </a:p>
          <a:p xmlns:a="http://schemas.openxmlformats.org/drawingml/2006/main">
            <a:r>
              <a:t/>
            </a:r>
          </a:p>
          <a:p xmlns:a="http://schemas.openxmlformats.org/drawingml/2006/main">
            <a:r>
              <a:t>SQL 逻辑已通过 SQLite 兼容环境进行结果核对；原生 MySQL 环境未单独执行验证。原始数据、处理后 CSV、指标定义和已确认的分析结论均保持不变。</a:t>
            </a:r>
          </a:p>
          <a:p xmlns:a="http://schemas.openxmlformats.org/drawingml/2006/main">
            <a:r>
              <a:t/>
            </a:r>
          </a:p>
          <a:p xmlns:a="http://schemas.openxmlformats.org/drawingml/2006/main">
            <a:r>
              <a:t>以下方向基于公开数据提出，仍需结合内部用户数据和实际测试进一步验证。本项目不声称相关策略已经实施或产生业务效果。</a:t>
            </a:r>
          </a:p>
          <a:p xmlns:a="http://schemas.openxmlformats.org/drawingml/2006/main">
            <a:r>
              <a:t/>
            </a:r>
          </a:p>
          <a:p xmlns:a="http://schemas.openxmlformats.org/drawingml/2006/main">
            <a:r>
              <a:t>本项目将公开数据中的增长变化转化为运营关注重点与验证方向。后续行动仍需结合内部数据和实际测试，并关注免费用户体验与学习体验。</a:t>
            </a:r>
          </a:p>
          <a:p xmlns:a="http://schemas.openxmlformats.org/drawingml/2006/main">
            <a:r>
              <a:t/>
            </a:r>
          </a:p>
          <a:p xmlns:a="http://schemas.openxmlformats.org/drawingml/2006/main">
            <a:r>
              <a:t>Tableau Public: https://public.tableau.com/views/Duolingo_Growth_Marketing_Analytics/P1_Growth_Monetisation_Overview?:language=en-US&amp;:sid=&amp;:redirect=auth&amp;:display_count=n&amp;:origin=viz_share_link</a:t>
            </a:r>
          </a:p>
          <a:p xmlns:a="http://schemas.openxmlformats.org/drawingml/2006/main">
            <a:r>
              <a:t/>
            </a:r>
          </a:p>
          <a:p xmlns:a="http://schemas.openxmlformats.org/drawingml/2006/main">
            <a:r>
              <a:t># Methodology</a:t>
            </a:r>
          </a:p>
          <a:p xmlns:a="http://schemas.openxmlformats.org/drawingml/2006/main">
            <a:r>
              <a:t/>
            </a:r>
          </a:p>
          <a:p xmlns:a="http://schemas.openxmlformats.org/drawingml/2006/main">
            <a:r>
              <a:t>## Fixed analytical scope</a:t>
            </a:r>
          </a:p>
          <a:p xmlns:a="http://schemas.openxmlformats.org/drawingml/2006/main">
            <a:r>
              <a:t/>
            </a:r>
          </a:p>
          <a:p xmlns:a="http://schemas.openxmlformats.org/drawingml/2006/main">
            <a:r>
              <a:t>- Analysis as of: **March 2026**.</a:t>
            </a:r>
          </a:p>
          <a:p xmlns:a="http://schemas.openxmlformats.org/drawingml/2006/main">
            <a:r>
              <a:t>- Corporate performance: **Q1 2023–Q4 2025**, 12 complete quarters.</a:t>
            </a:r>
          </a:p>
          <a:p xmlns:a="http://schemas.openxmlformats.org/drawingml/2006/main">
            <a:r>
              <a:t>- Competitive website context: inherited **February 2026** snapshot.</a:t>
            </a:r>
          </a:p>
          <a:p xmlns:a="http://schemas.openxmlformats.org/drawingml/2006/main">
            <a:r>
              <a:t>- Competitive social context: inherited **March 2026** snapshot.</a:t>
            </a:r>
          </a:p>
          <a:p xmlns:a="http://schemas.openxmlformats.org/drawingml/2006/main">
            <a:r>
              <a:t/>
            </a:r>
          </a:p>
          <a:p xmlns:a="http://schemas.openxmlformats.org/drawingml/2006/main">
            <a:r>
              <a:t>The continuation audit was performed on **October 14, 2026** using historical official documents published before the March 2026 analysis cutoff. The review date does not move the analysis date. Later operating results and current competitor values are excluded.</a:t>
            </a:r>
          </a:p>
          <a:p xmlns:a="http://schemas.openxmlformats.org/drawingml/2006/main">
            <a:r>
              <a:t/>
            </a:r>
          </a:p>
          <a:p xmlns:a="http://schemas.openxmlformats.org/drawingml/2006/main">
            <a:r>
              <a:t>## Business questions and evidence</a:t>
            </a:r>
          </a:p>
          <a:p xmlns:a="http://schemas.openxmlformats.org/drawingml/2006/main">
            <a:r>
              <a:t/>
            </a:r>
          </a:p>
          <a:p xmlns:a="http://schemas.openxmlformats.org/drawingml/2006/main">
            <a:r>
              <a:t>The case study examines whether audience growth coincided with deeper aggregate daily activity and larger paid-subscriber/revenue bases, then identifies operational questions for a growth team. It does not reconstruct Duolingo's internal funnel or assess campaign effectiveness.</a:t>
            </a:r>
          </a:p>
          <a:p xmlns:a="http://schemas.openxmlformats.org/drawingml/2006/main">
            <a:r>
              <a:t/>
            </a:r>
          </a:p>
          <a:p xmlns:a="http://schemas.openxmlformats.org/drawingml/2006/main">
            <a:r>
              <a:t>The primary evidence is six company-reported metrics per quarter: average MAU, average DAU, period-end paid subscribers, quarterly GAAP revenue, total bookings and subscription bookings. Every raw corporate value must trace to official Investor Relations or SEC material through `source_id`. The historical competitor values provide limited context and have weaker provenance; they are not used to establish Duolingo's operating performance.</a:t>
            </a:r>
          </a:p>
          <a:p xmlns:a="http://schemas.openxmlformats.org/drawingml/2006/main">
            <a:r>
              <a:t/>
            </a:r>
          </a:p>
          <a:p xmlns:a="http://schemas.openxmlformats.org/drawingml/2006/main">
            <a:r>
              <a:t>An inherited RACE/coursework narrative is motivation for the project, not independently established evidence. The original coursework and competitor captures are absent. Descriptive findings here depend on the inspected public data, not on unprovided prior summaries.</a:t>
            </a:r>
          </a:p>
          <a:p xmlns:a="http://schemas.openxmlformats.org/drawingml/2006/main">
            <a:r>
              <a:t/>
            </a:r>
          </a:p>
          <a:p xmlns:a="http://schemas.openxmlformats.org/drawingml/2006/main">
            <a:r>
              <a:t>## Source verification</a:t>
            </a:r>
          </a:p>
          <a:p xmlns:a="http://schemas.openxmlformats.org/drawingml/2006/main">
            <a:r>
              <a:t/>
            </a:r>
          </a:p>
          <a:p xmlns:a="http://schemas.openxmlformats.org/drawingml/2006/main">
            <a:r>
              <a:t>The October 2026 continuation audit independently matched **all 72 corporate metric cells** (12 quarters × six metrics) to official historical numerical disclosures. No raw corporate values needed replacement. See `source_manifest.csv` for document URLs and publication dates.</a:t>
            </a:r>
          </a:p>
          <a:p xmlns:a="http://schemas.openxmlformats.org/drawingml/2006/main">
            <a:r>
              <a:t/>
            </a:r>
          </a:p>
          <a:p xmlns:a="http://schemas.openxmlformats.org/drawingml/2006/main">
            <a:r>
              <a:t>| Corporate periods | Numerical disclosure used | Precision retained |</a:t>
            </a:r>
          </a:p>
          <a:p xmlns:a="http://schemas.openxmlformats.org/drawingml/2006/main">
            <a:r>
              <a:t>|---|---|---|</a:t>
            </a:r>
          </a:p>
          <a:p xmlns:a="http://schemas.openxmlformats.org/drawingml/2006/main">
            <a:r>
              <a:t>| 2023-Q1, Q2, Q3, Q4 | Original official quarterly releases: `DUOL_2023_Q1_IR` through `DUOL_2023_Q4_IR` | User counts in millions; financial USD thousands divided by 1,000 |</a:t>
            </a:r>
          </a:p>
          <a:p xmlns:a="http://schemas.openxmlformats.org/drawingml/2006/main">
            <a:r>
              <a:t>| 2024-Q1, Q2, Q3 | Original official quarterly releases: `DUOL_2024_Q1_IR` through `DUOL_2024_Q3_IR` | User counts in millions; financial USD thousands divided by 1,000 |</a:t>
            </a:r>
          </a:p>
          <a:p xmlns:a="http://schemas.openxmlformats.org/drawingml/2006/main">
            <a:r>
              <a:t>| 2024-Q4 | Original Q4/FY2024 shareholder letter: `DUOL_2024_Q4_IR` | Disclosed one-decimal millions |</a:t>
            </a:r>
          </a:p>
          <a:p xmlns:a="http://schemas.openxmlformats.org/drawingml/2006/main">
            <a:r>
              <a:t>| 2025-Q1 | Original Q1 2025 shareholder letter: `DUOL_2025_Q1_IR` | Disclosed one-decimal millions |</a:t>
            </a:r>
          </a:p>
          <a:p xmlns:a="http://schemas.openxmlformats.org/drawingml/2006/main">
            <a:r>
              <a:t>| 2025-Q2 | Original Q2 2025 shareholder letter: `DUOL_2025_Q2_IR` | Disclosed one-decimal millions |</a:t>
            </a:r>
          </a:p>
          <a:p xmlns:a="http://schemas.openxmlformats.org/drawingml/2006/main">
            <a:r>
              <a:t>| 2025-Q3 | Original Q3 2025 shareholder letter: `DUOL_2025_Q3_IR` | Disclosed one-decimal millions |</a:t>
            </a:r>
          </a:p>
          <a:p xmlns:a="http://schemas.openxmlformats.org/drawingml/2006/main">
            <a:r>
              <a:t>| 2025-Q4 | Original Q4/FY2025 shareholder letter: `DUOL_2025_Q4_SEC` | Disclosed one-decimal millions |</a:t>
            </a:r>
          </a:p>
          <a:p xmlns:a="http://schemas.openxmlformats.org/drawingml/2006/main">
            <a:r>
              <a:t/>
            </a:r>
          </a:p>
          <a:p xmlns:a="http://schemas.openxmlformats.org/drawingml/2006/main">
            <a:r>
              <a:t>The Q4 2025 DAU/MAU ratio is calculated as `52.7 / 133.1 = 39.594…%`, displayed as **39.6%**. The supplemental original [2025 Form 10-K](https://www.sec.gov/Archives/edgar/data/1562088/000162828026012494/duol-20251231.htm), published February 27, 2026, explicitly reports 39.6% and provides metric definitions. It adds no quarter or business metric to the dataset. Four announcement-only manifest links were corrected to the numerical shareholder letters.</a:t>
            </a:r>
          </a:p>
          <a:p xmlns:a="http://schemas.openxmlformats.org/drawingml/2006/main">
            <a:r>
              <a:t/>
            </a:r>
          </a:p>
          <a:p xmlns:a="http://schemas.openxmlformats.org/drawingml/2006/main">
            <a:r>
              <a:t>The company explains that its published growth percentages can use underlying unrounded figures. This project transparently derives rates from the disclosed values stored in its CSVs, so minor differences from rounded official rates are expected and are not evidence of a data error.</a:t>
            </a:r>
          </a:p>
          <a:p xmlns:a="http://schemas.openxmlformats.org/drawingml/2006/main">
            <a:r>
              <a:t/>
            </a:r>
          </a:p>
          <a:p xmlns:a="http://schemas.openxmlformats.org/drawingml/2006/main">
            <a:r>
              <a:t>## Data preparation and calculations</a:t>
            </a:r>
          </a:p>
          <a:p xmlns:a="http://schemas.openxmlformats.org/drawingml/2006/main">
            <a:r>
              <a:t/>
            </a:r>
          </a:p>
          <a:p xmlns:a="http://schemas.openxmlformats.org/drawingml/2006/main">
            <a:r>
              <a:t>1. Preserve the three canonical raw CSVs and source manifest. The builder reads these existing inputs; it does not recreate or overwrite raw values.</a:t>
            </a:r>
          </a:p>
          <a:p xmlns:a="http://schemas.openxmlformats.org/drawingml/2006/main">
            <a:r>
              <a:t>2. Require the exact 12-quarter sequence, consistent fiscal metadata and actual quarter-end dates. Require positive core values, DAU no greater than MAU, and subscription bookings no greater than total bookings.</a:t>
            </a:r>
          </a:p>
          <a:p xmlns:a="http://schemas.openxmlformats.org/drawingml/2006/main">
            <a:r>
              <a:t>3. Calculate DAU/MAU, QoQ, YoY, four growth indexes (2023-Q1 = 100) and three YoY growth-rate gaps in Python for the processed quarterly CSV.</a:t>
            </a:r>
          </a:p>
          <a:p xmlns:a="http://schemas.openxmlformats.org/drawingml/2006/main">
            <a:r>
              <a:t>4. Preserve unavailable prior-period comparisons as missing values. QoQ is missing in 2023-Q1; YoY and growth gaps are missing in all four 2023 quarters. No observations before 2023-Q1 are fabricated or imported.</a:t>
            </a:r>
          </a:p>
          <a:p xmlns:a="http://schemas.openxmlformats.org/drawingml/2006/main">
            <a:r>
              <a:t>5. Reshape 13 selected metrics into the existing 156-row Tableau long CSV, retaining quarter keys, dates, numeric values and missing-value masks.</a:t>
            </a:r>
          </a:p>
          <a:p xmlns:a="http://schemas.openxmlformats.org/drawingml/2006/main">
            <a:r>
              <a:t>6. Copy the historical competitor snapshots into processed inputs without changing their values or months. Validate three unique web rows and nine unique brand/platform social rows.</a:t>
            </a:r>
          </a:p>
          <a:p xmlns:a="http://schemas.openxmlformats.org/drawingml/2006/main">
            <a:r>
              <a:t/>
            </a:r>
          </a:p>
          <a:p xmlns:a="http://schemas.openxmlformats.org/drawingml/2006/main">
            <a:r>
              <a:t>Full formulas, units and field definitions are in `data_dictionary.md`. Rate differences are reported in **percentage points**; ratios and growth rates are reported in percent; indexes are index points. Period growth compares the two endpoint quarters, not annual totals.</a:t>
            </a:r>
          </a:p>
          <a:p xmlns:a="http://schemas.openxmlformats.org/drawingml/2006/main">
            <a:r>
              <a:t/>
            </a:r>
          </a:p>
          <a:p xmlns:a="http://schemas.openxmlformats.org/drawingml/2006/main">
            <a:r>
              <a:t>## Independent reconciliation and SQL scope</a:t>
            </a:r>
          </a:p>
          <a:p xmlns:a="http://schemas.openxmlformats.org/drawingml/2006/main">
            <a:r>
              <a:t/>
            </a:r>
          </a:p>
          <a:p xmlns:a="http://schemas.openxmlformats.org/drawingml/2006/main">
            <a:r>
              <a:t>The processed values are independently recalculated from raw CSV strings using Python's Decimal arithmetic, joined by `quarter`, and reconciled across **all 16 derived fields and their missing-value masks**. Floating-point exports are compared within a small numerical tolerance, not for literal decimal-string identity. Raw fields and the long-format key/date/value mapping are also checked.</a:t>
            </a:r>
          </a:p>
          <a:p xmlns:a="http://schemas.openxmlformats.org/drawingml/2006/main">
            <a:r>
              <a:t/>
            </a:r>
          </a:p>
          <a:p xmlns:a="http://schemas.openxmlformats.org/drawingml/2006/main">
            <a:r>
              <a:t>The supplied SQL is intended for MySQL 8. It independently expresses the same quarterly formulas using `LAG`, `FIRST_VALUE` and analytical views. During this continuation, the actual schema, seed and view scripts are also executed against an in-memory **SQLite compatibility adaptation**, then their results are reconciled with the Python data. The adaptation removes MySQL database-selection statements, changes `CREATE OR REPLACE VIEW` to `CREATE VIEW`, and changes `CAST(... AS DOUBLE)` to a real-number cast. SQLite accepts the declared string/decimal types but does not reproduce MySQL's precision, coercion and constraint behavior.</a:t>
            </a:r>
          </a:p>
          <a:p xmlns:a="http://schemas.openxmlformats.org/drawingml/2006/main">
            <a:r>
              <a:t/>
            </a:r>
          </a:p>
          <a:p xmlns:a="http://schemas.openxmlformats.org/drawingml/2006/main">
            <a:r>
              <a:t>Verification includes seeded raw values, all derived fields and NULL masks, SQL validation outputs, and the latest-quarter comparison. **Native MySQL execution is not verified.** This check demonstrates formula/result agreement through the disclosed adaptation; it does not certify MySQL deployment compatibility. See the executed notebook and final QA report for run evidence.</a:t>
            </a:r>
          </a:p>
          <a:p xmlns:a="http://schemas.openxmlformats.org/drawingml/2006/main">
            <a:r>
              <a:t/>
            </a:r>
          </a:p>
          <a:p xmlns:a="http://schemas.openxmlformats.org/drawingml/2006/main">
            <a:r>
              <a:t>## Interpretation and operational use</a:t>
            </a:r>
          </a:p>
          <a:p xmlns:a="http://schemas.openxmlformats.org/drawingml/2006/main">
            <a:r>
              <a:t/>
            </a:r>
          </a:p>
          <a:p xmlns:a="http://schemas.openxmlformats.org/drawingml/2006/main">
            <a:r>
              <a:t>- DAU/MAU is a ratio of separately averaged period counts and an aggregate engagement-intensity proxy; it is not cohort retention or an individual user's daily-use probability.</a:t>
            </a:r>
          </a:p>
          <a:p xmlns:a="http://schemas.openxmlformats.org/drawingml/2006/main">
            <a:r>
              <a:t>- Period-end paid subscribers and quarterly revenue do not constitute a measured free-to-paid funnel. Revenue growth combines multiple sources and timing effects; it cannot isolate subscription conversion, pricing, packaging, willingness to pay or commercial efficiency.</a:t>
            </a:r>
          </a:p>
          <a:p xmlns:a="http://schemas.openxmlformats.org/drawingml/2006/main">
            <a:r>
              <a:t>- Faster DAU/paid/revenue growth than MAU is an observed divergence. It suggests questions for operational review, not a proven causal mechanism.</a:t>
            </a:r>
          </a:p>
          <a:p xmlns:a="http://schemas.openxmlformats.org/drawingml/2006/main">
            <a:r>
              <a:t>- Proposed operational priorities require authorised internal evidence: review existing measurement, inspect cohort/renewal and conversion behavior where available, and evaluate possible actions against free-experience and learning guardrails. The portfolio's lack of access does not establish that Duolingo lacks instrumentation.</a:t>
            </a:r>
          </a:p>
          <a:p xmlns:a="http://schemas.openxmlformats.org/drawingml/2006/main">
            <a:r>
              <a:t>- As-of-cutoff management commentary can supply context when attributed to an official source. The [Q4/FY2025 shareholder letter](https://www.sec.gov/Archives/edgar/data/1562088/000162828026012246/q4fy25duolingo12-31x25shar.htm) describes prioritising teaching/user growth and reducing monetisation friction. This is a disclosed management direction, not a causal conclusion inferred from the quarterly metrics; forward forecasts are excluded from this case study.</a:t>
            </a:r>
          </a:p>
          <a:p xmlns:a="http://schemas.openxmlformats.org/drawingml/2006/main">
            <a:r>
              <a:t/>
            </a:r>
          </a:p>
          <a:p xmlns:a="http://schemas.openxmlformats.org/drawingml/2006/main">
            <a:r>
              <a:t>## Competitive and delivery limitations</a:t>
            </a:r>
          </a:p>
          <a:p xmlns:a="http://schemas.openxmlformats.org/drawingml/2006/main">
            <a:r>
              <a:t/>
            </a:r>
          </a:p>
          <a:p xmlns:a="http://schemas.openxmlformats.org/drawingml/2006/main">
            <a:r>
              <a:t>The inherited website/social observations remain point-in-time contextual snapshots. Original captures, exact observation dates and exact social account URLs are unavailable, so their historical provenance is explicitly **unverified**. The known months are preserved; unsupported exact dates are removed. Current provider pages cannot authenticate historical values and must not be used to replace the snapshots. The websites are not the apps; browsing metrics do not establish learning quality or conversion. Social audiences overlap, so followers are not summed across platforms. No market-share estimate or longitudinal competitor dataset is constructed.</a:t>
            </a:r>
          </a:p>
          <a:p xmlns:a="http://schemas.openxmlformats.org/drawingml/2006/main">
            <a:r>
              <a:t/>
            </a:r>
          </a:p>
          <a:p xmlns:a="http://schemas.openxmlformats.org/drawingml/2006/main">
            <a:r>
              <a:t>The final presentation uses the completed and published two-page English Tableau dashboard and `dashboard/final/Duolingo_Growth_Marketing_Analytics.twbx`. Page 2 retains Q4 2025 growth-gap cards, Indexed Growth Comparison, Engagement Growth Gap, Monetisation Growth Gaps, separate Website Traffic and Social Audience contextual snapshots, and Operational Priorities. The approved priority headings are Protect engagement quality; Strengthen premium value communication; Balance growth with user control. Tableau Public URLs, including the exact supplied Share URL, are recorded in `docs/portfolio_links.json`. Both pages' public PNG exports were retrieved without authentication on October 18, 2026; interactive browser tabs were not tested. Final dashboard images are kept in `dashboard/final/`; earlier bilingual static images are legacy prototypes retained for reference. English and Chinese case-study deliverables share the same final visuals, observations, calculations, conclusions and analytical limits. Exported pages must be visually inspected after regeneration, as numerical reconciliation alone does not establish visual QA. This presentation update does not change the March 2026 analysis cutoff or the frozen data definitions.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c5c98289754f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ff5c67468149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4a5b6f40494d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f102f39d1f41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db9240107343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e57abfcb104ed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83b8b031cb14ad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0b5c503b3ab4e0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7238a367fe478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585a49d5d874d2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b750df72cd0429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C8A3DF-519E-403B-B5F0-5E723A781A7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AA60775-D5D2-4DCC-B3F4-E0D2024A2D8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1753D07-1A00-41A7-9151-9836749B43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28475D6-6B9A-4B27-A30D-78BB0DBEA1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599753F-39B8-49AC-BC8F-90F1825648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BF907E-9708-4B29-B859-FBF4E6D46B7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EB83E73-73D4-4E6F-8A46-11789E7EE18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9C4533-F1CB-481F-9AF7-2AB486EE17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B0961C3-7846-4224-AEB2-61E766608D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5182ED-E932-4454-98CE-96746E45B6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DED124-F932-4391-B409-72D9478799A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59E9CCB-6814-4849-9C06-24BADA13593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3EA9ED0-B060-4C0B-8D4A-B25FC3BD0D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7F7CB1C-FC15-4BD8-AC9F-EB5CE7B653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55A0D64-ABF5-41FD-8A61-8CB055E5F1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EBB853-C843-4612-97B9-DA179E669CD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8C175EF-E216-4B5C-B8CE-175011FC683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D9AB11C-843B-46BF-B157-165C2814337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0ECEDFD-60B0-4050-83D0-736A682446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3803AEA-C408-469A-A427-8DAF2FDDEE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6B81210-DC51-46AD-8DD2-3EA497A94C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2CB2C0-5436-4135-88D5-4C380BF021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E30E58-A49C-4A70-B6D9-9FE8CA6A31A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F51EEC-3674-40A5-8729-DF8B4ACEF8C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417A0FB-0BC7-43BF-A87E-0D166FA70CA9}"/>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9341384-B6A0-45F4-B846-8F2CFF68DA2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64D4E09-DB54-478F-AAC2-A30B46341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26660F8C-7700-4254-AE52-A6B98B0693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B7BCD4A-319F-48A5-81FF-C9166D94B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0A4630-7593-428B-89F0-79248F05AF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0F1A6AB-8651-4FE6-9AA3-1F005DB3F7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D18B1CB-40A0-4AB2-9C17-F17525FDA8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83D6F26-D6D5-441C-9200-2AF80761B0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CF5AC5C-0F94-450A-8628-2B88335267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D06FD98B-CA4F-4ED5-9FED-07EE14EA6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07ABE39-E33B-426A-9EEB-08912C335B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452855-AF43-4120-A273-B41A92EE99F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77E3CE9-07A4-412D-AC40-112B7A3272F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BCBB69F-E932-4545-B02C-225A1BF523E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85D4022-6603-410A-8CE1-E76459C7D0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C377654-76A8-4A20-A7C9-A1DFA76D77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422607-3A3D-4E42-9929-E6BE90B1F5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BED105-6400-4D84-B87F-FEDD0D6D868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2E61FC8-F6BB-4D84-9882-B8C125C1EAF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009D8F2-33A6-405A-848F-39FE3A2CADF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D8AD641-658B-4CC1-B3D0-6C9AA38E3E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84DDC85-2932-4C11-9116-7D2CB4FA17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0CB0164-6835-420F-BF24-A5D392C6FA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59F32E-8732-48B4-9C2F-5CA6133AB7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6510147-9296-4A8D-A2E7-4E01C8CE93A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05EA5B0-A14C-4247-9B4A-B668526E99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9FBBF43-55A3-440E-9692-202DF624B4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5D64384-7802-4523-AB0A-8E2CF7E946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4F04CB8-A07E-4147-B5E4-902174F24F2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F213B93-806F-4A18-9437-00608D3FE5B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88E2355-8F90-4DBE-A628-7FC12C283F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D1008B5-545F-499D-8A85-71C8B22A16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C81CEED-975B-4699-B0DF-6B752FCFA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2d32b2443842a6" /><Relationship Type="http://schemas.openxmlformats.org/officeDocument/2006/relationships/slideLayout" Target="/ppt/slideLayouts/slideLayout1.xml" Id="R5aa0c6adb8fd4ee4" /><Relationship Type="http://schemas.openxmlformats.org/officeDocument/2006/relationships/slideLayout" Target="/ppt/slideLayouts/slideLayout2.xml" Id="R26914cd035b34c50" /><Relationship Type="http://schemas.openxmlformats.org/officeDocument/2006/relationships/slideLayout" Target="/ppt/slideLayouts/slideLayout3.xml" Id="R2adaa0316dfb4f9b" /><Relationship Type="http://schemas.openxmlformats.org/officeDocument/2006/relationships/slideLayout" Target="/ppt/slideLayouts/slideLayout4.xml" Id="Ree549260098b4d99" /><Relationship Type="http://schemas.openxmlformats.org/officeDocument/2006/relationships/slideLayout" Target="/ppt/slideLayouts/slideLayout5.xml" Id="R66ab64cf8b3c4bff" /><Relationship Type="http://schemas.openxmlformats.org/officeDocument/2006/relationships/slideLayout" Target="/ppt/slideLayouts/slideLayout6.xml" Id="R94edf9dff4a248d7" /><Relationship Type="http://schemas.openxmlformats.org/officeDocument/2006/relationships/slideLayout" Target="/ppt/slideLayouts/slideLayout7.xml" Id="R03aebf7452d9484b" /><Relationship Type="http://schemas.openxmlformats.org/officeDocument/2006/relationships/slideLayout" Target="/ppt/slideLayouts/slideLayout8.xml" Id="Rdebf2489958443d0" /><Relationship Type="http://schemas.openxmlformats.org/officeDocument/2006/relationships/slideLayout" Target="/ppt/slideLayouts/slideLayout9.xml" Id="Re1ef14804f7a4ecc" /><Relationship Type="http://schemas.openxmlformats.org/officeDocument/2006/relationships/slideLayout" Target="/ppt/slideLayouts/slideLayout10.xml" Id="R5bd2af0807f94453" /><Relationship Type="http://schemas.openxmlformats.org/officeDocument/2006/relationships/slideLayout" Target="/ppt/slideLayouts/slideLayout11.xml" Id="R962026f9e8cf4b8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9D221B6-FF3C-42D6-B01D-95731D71991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963AB48-C6AE-44C9-B37E-389DD622501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87E66B-4AE1-4628-9882-B83D7CC8D00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E1885AE-FE98-408F-AEF9-461DB2B2A6A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FFFC1DC-DDE6-47EF-80CF-9E39491F3AC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a0c6adb8fd4ee4"/>
    <p:sldLayoutId xmlns:r="http://schemas.openxmlformats.org/officeDocument/2006/relationships" id="2147483650" r:id="R26914cd035b34c50"/>
    <p:sldLayoutId xmlns:r="http://schemas.openxmlformats.org/officeDocument/2006/relationships" id="2147483651" r:id="R2adaa0316dfb4f9b"/>
    <p:sldLayoutId xmlns:r="http://schemas.openxmlformats.org/officeDocument/2006/relationships" id="2147483652" r:id="Ree549260098b4d99"/>
    <p:sldLayoutId xmlns:r="http://schemas.openxmlformats.org/officeDocument/2006/relationships" id="2147483653" r:id="R66ab64cf8b3c4bff"/>
    <p:sldLayoutId xmlns:r="http://schemas.openxmlformats.org/officeDocument/2006/relationships" id="2147483654" r:id="R94edf9dff4a248d7"/>
    <p:sldLayoutId xmlns:r="http://schemas.openxmlformats.org/officeDocument/2006/relationships" id="2147483655" r:id="R03aebf7452d9484b"/>
    <p:sldLayoutId xmlns:r="http://schemas.openxmlformats.org/officeDocument/2006/relationships" id="2147483656" r:id="Rdebf2489958443d0"/>
    <p:sldLayoutId xmlns:r="http://schemas.openxmlformats.org/officeDocument/2006/relationships" id="2147483657" r:id="Re1ef14804f7a4ecc"/>
    <p:sldLayoutId xmlns:r="http://schemas.openxmlformats.org/officeDocument/2006/relationships" id="2147483658" r:id="R5bd2af0807f94453"/>
    <p:sldLayoutId xmlns:r="http://schemas.openxmlformats.org/officeDocument/2006/relationships" id="2147483659" r:id="R962026f9e8cf4b81"/>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192269b41804b8d" /><Relationship Type="http://schemas.openxmlformats.org/officeDocument/2006/relationships/hyperlink" Target="https://public.tableau.com/views/Duolingo_Growth_Marketing_Analytics/P1_Growth_Monetisation_Overview?:language=en-US&amp;:sid=&amp;:redirect=auth&amp;:display_count=n&amp;:origin=viz_share_link" TargetMode="External" Id="Raa47c7d1e25e4f95" /><Relationship Type="http://schemas.openxmlformats.org/officeDocument/2006/relationships/notesSlide" Target="/ppt/notesSlides/notesSlide1.xml" Id="Rb502130452bc4f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75a4ffe0220e4c0a" /><Relationship Type="http://schemas.openxmlformats.org/officeDocument/2006/relationships/notesSlide" Target="/ppt/notesSlides/notesSlide2.xml" Id="Rbf7bfd968023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22dd753bb7d470c" /><Relationship Type="http://schemas.openxmlformats.org/officeDocument/2006/relationships/image" Target="/ppt/media/image.png" Id="R3597761767954e62" /><Relationship Type="http://schemas.openxmlformats.org/officeDocument/2006/relationships/hyperlink" Target="https://public.tableau.com/views/Duolingo_Growth_Marketing_Analytics/P1_Growth_Monetisation_Overview?:language=en-US&amp;:sid=&amp;:redirect=auth&amp;:display_count=n&amp;:origin=viz_share_link" TargetMode="External" Id="Rc85c5bfdf0084fb3" /><Relationship Type="http://schemas.openxmlformats.org/officeDocument/2006/relationships/notesSlide" Target="/ppt/notesSlides/notesSlide3.xml" Id="R7ab692eede3446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4e55a8c2ce5a4874" /><Relationship Type="http://schemas.openxmlformats.org/officeDocument/2006/relationships/image" Target="/ppt/media/image2.png" Id="R3997dcd595e2449c" /><Relationship Type="http://schemas.openxmlformats.org/officeDocument/2006/relationships/hyperlink" Target="https://public.tableau.com/views/Duolingo_Growth_Marketing_Analytics/P1_Growth_Monetisation_Overview?:language=en-US&amp;:sid=&amp;:redirect=auth&amp;:display_count=n&amp;:origin=viz_share_link" TargetMode="External" Id="Re2324981703f4772" /><Relationship Type="http://schemas.openxmlformats.org/officeDocument/2006/relationships/notesSlide" Target="/ppt/notesSlides/notesSlide4.xml" Id="R7aa1be0d8963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2c1fd8fea074b57" /><Relationship Type="http://schemas.openxmlformats.org/officeDocument/2006/relationships/notesSlide" Target="/ppt/notesSlides/notesSlide5.xml" Id="R2430a651bf0342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cf249c580e540f1" /><Relationship Type="http://schemas.openxmlformats.org/officeDocument/2006/relationships/notesSlide" Target="/ppt/notesSlides/notesSlide6.xml" Id="R9865d9cf439447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17d59013128466e" /><Relationship Type="http://schemas.openxmlformats.org/officeDocument/2006/relationships/notesSlide" Target="/ppt/notesSlides/notesSlide7.xml" Id="Rb620b21dd83e4b17" /></Relationships>
</file>

<file path=ppt/slides/slide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6C95B7F-E731-4788-85CB-7AFB51B15B6F}"/>
              </a:ext>
            </a:extLst>
          </p:cNvPr>
          <p:cNvSpPr>
            <a:spLocks xmlns:a="http://schemas.openxmlformats.org/drawingml/2006/main" noGrp="1"/>
          </p:cNvSpPr>
          <p:nvPr/>
        </p:nvSpPr>
        <p:spPr>
          <a:xfrm xmlns:a="http://schemas.openxmlformats.org/drawingml/2006/main">
            <a:off x="640080" y="640080"/>
            <a:ext cx="10881360" cy="5486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800" b="1">
                <a:solidFill>
                  <a:srgbClr val="172B4D"/>
                </a:solidFill>
                <a:latin typeface="Hiragino Sans GB"/>
                <a:ea typeface="Hiragino Sans GB"/>
                <a:cs typeface="Hiragino Sans GB"/>
              </a:defRPr>
            </a:defPPr>
          </a:lstStyle>
          <a:p xmlns:a="http://schemas.openxmlformats.org/drawingml/2006/main">
            <a:pPr algn="l">
              <a:buNone/>
              <a:defRPr sz="2800" b="1">
                <a:solidFill>
                  <a:srgbClr val="172B4D"/>
                </a:solidFill>
                <a:latin typeface="Hiragino Sans GB"/>
                <a:ea typeface="Hiragino Sans GB"/>
                <a:cs typeface="Hiragino Sans GB"/>
              </a:defRPr>
            </a:pPr>
            <a:r>
              <a:rPr sz="2800" b="1">
                <a:solidFill>
                  <a:srgbClr val="172B4D"/>
                </a:solidFill>
                <a:latin typeface="Hiragino Sans GB"/>
                <a:ea typeface="Hiragino Sans GB"/>
                <a:cs typeface="Hiragino Sans GB"/>
              </a:rPr>
              <a:t>Duolingo 增长与营销运营分析</a:t>
            </a:r>
          </a:p>
        </p:txBody>
      </p:sp>
      <p:sp>
        <p:nvSpPr>
          <p:cNvPr id="3" name="TextBox 2">
            <a:extLst xmlns:a="http://schemas.openxmlformats.org/drawingml/2006/main">
              <a:ext uri="{FF2B5EF4-FFF2-40B4-BE49-F238E27FC236}">
                <a16:creationId xmlns:a16="http://schemas.microsoft.com/office/drawing/2014/main" id="{A71F225B-FA6D-4ACF-BA41-28DCCF573B91}"/>
              </a:ext>
            </a:extLst>
          </p:cNvPr>
          <p:cNvSpPr>
            <a:spLocks xmlns:a="http://schemas.openxmlformats.org/drawingml/2006/main" noGrp="1"/>
          </p:cNvSpPr>
          <p:nvPr/>
        </p:nvSpPr>
        <p:spPr>
          <a:xfrm xmlns:a="http://schemas.openxmlformats.org/drawingml/2006/main">
            <a:off x="640080" y="1325880"/>
            <a:ext cx="960120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400">
                <a:solidFill>
                  <a:srgbClr val="68737D"/>
                </a:solidFill>
                <a:latin typeface="Hiragino Sans GB"/>
                <a:ea typeface="Hiragino Sans GB"/>
                <a:cs typeface="Hiragino Sans GB"/>
              </a:defRPr>
            </a:defPPr>
          </a:lstStyle>
          <a:p xmlns:a="http://schemas.openxmlformats.org/drawingml/2006/main">
            <a:pPr algn="l">
              <a:buNone/>
              <a:defRPr sz="1400">
                <a:solidFill>
                  <a:srgbClr val="68737D"/>
                </a:solidFill>
                <a:latin typeface="Hiragino Sans GB"/>
                <a:ea typeface="Hiragino Sans GB"/>
                <a:cs typeface="Hiragino Sans GB"/>
              </a:defRPr>
            </a:pPr>
            <a:r>
              <a:rPr sz="1400" b="0">
                <a:solidFill>
                  <a:srgbClr val="68737D"/>
                </a:solidFill>
                <a:latin typeface="Hiragino Sans GB"/>
                <a:ea typeface="Hiragino Sans GB"/>
                <a:cs typeface="Hiragino Sans GB"/>
              </a:rPr>
              <a:t>案例研究 / 增长运营 / 用户运营 / 产品运营 / 综合运营</a:t>
            </a:r>
          </a:p>
        </p:txBody>
      </p:sp>
      <p:sp>
        <p:nvSpPr>
          <p:cNvPr id="4" name="Rounded Rectangle 3">
            <a:extLst xmlns:a="http://schemas.openxmlformats.org/drawingml/2006/main">
              <a:ext uri="{FF2B5EF4-FFF2-40B4-BE49-F238E27FC236}">
                <a16:creationId xmlns:a16="http://schemas.microsoft.com/office/drawing/2014/main" id="{B42F55A1-058E-4DC9-AFE8-7C49C377776B}"/>
              </a:ext>
            </a:extLst>
          </p:cNvPr>
          <p:cNvSpPr>
            <a:spLocks xmlns:a="http://schemas.openxmlformats.org/drawingml/2006/main" noGrp="1"/>
          </p:cNvSpPr>
          <p:nvPr/>
        </p:nvSpPr>
        <p:spPr>
          <a:xfrm xmlns:a="http://schemas.openxmlformats.org/drawingml/2006/main">
            <a:off x="640080" y="2011680"/>
            <a:ext cx="10881360" cy="329184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B2FB41F-AFFE-4D2C-B2C2-9631AADD54F7}"/>
              </a:ext>
            </a:extLst>
          </p:cNvPr>
          <p:cNvSpPr>
            <a:spLocks xmlns:a="http://schemas.openxmlformats.org/drawingml/2006/main" noGrp="1"/>
          </p:cNvSpPr>
          <p:nvPr/>
        </p:nvSpPr>
        <p:spPr>
          <a:xfrm xmlns:a="http://schemas.openxmlformats.org/drawingml/2006/main">
            <a:off x="960120" y="2423160"/>
            <a:ext cx="9875520" cy="13335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000">
                <a:solidFill>
                  <a:srgbClr val="263238"/>
                </a:solidFill>
                <a:latin typeface="Hiragino Sans GB"/>
                <a:ea typeface="Hiragino Sans GB"/>
                <a:cs typeface="Hiragino Sans GB"/>
              </a:defRPr>
            </a:defPPr>
          </a:lstStyle>
          <a:p xmlns:a="http://schemas.openxmlformats.org/drawingml/2006/main">
            <a:pPr algn="l">
              <a:buNone/>
              <a:defRPr sz="2000">
                <a:solidFill>
                  <a:srgbClr val="263238"/>
                </a:solidFill>
                <a:latin typeface="Hiragino Sans GB"/>
                <a:ea typeface="Hiragino Sans GB"/>
                <a:cs typeface="Hiragino Sans GB"/>
              </a:defRPr>
            </a:pPr>
            <a:r>
              <a:rPr sz="2000" b="0">
                <a:solidFill>
                  <a:srgbClr val="263238"/>
                </a:solidFill>
                <a:latin typeface="Hiragino Sans GB"/>
                <a:ea typeface="Hiragino Sans GB"/>
                <a:cs typeface="Hiragino Sans GB"/>
              </a:rPr>
              <a:t>随着 Duolingo 用户规模扩大，用户活跃度和商业化表现是否也同步提升？本项目通</a:t>
            </a:r>
          </a:p>
          <a:p xmlns:a="http://schemas.openxmlformats.org/drawingml/2006/main">
            <a:pPr algn="l">
              <a:buNone/>
              <a:defRPr sz="2000">
                <a:solidFill>
                  <a:srgbClr val="263238"/>
                </a:solidFill>
                <a:latin typeface="Hiragino Sans GB"/>
                <a:ea typeface="Hiragino Sans GB"/>
                <a:cs typeface="Hiragino Sans GB"/>
              </a:defRPr>
            </a:pPr>
            <a:r>
              <a:rPr sz="2000" b="0">
                <a:solidFill>
                  <a:srgbClr val="263238"/>
                </a:solidFill>
                <a:latin typeface="Hiragino Sans GB"/>
                <a:ea typeface="Hiragino Sans GB"/>
                <a:cs typeface="Hiragino Sans GB"/>
              </a:rPr>
              <a:t>过 12 个季度的公开数据，对用户增长、活跃表现与商业化增长进行拆解，并将分析</a:t>
            </a:r>
          </a:p>
          <a:p xmlns:a="http://schemas.openxmlformats.org/drawingml/2006/main">
            <a:pPr algn="l">
              <a:buNone/>
              <a:defRPr sz="2000">
                <a:solidFill>
                  <a:srgbClr val="263238"/>
                </a:solidFill>
                <a:latin typeface="Hiragino Sans GB"/>
                <a:ea typeface="Hiragino Sans GB"/>
                <a:cs typeface="Hiragino Sans GB"/>
              </a:defRPr>
            </a:pPr>
            <a:r>
              <a:rPr sz="2000" b="0">
                <a:solidFill>
                  <a:srgbClr val="263238"/>
                </a:solidFill>
                <a:latin typeface="Hiragino Sans GB"/>
                <a:ea typeface="Hiragino Sans GB"/>
                <a:cs typeface="Hiragino Sans GB"/>
              </a:rPr>
              <a:t>结果转化为运营关注重点。</a:t>
            </a:r>
          </a:p>
        </p:txBody>
      </p:sp>
      <p:sp>
        <p:nvSpPr>
          <p:cNvPr id="6" name="Rounded Rectangle 5">
            <a:extLst xmlns:a="http://schemas.openxmlformats.org/drawingml/2006/main">
              <a:ext uri="{FF2B5EF4-FFF2-40B4-BE49-F238E27FC236}">
                <a16:creationId xmlns:a16="http://schemas.microsoft.com/office/drawing/2014/main" id="{66273407-EAC9-41F9-9C03-284187ADBA40}"/>
              </a:ext>
            </a:extLst>
          </p:cNvPr>
          <p:cNvSpPr>
            <a:spLocks xmlns:a="http://schemas.openxmlformats.org/drawingml/2006/main" noGrp="1"/>
          </p:cNvSpPr>
          <p:nvPr/>
        </p:nvSpPr>
        <p:spPr>
          <a:xfrm xmlns:a="http://schemas.openxmlformats.org/drawingml/2006/main">
            <a:off x="960120" y="3977640"/>
            <a:ext cx="1417320" cy="457200"/>
          </a:xfrm>
          <a:prstGeom xmlns:a="http://schemas.openxmlformats.org/drawingml/2006/main" prst="roundRect">
            <a:avLst/>
          </a:prstGeom>
          <a:solidFill xmlns:a="http://schemas.openxmlformats.org/drawingml/2006/main">
            <a:srgbClr val="EAF8DF"/>
          </a:solidFill>
          <a:ln xmlns:a="http://schemas.openxmlformats.org/drawingml/2006/main" w="12700">
            <a:solidFill>
              <a:srgbClr val="EAF8D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24B75AC-DBC5-4D9C-BBDD-DCA6D98022F8}"/>
              </a:ext>
            </a:extLst>
          </p:cNvPr>
          <p:cNvSpPr>
            <a:spLocks xmlns:a="http://schemas.openxmlformats.org/drawingml/2006/main" noGrp="1"/>
          </p:cNvSpPr>
          <p:nvPr/>
        </p:nvSpPr>
        <p:spPr>
          <a:xfrm xmlns:a="http://schemas.openxmlformats.org/drawingml/2006/main">
            <a:off x="960120" y="4087368"/>
            <a:ext cx="1417320" cy="18288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ctr">
              <a:defRPr sz="1000" b="1">
                <a:solidFill>
                  <a:srgbClr val="2FB344"/>
                </a:solidFill>
                <a:latin typeface="Hiragino Sans GB"/>
                <a:ea typeface="Hiragino Sans GB"/>
                <a:cs typeface="Hiragino Sans GB"/>
              </a:defRPr>
            </a:defPPr>
          </a:lstStyle>
          <a:p xmlns:a="http://schemas.openxmlformats.org/drawingml/2006/main">
            <a:pPr algn="ctr">
              <a:buNone/>
              <a:defRPr sz="1000" b="1">
                <a:solidFill>
                  <a:srgbClr val="2FB344"/>
                </a:solidFill>
                <a:latin typeface="Hiragino Sans GB"/>
                <a:ea typeface="Hiragino Sans GB"/>
                <a:cs typeface="Hiragino Sans GB"/>
              </a:defRPr>
            </a:pPr>
            <a:r>
              <a:rPr sz="1000" b="1">
                <a:solidFill>
                  <a:srgbClr val="2FB344"/>
                </a:solidFill>
                <a:latin typeface="Hiragino Sans GB"/>
                <a:ea typeface="Hiragino Sans GB"/>
                <a:cs typeface="Hiragino Sans GB"/>
              </a:rPr>
              <a:t>12 个季度</a:t>
            </a:r>
          </a:p>
        </p:txBody>
      </p:sp>
      <p:sp>
        <p:nvSpPr>
          <p:cNvPr id="8" name="Rounded Rectangle 7">
            <a:extLst xmlns:a="http://schemas.openxmlformats.org/drawingml/2006/main">
              <a:ext uri="{FF2B5EF4-FFF2-40B4-BE49-F238E27FC236}">
                <a16:creationId xmlns:a16="http://schemas.microsoft.com/office/drawing/2014/main" id="{AD81F413-E0F2-4796-A2FE-F1021DDF4C6D}"/>
              </a:ext>
            </a:extLst>
          </p:cNvPr>
          <p:cNvSpPr>
            <a:spLocks xmlns:a="http://schemas.openxmlformats.org/drawingml/2006/main" noGrp="1"/>
          </p:cNvSpPr>
          <p:nvPr/>
        </p:nvSpPr>
        <p:spPr>
          <a:xfrm xmlns:a="http://schemas.openxmlformats.org/drawingml/2006/main">
            <a:off x="2651760" y="3977640"/>
            <a:ext cx="1417320" cy="457200"/>
          </a:xfrm>
          <a:prstGeom xmlns:a="http://schemas.openxmlformats.org/drawingml/2006/main" prst="roundRect">
            <a:avLst/>
          </a:prstGeom>
          <a:solidFill xmlns:a="http://schemas.openxmlformats.org/drawingml/2006/main">
            <a:srgbClr val="EAF8DF"/>
          </a:solidFill>
          <a:ln xmlns:a="http://schemas.openxmlformats.org/drawingml/2006/main" w="12700">
            <a:solidFill>
              <a:srgbClr val="EAF8D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D95F379-E17F-4BCE-8748-ACCC234E40F2}"/>
              </a:ext>
            </a:extLst>
          </p:cNvPr>
          <p:cNvSpPr>
            <a:spLocks xmlns:a="http://schemas.openxmlformats.org/drawingml/2006/main" noGrp="1"/>
          </p:cNvSpPr>
          <p:nvPr/>
        </p:nvSpPr>
        <p:spPr>
          <a:xfrm xmlns:a="http://schemas.openxmlformats.org/drawingml/2006/main">
            <a:off x="2651760" y="4087368"/>
            <a:ext cx="1417320" cy="18288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ctr">
              <a:defRPr sz="1000" b="1">
                <a:solidFill>
                  <a:srgbClr val="2FB344"/>
                </a:solidFill>
                <a:latin typeface="Hiragino Sans GB"/>
                <a:ea typeface="Hiragino Sans GB"/>
                <a:cs typeface="Hiragino Sans GB"/>
              </a:defRPr>
            </a:defPPr>
          </a:lstStyle>
          <a:p xmlns:a="http://schemas.openxmlformats.org/drawingml/2006/main">
            <a:pPr algn="ctr">
              <a:buNone/>
              <a:defRPr sz="1000" b="1">
                <a:solidFill>
                  <a:srgbClr val="2FB344"/>
                </a:solidFill>
                <a:latin typeface="Hiragino Sans GB"/>
                <a:ea typeface="Hiragino Sans GB"/>
                <a:cs typeface="Hiragino Sans GB"/>
              </a:defRPr>
            </a:pPr>
            <a:r>
              <a:rPr sz="1000" b="1">
                <a:solidFill>
                  <a:srgbClr val="2FB344"/>
                </a:solidFill>
                <a:latin typeface="Hiragino Sans GB"/>
                <a:ea typeface="Hiragino Sans GB"/>
                <a:cs typeface="Hiragino Sans GB"/>
              </a:rPr>
              <a:t>公开数据</a:t>
            </a:r>
          </a:p>
        </p:txBody>
      </p:sp>
      <p:sp>
        <p:nvSpPr>
          <p:cNvPr id="10" name="Rounded Rectangle 9">
            <a:extLst xmlns:a="http://schemas.openxmlformats.org/drawingml/2006/main">
              <a:ext uri="{FF2B5EF4-FFF2-40B4-BE49-F238E27FC236}">
                <a16:creationId xmlns:a16="http://schemas.microsoft.com/office/drawing/2014/main" id="{E2917FF3-3C08-4C74-A6E7-10CB9CA1230C}"/>
              </a:ext>
            </a:extLst>
          </p:cNvPr>
          <p:cNvSpPr>
            <a:spLocks xmlns:a="http://schemas.openxmlformats.org/drawingml/2006/main" noGrp="1"/>
          </p:cNvSpPr>
          <p:nvPr/>
        </p:nvSpPr>
        <p:spPr>
          <a:xfrm xmlns:a="http://schemas.openxmlformats.org/drawingml/2006/main">
            <a:off x="4343400" y="3977640"/>
            <a:ext cx="1417320" cy="457200"/>
          </a:xfrm>
          <a:prstGeom xmlns:a="http://schemas.openxmlformats.org/drawingml/2006/main" prst="roundRect">
            <a:avLst/>
          </a:prstGeom>
          <a:solidFill xmlns:a="http://schemas.openxmlformats.org/drawingml/2006/main">
            <a:srgbClr val="EAF8DF"/>
          </a:solidFill>
          <a:ln xmlns:a="http://schemas.openxmlformats.org/drawingml/2006/main" w="12700">
            <a:solidFill>
              <a:srgbClr val="EAF8D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3BD749C2-601B-4431-B71D-42AB0BCCECC9}"/>
              </a:ext>
            </a:extLst>
          </p:cNvPr>
          <p:cNvSpPr>
            <a:spLocks xmlns:a="http://schemas.openxmlformats.org/drawingml/2006/main" noGrp="1"/>
          </p:cNvSpPr>
          <p:nvPr/>
        </p:nvSpPr>
        <p:spPr>
          <a:xfrm xmlns:a="http://schemas.openxmlformats.org/drawingml/2006/main">
            <a:off x="4343400" y="4087368"/>
            <a:ext cx="1417320" cy="18288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ctr">
              <a:defRPr sz="1000" b="1">
                <a:solidFill>
                  <a:srgbClr val="2FB344"/>
                </a:solidFill>
                <a:latin typeface="Hiragino Sans GB"/>
                <a:ea typeface="Hiragino Sans GB"/>
                <a:cs typeface="Hiragino Sans GB"/>
              </a:defRPr>
            </a:defPPr>
          </a:lstStyle>
          <a:p xmlns:a="http://schemas.openxmlformats.org/drawingml/2006/main">
            <a:pPr algn="ctr">
              <a:buNone/>
              <a:defRPr sz="1000" b="1">
                <a:solidFill>
                  <a:srgbClr val="2FB344"/>
                </a:solidFill>
                <a:latin typeface="Hiragino Sans GB"/>
                <a:ea typeface="Hiragino Sans GB"/>
                <a:cs typeface="Hiragino Sans GB"/>
              </a:defRPr>
            </a:pPr>
            <a:r>
              <a:rPr sz="1000" b="1">
                <a:solidFill>
                  <a:srgbClr val="2FB344"/>
                </a:solidFill>
                <a:latin typeface="Hiragino Sans GB"/>
                <a:ea typeface="Hiragino Sans GB"/>
                <a:cs typeface="Hiragino Sans GB"/>
              </a:rPr>
              <a:t>Tableau</a:t>
            </a:r>
          </a:p>
        </p:txBody>
      </p:sp>
      <p:sp>
        <p:nvSpPr>
          <p:cNvPr id="12" name="Rounded Rectangle 11">
            <a:extLst xmlns:a="http://schemas.openxmlformats.org/drawingml/2006/main">
              <a:ext uri="{FF2B5EF4-FFF2-40B4-BE49-F238E27FC236}">
                <a16:creationId xmlns:a16="http://schemas.microsoft.com/office/drawing/2014/main" id="{6E49FE5D-2BB5-445A-B344-B02F33DA4611}"/>
              </a:ext>
            </a:extLst>
          </p:cNvPr>
          <p:cNvSpPr>
            <a:spLocks xmlns:a="http://schemas.openxmlformats.org/drawingml/2006/main" noGrp="1"/>
          </p:cNvSpPr>
          <p:nvPr/>
        </p:nvSpPr>
        <p:spPr>
          <a:xfrm xmlns:a="http://schemas.openxmlformats.org/drawingml/2006/main">
            <a:off x="6035040" y="3977640"/>
            <a:ext cx="1417320" cy="457200"/>
          </a:xfrm>
          <a:prstGeom xmlns:a="http://schemas.openxmlformats.org/drawingml/2006/main" prst="roundRect">
            <a:avLst/>
          </a:prstGeom>
          <a:solidFill xmlns:a="http://schemas.openxmlformats.org/drawingml/2006/main">
            <a:srgbClr val="EAF8DF"/>
          </a:solidFill>
          <a:ln xmlns:a="http://schemas.openxmlformats.org/drawingml/2006/main" w="12700">
            <a:solidFill>
              <a:srgbClr val="EAF8D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0D29590-7653-4C06-9D7A-3331BC032792}"/>
              </a:ext>
            </a:extLst>
          </p:cNvPr>
          <p:cNvSpPr>
            <a:spLocks xmlns:a="http://schemas.openxmlformats.org/drawingml/2006/main" noGrp="1"/>
          </p:cNvSpPr>
          <p:nvPr/>
        </p:nvSpPr>
        <p:spPr>
          <a:xfrm xmlns:a="http://schemas.openxmlformats.org/drawingml/2006/main">
            <a:off x="6035040" y="4087368"/>
            <a:ext cx="141732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1000" b="1">
                <a:solidFill>
                  <a:srgbClr val="2FB344"/>
                </a:solidFill>
                <a:latin typeface="Hiragino Sans GB"/>
                <a:ea typeface="Hiragino Sans GB"/>
                <a:cs typeface="Hiragino Sans GB"/>
              </a:defRPr>
            </a:defPPr>
          </a:lstStyle>
          <a:p xmlns:a="http://schemas.openxmlformats.org/drawingml/2006/main">
            <a:pPr algn="ctr">
              <a:buNone/>
              <a:defRPr sz="1000" b="1">
                <a:solidFill>
                  <a:srgbClr val="2FB344"/>
                </a:solidFill>
                <a:latin typeface="Hiragino Sans GB"/>
                <a:ea typeface="Hiragino Sans GB"/>
                <a:cs typeface="Hiragino Sans GB"/>
              </a:defRPr>
            </a:pPr>
            <a:r>
              <a:rPr sz="1000" b="1">
                <a:solidFill>
                  <a:srgbClr val="2FB344"/>
                </a:solidFill>
                <a:latin typeface="Hiragino Sans GB"/>
                <a:ea typeface="Hiragino Sans GB"/>
                <a:cs typeface="Hiragino Sans GB"/>
              </a:rPr>
              <a:t>2023 Q1–2025 Q4</a:t>
            </a:r>
          </a:p>
        </p:txBody>
      </p:sp>
      <p:sp>
        <p:nvSpPr>
          <p:cNvPr id="14" name="Rounded Rectangle 13">
            <a:extLst xmlns:a="http://schemas.openxmlformats.org/drawingml/2006/main">
              <a:ext uri="{FF2B5EF4-FFF2-40B4-BE49-F238E27FC236}">
                <a16:creationId xmlns:a16="http://schemas.microsoft.com/office/drawing/2014/main" id="{24639841-BB2F-4410-BDCC-8264863936F1}"/>
              </a:ext>
            </a:extLst>
          </p:cNvPr>
          <p:cNvSpPr>
            <a:spLocks xmlns:a="http://schemas.openxmlformats.org/drawingml/2006/main" noGrp="1"/>
          </p:cNvSpPr>
          <p:nvPr/>
        </p:nvSpPr>
        <p:spPr>
          <a:xfrm xmlns:a="http://schemas.openxmlformats.org/drawingml/2006/main">
            <a:off x="7726680" y="3977640"/>
            <a:ext cx="1417320" cy="457200"/>
          </a:xfrm>
          <a:prstGeom xmlns:a="http://schemas.openxmlformats.org/drawingml/2006/main" prst="roundRect">
            <a:avLst/>
          </a:prstGeom>
          <a:solidFill xmlns:a="http://schemas.openxmlformats.org/drawingml/2006/main">
            <a:srgbClr val="EAF8DF"/>
          </a:solidFill>
          <a:ln xmlns:a="http://schemas.openxmlformats.org/drawingml/2006/main" w="12700">
            <a:solidFill>
              <a:srgbClr val="EAF8D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11241EDF-57CC-403E-A824-E9397ED8E9AD}"/>
              </a:ext>
            </a:extLst>
          </p:cNvPr>
          <p:cNvSpPr>
            <a:spLocks xmlns:a="http://schemas.openxmlformats.org/drawingml/2006/main" noGrp="1"/>
          </p:cNvSpPr>
          <p:nvPr/>
        </p:nvSpPr>
        <p:spPr>
          <a:xfrm xmlns:a="http://schemas.openxmlformats.org/drawingml/2006/main">
            <a:off x="7726680" y="4087368"/>
            <a:ext cx="1417320" cy="18288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ctr">
              <a:defRPr sz="1000" b="1">
                <a:solidFill>
                  <a:srgbClr val="2FB344"/>
                </a:solidFill>
                <a:latin typeface="Hiragino Sans GB"/>
                <a:ea typeface="Hiragino Sans GB"/>
                <a:cs typeface="Hiragino Sans GB"/>
              </a:defRPr>
            </a:defPPr>
          </a:lstStyle>
          <a:p xmlns:a="http://schemas.openxmlformats.org/drawingml/2006/main">
            <a:pPr algn="ctr">
              <a:buNone/>
              <a:defRPr sz="1000" b="1">
                <a:solidFill>
                  <a:srgbClr val="2FB344"/>
                </a:solidFill>
                <a:latin typeface="Hiragino Sans GB"/>
                <a:ea typeface="Hiragino Sans GB"/>
                <a:cs typeface="Hiragino Sans GB"/>
              </a:defRPr>
            </a:pPr>
            <a:r>
              <a:rPr sz="1000" b="1">
                <a:solidFill>
                  <a:srgbClr val="2FB344"/>
                </a:solidFill>
                <a:latin typeface="Hiragino Sans GB"/>
                <a:ea typeface="Hiragino Sans GB"/>
                <a:cs typeface="Hiragino Sans GB"/>
              </a:rPr>
              <a:t>2026 年 3 月</a:t>
            </a:r>
          </a:p>
        </p:txBody>
      </p:sp>
      <p:sp>
        <p:nvSpPr>
          <p:cNvPr id="16" name="TextBox 15">
            <a:extLst xmlns:a="http://schemas.openxmlformats.org/drawingml/2006/main">
              <a:ext uri="{FF2B5EF4-FFF2-40B4-BE49-F238E27FC236}">
                <a16:creationId xmlns:a16="http://schemas.microsoft.com/office/drawing/2014/main" id="{FB4D8286-DA5C-4213-8406-1BC6EEFA6FC8}"/>
              </a:ext>
            </a:extLst>
          </p:cNvPr>
          <p:cNvSpPr>
            <a:spLocks xmlns:a="http://schemas.openxmlformats.org/drawingml/2006/main" noGrp="1"/>
          </p:cNvSpPr>
          <p:nvPr/>
        </p:nvSpPr>
        <p:spPr>
          <a:xfrm xmlns:a="http://schemas.openxmlformats.org/drawingml/2006/main">
            <a:off x="640080" y="6263640"/>
            <a:ext cx="10881360" cy="2286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00">
                <a:solidFill>
                  <a:srgbClr val="68737D"/>
                </a:solidFill>
                <a:latin typeface="Hiragino Sans GB"/>
                <a:ea typeface="Hiragino Sans GB"/>
                <a:cs typeface="Hiragino Sans GB"/>
              </a:defRPr>
            </a:defPPr>
          </a:lstStyle>
          <a:p xmlns:a="http://schemas.openxmlformats.org/drawingml/2006/main">
            <a:pPr algn="l">
              <a:buNone/>
              <a:defRPr sz="1200">
                <a:solidFill>
                  <a:srgbClr val="68737D"/>
                </a:solidFill>
                <a:latin typeface="Hiragino Sans GB"/>
                <a:ea typeface="Hiragino Sans GB"/>
                <a:cs typeface="Hiragino Sans GB"/>
              </a:defRPr>
            </a:pPr>
            <a:r>
              <a:rPr sz="1200" b="0">
                <a:solidFill>
                  <a:srgbClr val="68737D"/>
                </a:solidFill>
                <a:latin typeface="Hiragino Sans GB"/>
                <a:ea typeface="Hiragino Sans GB"/>
                <a:cs typeface="Hiragino Sans GB"/>
                <a:hlinkClick xmlns:r="http://schemas.openxmlformats.org/officeDocument/2006/relationships" r:id="Raa47c7d1e25e4f95"/>
              </a:rPr>
              <a:t>查看交互式 Tableau Dashboard ↗</a:t>
            </a:r>
          </a:p>
        </p:txBody>
      </p:sp>
      <p:sp>
        <p:nvSpPr>
          <p:cNvPr id="17" name="Project work">
            <a:extLst xmlns:a="http://schemas.openxmlformats.org/drawingml/2006/main">
              <a:ext uri="{FF2B5EF4-FFF2-40B4-BE49-F238E27FC236}">
                <a16:creationId xmlns:a16="http://schemas.microsoft.com/office/drawing/2014/main" id="{540940CA-8D78-4F2D-8142-A205E02ABB50}"/>
              </a:ext>
            </a:extLst>
          </p:cNvPr>
          <p:cNvSpPr>
            <a:spLocks xmlns:a="http://schemas.openxmlformats.org/drawingml/2006/main" noGrp="1"/>
          </p:cNvSpPr>
          <p:nvPr/>
        </p:nvSpPr>
        <p:spPr>
          <a:xfrm xmlns:a="http://schemas.openxmlformats.org/drawingml/2006/main">
            <a:off x="1028700" y="4676775"/>
            <a:ext cx="1013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050">
                <a:solidFill>
                  <a:srgbClr val="68737D"/>
                </a:solidFill>
                <a:latin typeface="Hiragino Sans GB"/>
                <a:ea typeface="Hiragino Sans GB"/>
                <a:cs typeface="Hiragino Sans GB"/>
              </a:defRPr>
            </a:defPPr>
          </a:lstStyle>
          <a:p xmlns:a="http://schemas.openxmlformats.org/drawingml/2006/main">
            <a:pPr>
              <a:defRPr sz="1050">
                <a:solidFill>
                  <a:srgbClr val="68737D"/>
                </a:solidFill>
                <a:latin typeface="Hiragino Sans GB"/>
                <a:ea typeface="Hiragino Sans GB"/>
                <a:cs typeface="Hiragino Sans GB"/>
              </a:defRPr>
            </a:pPr>
            <a:r>
              <a:rPr sz="1050">
                <a:solidFill>
                  <a:srgbClr val="68737D"/>
                </a:solidFill>
                <a:latin typeface="Hiragino Sans GB"/>
                <a:ea typeface="Hiragino Sans GB"/>
                <a:cs typeface="Hiragino Sans GB"/>
              </a:rPr>
              <a:t>项目工作：明确业务问题，统一指标口径，核对公开数据与计算结果，完成两页 Tableau Dashboard，并将分析发现转化为运营关注重点。</a:t>
            </a:r>
          </a:p>
        </p:txBody>
      </p:sp>
    </p:spTree>
    <p:extLst>
      <p:ext uri="{BB962C8B-B14F-4D97-AF65-F5344CB8AC3E}">
        <p14:creationId xmlns:p14="http://schemas.microsoft.com/office/powerpoint/2010/main" val="1154346514"/>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8CB8BC3-FB54-4F2C-AD8E-38CE51EC2D9D}"/>
              </a:ext>
            </a:extLst>
          </p:cNvPr>
          <p:cNvSpPr>
            <a:spLocks xmlns:a="http://schemas.openxmlformats.org/drawingml/2006/main" noGrp="1"/>
          </p:cNvSpPr>
          <p:nvPr/>
        </p:nvSpPr>
        <p:spPr>
          <a:xfrm xmlns:a="http://schemas.openxmlformats.org/drawingml/2006/main">
            <a:off x="640080" y="411480"/>
            <a:ext cx="10972800" cy="457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400" b="1">
                <a:solidFill>
                  <a:srgbClr val="172B4D"/>
                </a:solidFill>
                <a:latin typeface="Hiragino Sans GB"/>
                <a:ea typeface="Hiragino Sans GB"/>
                <a:cs typeface="Hiragino Sans GB"/>
              </a:defRPr>
            </a:defPPr>
          </a:lstStyle>
          <a:p xmlns:a="http://schemas.openxmlformats.org/drawingml/2006/main">
            <a:pPr algn="l">
              <a:buNone/>
              <a:defRPr sz="2400" b="1">
                <a:solidFill>
                  <a:srgbClr val="172B4D"/>
                </a:solidFill>
                <a:latin typeface="Hiragino Sans GB"/>
                <a:ea typeface="Hiragino Sans GB"/>
                <a:cs typeface="Hiragino Sans GB"/>
              </a:defRPr>
            </a:pPr>
            <a:r>
              <a:rPr sz="2400" b="1">
                <a:solidFill>
                  <a:srgbClr val="172B4D"/>
                </a:solidFill>
                <a:latin typeface="Hiragino Sans GB"/>
                <a:ea typeface="Hiragino Sans GB"/>
                <a:cs typeface="Hiragino Sans GB"/>
              </a:rPr>
              <a:t>1. 业务问题、数据与方法</a:t>
            </a:r>
          </a:p>
        </p:txBody>
      </p:sp>
      <p:sp>
        <p:nvSpPr>
          <p:cNvPr id="3" name="Rounded Rectangle 2">
            <a:extLst xmlns:a="http://schemas.openxmlformats.org/drawingml/2006/main">
              <a:ext uri="{FF2B5EF4-FFF2-40B4-BE49-F238E27FC236}">
                <a16:creationId xmlns:a16="http://schemas.microsoft.com/office/drawing/2014/main" id="{50D75210-531A-46F4-AEC0-A7B2E676C62E}"/>
              </a:ext>
            </a:extLst>
          </p:cNvPr>
          <p:cNvSpPr>
            <a:spLocks xmlns:a="http://schemas.openxmlformats.org/drawingml/2006/main" noGrp="1"/>
          </p:cNvSpPr>
          <p:nvPr/>
        </p:nvSpPr>
        <p:spPr>
          <a:xfrm xmlns:a="http://schemas.openxmlformats.org/drawingml/2006/main">
            <a:off x="640080" y="1143000"/>
            <a:ext cx="10972800" cy="100584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457550A-5A7C-47A6-8F10-13F813160F2F}"/>
              </a:ext>
            </a:extLst>
          </p:cNvPr>
          <p:cNvSpPr>
            <a:spLocks xmlns:a="http://schemas.openxmlformats.org/drawingml/2006/main" noGrp="1"/>
          </p:cNvSpPr>
          <p:nvPr/>
        </p:nvSpPr>
        <p:spPr>
          <a:xfrm xmlns:a="http://schemas.openxmlformats.org/drawingml/2006/main">
            <a:off x="914400" y="1304925"/>
            <a:ext cx="10332720" cy="7429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500">
                <a:solidFill>
                  <a:srgbClr val="263238"/>
                </a:solidFill>
                <a:latin typeface="Hiragino Sans GB"/>
                <a:ea typeface="Hiragino Sans GB"/>
                <a:cs typeface="Hiragino Sans GB"/>
              </a:defRPr>
            </a:defPPr>
          </a:lstStyle>
          <a:p xmlns:a="http://schemas.openxmlformats.org/drawingml/2006/main">
            <a:pPr algn="l">
              <a:buNone/>
              <a:defRPr sz="1500">
                <a:solidFill>
                  <a:srgbClr val="263238"/>
                </a:solidFill>
                <a:latin typeface="Hiragino Sans GB"/>
                <a:ea typeface="Hiragino Sans GB"/>
                <a:cs typeface="Hiragino Sans GB"/>
              </a:defRPr>
            </a:pPr>
            <a:r>
              <a:rPr sz="1500" b="0">
                <a:solidFill>
                  <a:srgbClr val="263238"/>
                </a:solidFill>
                <a:latin typeface="Hiragino Sans GB"/>
                <a:ea typeface="Hiragino Sans GB"/>
                <a:cs typeface="Hiragino Sans GB"/>
              </a:rPr>
              <a:t>仅看用户规模并不能完整判断增长质量。本项目进一步结合 DAU、付费订阅用户和收入表现，观察用户规模扩张是否同</a:t>
            </a:r>
          </a:p>
          <a:p xmlns:a="http://schemas.openxmlformats.org/drawingml/2006/main">
            <a:pPr algn="l">
              <a:buNone/>
              <a:defRPr sz="1500">
                <a:solidFill>
                  <a:srgbClr val="263238"/>
                </a:solidFill>
                <a:latin typeface="Hiragino Sans GB"/>
                <a:ea typeface="Hiragino Sans GB"/>
                <a:cs typeface="Hiragino Sans GB"/>
              </a:defRPr>
            </a:pPr>
            <a:r>
              <a:rPr sz="1500" b="0">
                <a:solidFill>
                  <a:srgbClr val="263238"/>
                </a:solidFill>
                <a:latin typeface="Hiragino Sans GB"/>
                <a:ea typeface="Hiragino Sans GB"/>
                <a:cs typeface="Hiragino Sans GB"/>
              </a:rPr>
              <a:t>时带来了更高的活跃度和更强的商业化表现。</a:t>
            </a:r>
          </a:p>
        </p:txBody>
      </p:sp>
      <p:sp>
        <p:nvSpPr>
          <p:cNvPr id="5" name="TextBox 4">
            <a:extLst xmlns:a="http://schemas.openxmlformats.org/drawingml/2006/main">
              <a:ext uri="{FF2B5EF4-FFF2-40B4-BE49-F238E27FC236}">
                <a16:creationId xmlns:a16="http://schemas.microsoft.com/office/drawing/2014/main" id="{2E2A8926-F416-481F-A418-DDC99588A889}"/>
              </a:ext>
            </a:extLst>
          </p:cNvPr>
          <p:cNvSpPr>
            <a:spLocks xmlns:a="http://schemas.openxmlformats.org/drawingml/2006/main" noGrp="1"/>
          </p:cNvSpPr>
          <p:nvPr/>
        </p:nvSpPr>
        <p:spPr>
          <a:xfrm xmlns:a="http://schemas.openxmlformats.org/drawingml/2006/main">
            <a:off x="868680" y="2514600"/>
            <a:ext cx="521208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业务问题</a:t>
            </a:r>
          </a:p>
        </p:txBody>
      </p:sp>
      <p:sp>
        <p:nvSpPr>
          <p:cNvPr id="6" name="TextBox 5">
            <a:extLst xmlns:a="http://schemas.openxmlformats.org/drawingml/2006/main">
              <a:ext uri="{FF2B5EF4-FFF2-40B4-BE49-F238E27FC236}">
                <a16:creationId xmlns:a16="http://schemas.microsoft.com/office/drawing/2014/main" id="{22E9EA9A-E9FE-4B6C-9303-E9B1BFF252B5}"/>
              </a:ext>
            </a:extLst>
          </p:cNvPr>
          <p:cNvSpPr>
            <a:spLocks xmlns:a="http://schemas.openxmlformats.org/drawingml/2006/main" noGrp="1"/>
          </p:cNvSpPr>
          <p:nvPr/>
        </p:nvSpPr>
        <p:spPr>
          <a:xfrm xmlns:a="http://schemas.openxmlformats.org/drawingml/2006/main">
            <a:off x="960120" y="2971800"/>
            <a:ext cx="502920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1. 2023 Q1–2025 Q4 期间，用户规模、活跃度、付费订阅和</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收入分别发生了怎样的变化？</a:t>
            </a:r>
          </a:p>
        </p:txBody>
      </p:sp>
      <p:sp>
        <p:nvSpPr>
          <p:cNvPr id="7" name="TextBox 6">
            <a:extLst xmlns:a="http://schemas.openxmlformats.org/drawingml/2006/main">
              <a:ext uri="{FF2B5EF4-FFF2-40B4-BE49-F238E27FC236}">
                <a16:creationId xmlns:a16="http://schemas.microsoft.com/office/drawing/2014/main" id="{BBB61BA9-BA16-408A-8E50-7A3B5CBEB3D7}"/>
              </a:ext>
            </a:extLst>
          </p:cNvPr>
          <p:cNvSpPr>
            <a:spLocks xmlns:a="http://schemas.openxmlformats.org/drawingml/2006/main" noGrp="1"/>
          </p:cNvSpPr>
          <p:nvPr/>
        </p:nvSpPr>
        <p:spPr>
          <a:xfrm xmlns:a="http://schemas.openxmlformats.org/drawingml/2006/main">
            <a:off x="960120" y="3611880"/>
            <a:ext cx="502920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2. DAU、付费订阅用户和收入的增长速度是否高于 MAU？</a:t>
            </a:r>
          </a:p>
        </p:txBody>
      </p:sp>
      <p:sp>
        <p:nvSpPr>
          <p:cNvPr id="8" name="TextBox 7">
            <a:extLst xmlns:a="http://schemas.openxmlformats.org/drawingml/2006/main">
              <a:ext uri="{FF2B5EF4-FFF2-40B4-BE49-F238E27FC236}">
                <a16:creationId xmlns:a16="http://schemas.microsoft.com/office/drawing/2014/main" id="{66937D9B-3A87-42AA-8439-FF709AF687DE}"/>
              </a:ext>
            </a:extLst>
          </p:cNvPr>
          <p:cNvSpPr>
            <a:spLocks xmlns:a="http://schemas.openxmlformats.org/drawingml/2006/main" noGrp="1"/>
          </p:cNvSpPr>
          <p:nvPr/>
        </p:nvSpPr>
        <p:spPr>
          <a:xfrm xmlns:a="http://schemas.openxmlformats.org/drawingml/2006/main">
            <a:off x="960120" y="4251960"/>
            <a:ext cx="502920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3. 2026 年初的竞品网站与社媒快照能提供哪些竞争背景？</a:t>
            </a:r>
          </a:p>
        </p:txBody>
      </p:sp>
      <p:sp>
        <p:nvSpPr>
          <p:cNvPr id="9" name="TextBox 8">
            <a:extLst xmlns:a="http://schemas.openxmlformats.org/drawingml/2006/main">
              <a:ext uri="{FF2B5EF4-FFF2-40B4-BE49-F238E27FC236}">
                <a16:creationId xmlns:a16="http://schemas.microsoft.com/office/drawing/2014/main" id="{C4E4A916-A7AD-494D-9F44-61D53DEA0759}"/>
              </a:ext>
            </a:extLst>
          </p:cNvPr>
          <p:cNvSpPr>
            <a:spLocks xmlns:a="http://schemas.openxmlformats.org/drawingml/2006/main" noGrp="1"/>
          </p:cNvSpPr>
          <p:nvPr/>
        </p:nvSpPr>
        <p:spPr>
          <a:xfrm xmlns:a="http://schemas.openxmlformats.org/drawingml/2006/main">
            <a:off x="960120" y="4892040"/>
            <a:ext cx="502920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4. 基于公开数据，增长与运营团队下一步最值得关注和验证的问</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题是什么？</a:t>
            </a:r>
          </a:p>
        </p:txBody>
      </p:sp>
      <p:sp>
        <p:nvSpPr>
          <p:cNvPr id="10" name="TextBox 9">
            <a:extLst xmlns:a="http://schemas.openxmlformats.org/drawingml/2006/main">
              <a:ext uri="{FF2B5EF4-FFF2-40B4-BE49-F238E27FC236}">
                <a16:creationId xmlns:a16="http://schemas.microsoft.com/office/drawing/2014/main" id="{A9D6A198-0EBD-4F77-B75F-743D6D507158}"/>
              </a:ext>
            </a:extLst>
          </p:cNvPr>
          <p:cNvSpPr>
            <a:spLocks xmlns:a="http://schemas.openxmlformats.org/drawingml/2006/main" noGrp="1"/>
          </p:cNvSpPr>
          <p:nvPr/>
        </p:nvSpPr>
        <p:spPr>
          <a:xfrm xmlns:a="http://schemas.openxmlformats.org/drawingml/2006/main">
            <a:off x="6400800" y="2514600"/>
            <a:ext cx="484632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数据与方法</a:t>
            </a:r>
          </a:p>
        </p:txBody>
      </p:sp>
      <p:sp>
        <p:nvSpPr>
          <p:cNvPr id="11" name="TextBox 10">
            <a:extLst xmlns:a="http://schemas.openxmlformats.org/drawingml/2006/main">
              <a:ext uri="{FF2B5EF4-FFF2-40B4-BE49-F238E27FC236}">
                <a16:creationId xmlns:a16="http://schemas.microsoft.com/office/drawing/2014/main" id="{03864D0A-9138-491A-A6C8-3BE060A9D99A}"/>
              </a:ext>
            </a:extLst>
          </p:cNvPr>
          <p:cNvSpPr>
            <a:spLocks xmlns:a="http://schemas.openxmlformats.org/drawingml/2006/main" noGrp="1"/>
          </p:cNvSpPr>
          <p:nvPr/>
        </p:nvSpPr>
        <p:spPr>
          <a:xfrm xmlns:a="http://schemas.openxmlformats.org/drawingml/2006/main">
            <a:off x="6492240" y="2971800"/>
            <a:ext cx="485775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38">
                <a:solidFill>
                  <a:srgbClr val="263238"/>
                </a:solidFill>
                <a:latin typeface="Hiragino Sans GB"/>
                <a:ea typeface="Hiragino Sans GB"/>
                <a:cs typeface="Hiragino Sans GB"/>
              </a:defRPr>
            </a:defPPr>
          </a:lstStyle>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分析 2023 Q1–2025 Q4 共 12 个季度的 Duolingo 官方经营</a:t>
            </a:r>
          </a:p>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数据，来源包括 Investor Relations 和 SEC 披露。</a:t>
            </a:r>
          </a:p>
        </p:txBody>
      </p:sp>
      <p:sp>
        <p:nvSpPr>
          <p:cNvPr id="12" name="TextBox 11">
            <a:extLst xmlns:a="http://schemas.openxmlformats.org/drawingml/2006/main">
              <a:ext uri="{FF2B5EF4-FFF2-40B4-BE49-F238E27FC236}">
                <a16:creationId xmlns:a16="http://schemas.microsoft.com/office/drawing/2014/main" id="{EB16823B-E432-4D4C-9FEB-FABD243E44E3}"/>
              </a:ext>
            </a:extLst>
          </p:cNvPr>
          <p:cNvSpPr>
            <a:spLocks xmlns:a="http://schemas.openxmlformats.org/drawingml/2006/main" noGrp="1"/>
          </p:cNvSpPr>
          <p:nvPr/>
        </p:nvSpPr>
        <p:spPr>
          <a:xfrm xmlns:a="http://schemas.openxmlformats.org/drawingml/2006/main">
            <a:off x="6492240" y="3611880"/>
            <a:ext cx="485775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38">
                <a:solidFill>
                  <a:srgbClr val="263238"/>
                </a:solidFill>
                <a:latin typeface="Hiragino Sans GB"/>
                <a:ea typeface="Hiragino Sans GB"/>
                <a:cs typeface="Hiragino Sans GB"/>
              </a:defRPr>
            </a:defPPr>
          </a:lstStyle>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对比 MAU、DAU、DAU/MAU、付费订阅用户和季度收入，并</a:t>
            </a:r>
          </a:p>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计算 QoQ、YoY 和以 2023 Q1 = 100 为基期的增长指数。</a:t>
            </a:r>
          </a:p>
        </p:txBody>
      </p:sp>
      <p:sp>
        <p:nvSpPr>
          <p:cNvPr id="13" name="TextBox 12">
            <a:extLst xmlns:a="http://schemas.openxmlformats.org/drawingml/2006/main">
              <a:ext uri="{FF2B5EF4-FFF2-40B4-BE49-F238E27FC236}">
                <a16:creationId xmlns:a16="http://schemas.microsoft.com/office/drawing/2014/main" id="{88EF33BA-9FBA-4BB2-B7F5-8E0632FE68BD}"/>
              </a:ext>
            </a:extLst>
          </p:cNvPr>
          <p:cNvSpPr>
            <a:spLocks xmlns:a="http://schemas.openxmlformats.org/drawingml/2006/main" noGrp="1"/>
          </p:cNvSpPr>
          <p:nvPr/>
        </p:nvSpPr>
        <p:spPr>
          <a:xfrm xmlns:a="http://schemas.openxmlformats.org/drawingml/2006/main">
            <a:off x="6492240" y="4251960"/>
            <a:ext cx="485775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38">
                <a:solidFill>
                  <a:srgbClr val="263238"/>
                </a:solidFill>
                <a:latin typeface="Hiragino Sans GB"/>
                <a:ea typeface="Hiragino Sans GB"/>
                <a:cs typeface="Hiragino Sans GB"/>
              </a:defRPr>
            </a:defPPr>
          </a:lstStyle>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竞品网站数据为 2026 年 2 月快照，社媒数据为 2026 年 3 月</a:t>
            </a:r>
          </a:p>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快照，仅用于补充竞争背景。</a:t>
            </a:r>
          </a:p>
        </p:txBody>
      </p:sp>
      <p:sp>
        <p:nvSpPr>
          <p:cNvPr id="14" name="TextBox 13">
            <a:extLst xmlns:a="http://schemas.openxmlformats.org/drawingml/2006/main">
              <a:ext uri="{FF2B5EF4-FFF2-40B4-BE49-F238E27FC236}">
                <a16:creationId xmlns:a16="http://schemas.microsoft.com/office/drawing/2014/main" id="{02A9FEAC-EC5C-449F-9139-0CF79A764AD0}"/>
              </a:ext>
            </a:extLst>
          </p:cNvPr>
          <p:cNvSpPr>
            <a:spLocks xmlns:a="http://schemas.openxmlformats.org/drawingml/2006/main" noGrp="1"/>
          </p:cNvSpPr>
          <p:nvPr/>
        </p:nvSpPr>
        <p:spPr>
          <a:xfrm xmlns:a="http://schemas.openxmlformats.org/drawingml/2006/main">
            <a:off x="6492240" y="4892040"/>
            <a:ext cx="4857750" cy="60007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38">
                <a:solidFill>
                  <a:srgbClr val="263238"/>
                </a:solidFill>
                <a:latin typeface="Hiragino Sans GB"/>
                <a:ea typeface="Hiragino Sans GB"/>
                <a:cs typeface="Hiragino Sans GB"/>
              </a:defRPr>
            </a:defPPr>
          </a:lstStyle>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使用 SQL 编写核心指标和增速计算逻辑，Python 用于数据质量</a:t>
            </a:r>
          </a:p>
          <a:p xmlns:a="http://schemas.openxmlformats.org/drawingml/2006/main">
            <a:pPr algn="l">
              <a:buNone/>
              <a:defRPr sz="1238">
                <a:solidFill>
                  <a:srgbClr val="263238"/>
                </a:solidFill>
                <a:latin typeface="Hiragino Sans GB"/>
                <a:ea typeface="Hiragino Sans GB"/>
                <a:cs typeface="Hiragino Sans GB"/>
              </a:defRPr>
            </a:pPr>
            <a:r>
              <a:rPr sz="1238" b="0">
                <a:solidFill>
                  <a:srgbClr val="263238"/>
                </a:solidFill>
                <a:latin typeface="Hiragino Sans GB"/>
                <a:ea typeface="Hiragino Sans GB"/>
                <a:cs typeface="Hiragino Sans GB"/>
              </a:rPr>
              <a:t>检查与结果交叉验证，最终通过 Tableau 展示分析结果。</a:t>
            </a:r>
          </a:p>
        </p:txBody>
      </p:sp>
      <p:sp>
        <p:nvSpPr>
          <p:cNvPr id="15" name="Evidence footer">
            <a:extLst xmlns:a="http://schemas.openxmlformats.org/drawingml/2006/main">
              <a:ext uri="{FF2B5EF4-FFF2-40B4-BE49-F238E27FC236}">
                <a16:creationId xmlns:a16="http://schemas.microsoft.com/office/drawing/2014/main" id="{66AB5E74-B6F8-42A5-A048-8F9796247634}"/>
              </a:ext>
            </a:extLst>
          </p:cNvPr>
          <p:cNvSpPr>
            <a:spLocks xmlns:a="http://schemas.openxmlformats.org/drawingml/2006/main" noGrp="1"/>
          </p:cNvSpPr>
          <p:nvPr/>
        </p:nvSpPr>
        <p:spPr>
          <a:xfrm xmlns:a="http://schemas.openxmlformats.org/drawingml/2006/main">
            <a:off x="647700"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900">
                <a:solidFill>
                  <a:srgbClr val="68737D"/>
                </a:solidFill>
                <a:latin typeface="Hiragino Sans GB"/>
                <a:ea typeface="Hiragino Sans GB"/>
                <a:cs typeface="Hiragino Sans GB"/>
              </a:defRPr>
            </a:defPPr>
          </a:lstStyle>
          <a:p xmlns:a="http://schemas.openxmlformats.org/drawingml/2006/main">
            <a:pPr algn="l">
              <a:buNone/>
              <a:defRPr sz="900">
                <a:solidFill>
                  <a:srgbClr val="68737D"/>
                </a:solidFill>
                <a:latin typeface="Hiragino Sans GB"/>
                <a:ea typeface="Hiragino Sans GB"/>
                <a:cs typeface="Hiragino Sans GB"/>
              </a:defRPr>
            </a:pPr>
            <a:r>
              <a:rPr sz="900">
                <a:solidFill>
                  <a:srgbClr val="68737D"/>
                </a:solidFill>
                <a:latin typeface="Hiragino Sans GB"/>
                <a:ea typeface="Hiragino Sans GB"/>
                <a:cs typeface="Hiragino Sans GB"/>
              </a:rPr>
              <a:t>来源：Duolingo Investor Relations / SEC。指标定义与完整来源见方法说明、来源清单及演示文稿备注。</a:t>
            </a:r>
          </a:p>
        </p:txBody>
      </p:sp>
    </p:spTree>
    <p:extLst>
      <p:ext uri="{BB962C8B-B14F-4D97-AF65-F5344CB8AC3E}">
        <p14:creationId xmlns:p14="http://schemas.microsoft.com/office/powerpoint/2010/main" val="1893984466"/>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833836A-24B6-43CE-AF46-5B7E007F14AD}"/>
              </a:ext>
            </a:extLst>
          </p:cNvPr>
          <p:cNvSpPr>
            <a:spLocks xmlns:a="http://schemas.openxmlformats.org/drawingml/2006/main" noGrp="1"/>
          </p:cNvSpPr>
          <p:nvPr/>
        </p:nvSpPr>
        <p:spPr>
          <a:xfrm xmlns:a="http://schemas.openxmlformats.org/drawingml/2006/main">
            <a:off x="502920" y="228600"/>
            <a:ext cx="1124712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100" b="1">
                <a:solidFill>
                  <a:srgbClr val="172B4D"/>
                </a:solidFill>
                <a:latin typeface="Hiragino Sans GB"/>
                <a:ea typeface="Hiragino Sans GB"/>
                <a:cs typeface="Hiragino Sans GB"/>
              </a:defRPr>
            </a:defPPr>
          </a:lstStyle>
          <a:p xmlns:a="http://schemas.openxmlformats.org/drawingml/2006/main">
            <a:pPr algn="l">
              <a:buNone/>
              <a:defRPr sz="2100" b="1">
                <a:solidFill>
                  <a:srgbClr val="172B4D"/>
                </a:solidFill>
                <a:latin typeface="Hiragino Sans GB"/>
                <a:ea typeface="Hiragino Sans GB"/>
                <a:cs typeface="Hiragino Sans GB"/>
              </a:defRPr>
            </a:pPr>
            <a:r>
              <a:rPr sz="2100" b="1">
                <a:solidFill>
                  <a:srgbClr val="172B4D"/>
                </a:solidFill>
                <a:latin typeface="Hiragino Sans GB"/>
                <a:ea typeface="Hiragino Sans GB"/>
                <a:cs typeface="Hiragino Sans GB"/>
              </a:rPr>
              <a:t>2. Dashboard - 增长与商业化概览</a:t>
            </a:r>
          </a:p>
        </p:txBody>
      </p:sp>
      <p:pic>
        <p:nvPicPr>
          <p:cNvPr id="3" name="Picture 2">
            <a:extLst xmlns:a="http://schemas.openxmlformats.org/drawingml/2006/main">
              <a:ext uri="{FF2B5EF4-FFF2-40B4-BE49-F238E27FC236}">
                <a16:creationId xmlns:a16="http://schemas.microsoft.com/office/drawing/2014/main" id="{6F623979-9E85-4054-81A5-24A3492A3400}"/>
              </a:ext>
            </a:extLst>
          </p:cNvPr>
          <p:cNvPicPr>
            <a:picLocks xmlns:a="http://schemas.openxmlformats.org/drawingml/2006/main" noChangeAspect="1"/>
          </p:cNvPicPr>
          <p:nvPr/>
        </p:nvPicPr>
        <p:blipFill>
          <a:blip xmlns:r="http://schemas.openxmlformats.org/officeDocument/2006/relationships" xmlns:a="http://schemas.openxmlformats.org/drawingml/2006/main" r:embed="R3597761767954e62"/>
          <a:srcRect xmlns:a="http://schemas.openxmlformats.org/drawingml/2006/main" l="0" t="0" r="0" b="0"/>
          <a:stretch xmlns:a="http://schemas.openxmlformats.org/drawingml/2006/main">
            <a:fillRect l="0" t="0" r="0" b="0"/>
          </a:stretch>
        </p:blipFill>
        <p:spPr>
          <a:xfrm xmlns:a="http://schemas.openxmlformats.org/drawingml/2006/main">
            <a:off x="1030140" y="723900"/>
            <a:ext cx="10131720" cy="5867400"/>
          </a:xfrm>
          <a:prstGeom xmlns:a="http://schemas.openxmlformats.org/drawingml/2006/main" prst="rect">
            <a:avLst/>
          </a:prstGeom>
        </p:spPr>
      </p:pic>
      <p:sp>
        <p:nvSpPr>
          <p:cNvPr id="4" name="Published Tableau link">
            <a:extLst xmlns:a="http://schemas.openxmlformats.org/drawingml/2006/main">
              <a:ext uri="{FF2B5EF4-FFF2-40B4-BE49-F238E27FC236}">
                <a16:creationId xmlns:a16="http://schemas.microsoft.com/office/drawing/2014/main" id="{213D9332-B80A-412B-B605-11B5A71D2247}"/>
              </a:ext>
            </a:extLst>
          </p:cNvPr>
          <p:cNvSpPr>
            <a:spLocks xmlns:a="http://schemas.openxmlformats.org/drawingml/2006/main" noGrp="1"/>
          </p:cNvSpPr>
          <p:nvPr/>
        </p:nvSpPr>
        <p:spPr>
          <a:xfrm xmlns:a="http://schemas.openxmlformats.org/drawingml/2006/main">
            <a:off x="1028700" y="561975"/>
            <a:ext cx="10134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00">
                <a:solidFill>
                  <a:srgbClr val="28752A"/>
                </a:solidFill>
                <a:latin typeface="Hiragino Sans GB"/>
                <a:ea typeface="Hiragino Sans GB"/>
                <a:cs typeface="Hiragino Sans GB"/>
              </a:defRPr>
            </a:defPPr>
          </a:lstStyle>
          <a:p xmlns:a="http://schemas.openxmlformats.org/drawingml/2006/main">
            <a:pPr>
              <a:buNone/>
              <a:defRPr sz="900">
                <a:solidFill>
                  <a:srgbClr val="28752A"/>
                </a:solidFill>
                <a:latin typeface="Hiragino Sans GB"/>
                <a:ea typeface="Hiragino Sans GB"/>
                <a:cs typeface="Hiragino Sans GB"/>
              </a:defRPr>
            </a:pPr>
            <a:r>
              <a:rPr sz="900">
                <a:solidFill>
                  <a:srgbClr val="28752A"/>
                </a:solidFill>
                <a:latin typeface="Hiragino Sans GB"/>
                <a:ea typeface="Hiragino Sans GB"/>
                <a:cs typeface="Hiragino Sans GB"/>
                <a:hlinkClick xmlns:r="http://schemas.openxmlformats.org/officeDocument/2006/relationships" r:id="Rc85c5bfdf0084fb3"/>
              </a:rPr>
              <a:t>最终已发布的 Tableau 页面。点击打开交互式 Dashboard</a:t>
            </a:r>
          </a:p>
        </p:txBody>
      </p:sp>
    </p:spTree>
    <p:extLst>
      <p:ext uri="{BB962C8B-B14F-4D97-AF65-F5344CB8AC3E}">
        <p14:creationId xmlns:p14="http://schemas.microsoft.com/office/powerpoint/2010/main" val="1541841118"/>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FB8103C-50AD-45BD-9864-53B81975D6CD}"/>
              </a:ext>
            </a:extLst>
          </p:cNvPr>
          <p:cNvSpPr>
            <a:spLocks xmlns:a="http://schemas.openxmlformats.org/drawingml/2006/main" noGrp="1"/>
          </p:cNvSpPr>
          <p:nvPr/>
        </p:nvSpPr>
        <p:spPr>
          <a:xfrm xmlns:a="http://schemas.openxmlformats.org/drawingml/2006/main">
            <a:off x="502920" y="228600"/>
            <a:ext cx="1124712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100" b="1">
                <a:solidFill>
                  <a:srgbClr val="172B4D"/>
                </a:solidFill>
                <a:latin typeface="Hiragino Sans GB"/>
                <a:ea typeface="Hiragino Sans GB"/>
                <a:cs typeface="Hiragino Sans GB"/>
              </a:defRPr>
            </a:defPPr>
          </a:lstStyle>
          <a:p xmlns:a="http://schemas.openxmlformats.org/drawingml/2006/main">
            <a:pPr algn="l">
              <a:buNone/>
              <a:defRPr sz="2100" b="1">
                <a:solidFill>
                  <a:srgbClr val="172B4D"/>
                </a:solidFill>
                <a:latin typeface="Hiragino Sans GB"/>
                <a:ea typeface="Hiragino Sans GB"/>
                <a:cs typeface="Hiragino Sans GB"/>
              </a:defRPr>
            </a:pPr>
            <a:r>
              <a:rPr sz="2100" b="1">
                <a:solidFill>
                  <a:srgbClr val="172B4D"/>
                </a:solidFill>
                <a:latin typeface="Hiragino Sans GB"/>
                <a:ea typeface="Hiragino Sans GB"/>
                <a:cs typeface="Hiragino Sans GB"/>
              </a:rPr>
              <a:t>3. Dashboard - 增长质量诊断与战略背景</a:t>
            </a:r>
          </a:p>
        </p:txBody>
      </p:sp>
      <p:pic>
        <p:nvPicPr>
          <p:cNvPr id="3" name="Picture 2">
            <a:extLst xmlns:a="http://schemas.openxmlformats.org/drawingml/2006/main">
              <a:ext uri="{FF2B5EF4-FFF2-40B4-BE49-F238E27FC236}">
                <a16:creationId xmlns:a16="http://schemas.microsoft.com/office/drawing/2014/main" id="{905318E3-3454-4869-94DC-3433A294154F}"/>
              </a:ext>
            </a:extLst>
          </p:cNvPr>
          <p:cNvPicPr>
            <a:picLocks xmlns:a="http://schemas.openxmlformats.org/drawingml/2006/main" noChangeAspect="1"/>
          </p:cNvPicPr>
          <p:nvPr/>
        </p:nvPicPr>
        <p:blipFill>
          <a:blip xmlns:r="http://schemas.openxmlformats.org/officeDocument/2006/relationships" xmlns:a="http://schemas.openxmlformats.org/drawingml/2006/main" r:embed="R3997dcd595e2449c"/>
          <a:srcRect xmlns:a="http://schemas.openxmlformats.org/drawingml/2006/main" l="0" t="0" r="0" b="0"/>
          <a:stretch xmlns:a="http://schemas.openxmlformats.org/drawingml/2006/main">
            <a:fillRect l="0" t="0" r="0" b="0"/>
          </a:stretch>
        </p:blipFill>
        <p:spPr>
          <a:xfrm xmlns:a="http://schemas.openxmlformats.org/drawingml/2006/main">
            <a:off x="1030140" y="723900"/>
            <a:ext cx="10131720" cy="5867400"/>
          </a:xfrm>
          <a:prstGeom xmlns:a="http://schemas.openxmlformats.org/drawingml/2006/main" prst="rect">
            <a:avLst/>
          </a:prstGeom>
        </p:spPr>
      </p:pic>
      <p:sp>
        <p:nvSpPr>
          <p:cNvPr id="4" name="Published Tableau link">
            <a:extLst xmlns:a="http://schemas.openxmlformats.org/drawingml/2006/main">
              <a:ext uri="{FF2B5EF4-FFF2-40B4-BE49-F238E27FC236}">
                <a16:creationId xmlns:a16="http://schemas.microsoft.com/office/drawing/2014/main" id="{5FEC1A72-700C-4935-A7FB-0C90456537EB}"/>
              </a:ext>
            </a:extLst>
          </p:cNvPr>
          <p:cNvSpPr>
            <a:spLocks xmlns:a="http://schemas.openxmlformats.org/drawingml/2006/main" noGrp="1"/>
          </p:cNvSpPr>
          <p:nvPr/>
        </p:nvSpPr>
        <p:spPr>
          <a:xfrm xmlns:a="http://schemas.openxmlformats.org/drawingml/2006/main">
            <a:off x="1028700" y="561975"/>
            <a:ext cx="10134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00">
                <a:solidFill>
                  <a:srgbClr val="28752A"/>
                </a:solidFill>
                <a:latin typeface="Hiragino Sans GB"/>
                <a:ea typeface="Hiragino Sans GB"/>
                <a:cs typeface="Hiragino Sans GB"/>
              </a:defRPr>
            </a:defPPr>
          </a:lstStyle>
          <a:p xmlns:a="http://schemas.openxmlformats.org/drawingml/2006/main">
            <a:pPr>
              <a:buNone/>
              <a:defRPr sz="900">
                <a:solidFill>
                  <a:srgbClr val="28752A"/>
                </a:solidFill>
                <a:latin typeface="Hiragino Sans GB"/>
                <a:ea typeface="Hiragino Sans GB"/>
                <a:cs typeface="Hiragino Sans GB"/>
              </a:defRPr>
            </a:pPr>
            <a:r>
              <a:rPr sz="900">
                <a:solidFill>
                  <a:srgbClr val="28752A"/>
                </a:solidFill>
                <a:latin typeface="Hiragino Sans GB"/>
                <a:ea typeface="Hiragino Sans GB"/>
                <a:cs typeface="Hiragino Sans GB"/>
                <a:hlinkClick xmlns:r="http://schemas.openxmlformats.org/officeDocument/2006/relationships" r:id="Re2324981703f4772"/>
              </a:rPr>
              <a:t>最终已发布的 Tableau 页面。点击打开交互式 Dashboard</a:t>
            </a:r>
          </a:p>
        </p:txBody>
      </p:sp>
    </p:spTree>
    <p:extLst>
      <p:ext uri="{BB962C8B-B14F-4D97-AF65-F5344CB8AC3E}">
        <p14:creationId xmlns:p14="http://schemas.microsoft.com/office/powerpoint/2010/main" val="1005611553"/>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A273427-76B4-46C8-9054-F49A9C5EB2C2}"/>
              </a:ext>
            </a:extLst>
          </p:cNvPr>
          <p:cNvSpPr>
            <a:spLocks xmlns:a="http://schemas.openxmlformats.org/drawingml/2006/main" noGrp="1"/>
          </p:cNvSpPr>
          <p:nvPr/>
        </p:nvSpPr>
        <p:spPr>
          <a:xfrm xmlns:a="http://schemas.openxmlformats.org/drawingml/2006/main">
            <a:off x="640080" y="411480"/>
            <a:ext cx="10972800" cy="457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400" b="1">
                <a:solidFill>
                  <a:srgbClr val="172B4D"/>
                </a:solidFill>
                <a:latin typeface="Hiragino Sans GB"/>
                <a:ea typeface="Hiragino Sans GB"/>
                <a:cs typeface="Hiragino Sans GB"/>
              </a:defRPr>
            </a:defPPr>
          </a:lstStyle>
          <a:p xmlns:a="http://schemas.openxmlformats.org/drawingml/2006/main">
            <a:pPr algn="l">
              <a:buNone/>
              <a:defRPr sz="2400" b="1">
                <a:solidFill>
                  <a:srgbClr val="172B4D"/>
                </a:solidFill>
                <a:latin typeface="Hiragino Sans GB"/>
                <a:ea typeface="Hiragino Sans GB"/>
                <a:cs typeface="Hiragino Sans GB"/>
              </a:defRPr>
            </a:pPr>
            <a:r>
              <a:rPr sz="2400" b="1">
                <a:solidFill>
                  <a:srgbClr val="172B4D"/>
                </a:solidFill>
                <a:latin typeface="Hiragino Sans GB"/>
                <a:ea typeface="Hiragino Sans GB"/>
                <a:cs typeface="Hiragino Sans GB"/>
              </a:rPr>
              <a:t>4. 关键发现</a:t>
            </a:r>
          </a:p>
        </p:txBody>
      </p:sp>
      <p:sp>
        <p:nvSpPr>
          <p:cNvPr id="3" name="Rounded Rectangle 2">
            <a:extLst xmlns:a="http://schemas.openxmlformats.org/drawingml/2006/main">
              <a:ext uri="{FF2B5EF4-FFF2-40B4-BE49-F238E27FC236}">
                <a16:creationId xmlns:a16="http://schemas.microsoft.com/office/drawing/2014/main" id="{30564653-E1A4-412E-AE10-A33B82B66E72}"/>
              </a:ext>
            </a:extLst>
          </p:cNvPr>
          <p:cNvSpPr>
            <a:spLocks xmlns:a="http://schemas.openxmlformats.org/drawingml/2006/main" noGrp="1"/>
          </p:cNvSpPr>
          <p:nvPr/>
        </p:nvSpPr>
        <p:spPr>
          <a:xfrm xmlns:a="http://schemas.openxmlformats.org/drawingml/2006/main">
            <a:off x="640080" y="1234440"/>
            <a:ext cx="5257800" cy="207645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79DFD2D-B32E-4CE0-9473-C6D08B1AE4E7}"/>
              </a:ext>
            </a:extLst>
          </p:cNvPr>
          <p:cNvSpPr>
            <a:spLocks xmlns:a="http://schemas.openxmlformats.org/drawingml/2006/main" noGrp="1"/>
          </p:cNvSpPr>
          <p:nvPr/>
        </p:nvSpPr>
        <p:spPr>
          <a:xfrm xmlns:a="http://schemas.openxmlformats.org/drawingml/2006/main">
            <a:off x="896112" y="1463040"/>
            <a:ext cx="466344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2FB344"/>
                </a:solidFill>
                <a:latin typeface="Hiragino Sans GB"/>
                <a:ea typeface="Hiragino Sans GB"/>
                <a:cs typeface="Hiragino Sans GB"/>
              </a:defRPr>
            </a:defPPr>
          </a:lstStyle>
          <a:p xmlns:a="http://schemas.openxmlformats.org/drawingml/2006/main">
            <a:pPr algn="l">
              <a:buNone/>
              <a:defRPr sz="1600" b="1">
                <a:solidFill>
                  <a:srgbClr val="2FB344"/>
                </a:solidFill>
                <a:latin typeface="Hiragino Sans GB"/>
                <a:ea typeface="Hiragino Sans GB"/>
                <a:cs typeface="Hiragino Sans GB"/>
              </a:defRPr>
            </a:pPr>
            <a:r>
              <a:rPr sz="1600" b="1">
                <a:solidFill>
                  <a:srgbClr val="2FB344"/>
                </a:solidFill>
                <a:latin typeface="Hiragino Sans GB"/>
                <a:ea typeface="Hiragino Sans GB"/>
                <a:cs typeface="Hiragino Sans GB"/>
              </a:rPr>
              <a:t>活跃增长质量</a:t>
            </a:r>
          </a:p>
        </p:txBody>
      </p:sp>
      <p:sp>
        <p:nvSpPr>
          <p:cNvPr id="5" name="TextBox 4">
            <a:extLst xmlns:a="http://schemas.openxmlformats.org/drawingml/2006/main">
              <a:ext uri="{FF2B5EF4-FFF2-40B4-BE49-F238E27FC236}">
                <a16:creationId xmlns:a16="http://schemas.microsoft.com/office/drawing/2014/main" id="{7DAC2333-903A-4602-868A-9DED2D953BA0}"/>
              </a:ext>
            </a:extLst>
          </p:cNvPr>
          <p:cNvSpPr>
            <a:spLocks xmlns:a="http://schemas.openxmlformats.org/drawingml/2006/main" noGrp="1"/>
          </p:cNvSpPr>
          <p:nvPr/>
        </p:nvSpPr>
        <p:spPr>
          <a:xfrm xmlns:a="http://schemas.openxmlformats.org/drawingml/2006/main">
            <a:off x="896112" y="1892808"/>
            <a:ext cx="4663440" cy="1219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2023 Q1 至 2025 Q4，MAU 增长 83%，DAU 增长</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160%。同期 DAU/MAU 从 28.0% 提升至 39.6%，增加</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11.6 个百分点，说明日活用户相对于月活用户的占比持续</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提高，整体活跃强度增强。</a:t>
            </a:r>
          </a:p>
        </p:txBody>
      </p:sp>
      <p:sp>
        <p:nvSpPr>
          <p:cNvPr id="6" name="Rounded Rectangle 5">
            <a:extLst xmlns:a="http://schemas.openxmlformats.org/drawingml/2006/main">
              <a:ext uri="{FF2B5EF4-FFF2-40B4-BE49-F238E27FC236}">
                <a16:creationId xmlns:a16="http://schemas.microsoft.com/office/drawing/2014/main" id="{0EA889E7-6515-4C2D-BEF2-BA8B31FA4C63}"/>
              </a:ext>
            </a:extLst>
          </p:cNvPr>
          <p:cNvSpPr>
            <a:spLocks xmlns:a="http://schemas.openxmlformats.org/drawingml/2006/main" noGrp="1"/>
          </p:cNvSpPr>
          <p:nvPr/>
        </p:nvSpPr>
        <p:spPr>
          <a:xfrm xmlns:a="http://schemas.openxmlformats.org/drawingml/2006/main">
            <a:off x="6217920" y="1234440"/>
            <a:ext cx="5257800" cy="207645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38725B0-47BC-46D6-A4B1-341B6A04A7AD}"/>
              </a:ext>
            </a:extLst>
          </p:cNvPr>
          <p:cNvSpPr>
            <a:spLocks xmlns:a="http://schemas.openxmlformats.org/drawingml/2006/main" noGrp="1"/>
          </p:cNvSpPr>
          <p:nvPr/>
        </p:nvSpPr>
        <p:spPr>
          <a:xfrm xmlns:a="http://schemas.openxmlformats.org/drawingml/2006/main">
            <a:off x="6473952" y="1463040"/>
            <a:ext cx="466344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2FB344"/>
                </a:solidFill>
                <a:latin typeface="Hiragino Sans GB"/>
                <a:ea typeface="Hiragino Sans GB"/>
                <a:cs typeface="Hiragino Sans GB"/>
              </a:defRPr>
            </a:defPPr>
          </a:lstStyle>
          <a:p xmlns:a="http://schemas.openxmlformats.org/drawingml/2006/main">
            <a:pPr algn="l">
              <a:buNone/>
              <a:defRPr sz="1600" b="1">
                <a:solidFill>
                  <a:srgbClr val="2FB344"/>
                </a:solidFill>
                <a:latin typeface="Hiragino Sans GB"/>
                <a:ea typeface="Hiragino Sans GB"/>
                <a:cs typeface="Hiragino Sans GB"/>
              </a:defRPr>
            </a:pPr>
            <a:r>
              <a:rPr sz="1600" b="1">
                <a:solidFill>
                  <a:srgbClr val="2FB344"/>
                </a:solidFill>
                <a:latin typeface="Hiragino Sans GB"/>
                <a:ea typeface="Hiragino Sans GB"/>
                <a:cs typeface="Hiragino Sans GB"/>
              </a:rPr>
              <a:t>商业化</a:t>
            </a:r>
          </a:p>
        </p:txBody>
      </p:sp>
      <p:sp>
        <p:nvSpPr>
          <p:cNvPr id="8" name="TextBox 7">
            <a:extLst xmlns:a="http://schemas.openxmlformats.org/drawingml/2006/main">
              <a:ext uri="{FF2B5EF4-FFF2-40B4-BE49-F238E27FC236}">
                <a16:creationId xmlns:a16="http://schemas.microsoft.com/office/drawing/2014/main" id="{CC8F42DD-35D1-4A3F-87F0-C54EB5C095DD}"/>
              </a:ext>
            </a:extLst>
          </p:cNvPr>
          <p:cNvSpPr>
            <a:spLocks xmlns:a="http://schemas.openxmlformats.org/drawingml/2006/main" noGrp="1"/>
          </p:cNvSpPr>
          <p:nvPr/>
        </p:nvSpPr>
        <p:spPr>
          <a:xfrm xmlns:a="http://schemas.openxmlformats.org/drawingml/2006/main">
            <a:off x="6473952" y="1892808"/>
            <a:ext cx="4663440" cy="1219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同期付费订阅用户增长 154%，季度收入增长 145%，增速</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均明显高于 MAU。公开数据表明商业化增长快于用户规模</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扩张，但无法据此判断具体是转化率、定价还是其他因素推</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动。</a:t>
            </a:r>
          </a:p>
        </p:txBody>
      </p:sp>
      <p:sp>
        <p:nvSpPr>
          <p:cNvPr id="9" name="Rounded Rectangle 8">
            <a:extLst xmlns:a="http://schemas.openxmlformats.org/drawingml/2006/main">
              <a:ext uri="{FF2B5EF4-FFF2-40B4-BE49-F238E27FC236}">
                <a16:creationId xmlns:a16="http://schemas.microsoft.com/office/drawing/2014/main" id="{557FA8C6-F311-460E-AAFE-3DF3EE7E4E99}"/>
              </a:ext>
            </a:extLst>
          </p:cNvPr>
          <p:cNvSpPr>
            <a:spLocks xmlns:a="http://schemas.openxmlformats.org/drawingml/2006/main" noGrp="1"/>
          </p:cNvSpPr>
          <p:nvPr/>
        </p:nvSpPr>
        <p:spPr>
          <a:xfrm xmlns:a="http://schemas.openxmlformats.org/drawingml/2006/main">
            <a:off x="640080" y="3474720"/>
            <a:ext cx="5257800" cy="207645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ED21262-70C2-44FD-82F3-3B5102FC1AE4}"/>
              </a:ext>
            </a:extLst>
          </p:cNvPr>
          <p:cNvSpPr>
            <a:spLocks xmlns:a="http://schemas.openxmlformats.org/drawingml/2006/main" noGrp="1"/>
          </p:cNvSpPr>
          <p:nvPr/>
        </p:nvSpPr>
        <p:spPr>
          <a:xfrm xmlns:a="http://schemas.openxmlformats.org/drawingml/2006/main">
            <a:off x="896112" y="3703320"/>
            <a:ext cx="466344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2FB344"/>
                </a:solidFill>
                <a:latin typeface="Hiragino Sans GB"/>
                <a:ea typeface="Hiragino Sans GB"/>
                <a:cs typeface="Hiragino Sans GB"/>
              </a:defRPr>
            </a:defPPr>
          </a:lstStyle>
          <a:p xmlns:a="http://schemas.openxmlformats.org/drawingml/2006/main">
            <a:pPr algn="l">
              <a:buNone/>
              <a:defRPr sz="1600" b="1">
                <a:solidFill>
                  <a:srgbClr val="2FB344"/>
                </a:solidFill>
                <a:latin typeface="Hiragino Sans GB"/>
                <a:ea typeface="Hiragino Sans GB"/>
                <a:cs typeface="Hiragino Sans GB"/>
              </a:defRPr>
            </a:pPr>
            <a:r>
              <a:rPr sz="1600" b="1">
                <a:solidFill>
                  <a:srgbClr val="2FB344"/>
                </a:solidFill>
                <a:latin typeface="Hiragino Sans GB"/>
                <a:ea typeface="Hiragino Sans GB"/>
                <a:cs typeface="Hiragino Sans GB"/>
              </a:rPr>
              <a:t>增长结构</a:t>
            </a:r>
          </a:p>
        </p:txBody>
      </p:sp>
      <p:sp>
        <p:nvSpPr>
          <p:cNvPr id="11" name="TextBox 10">
            <a:extLst xmlns:a="http://schemas.openxmlformats.org/drawingml/2006/main">
              <a:ext uri="{FF2B5EF4-FFF2-40B4-BE49-F238E27FC236}">
                <a16:creationId xmlns:a16="http://schemas.microsoft.com/office/drawing/2014/main" id="{58EA8EC7-4E00-40B5-9A7B-A6D6880FD21F}"/>
              </a:ext>
            </a:extLst>
          </p:cNvPr>
          <p:cNvSpPr>
            <a:spLocks xmlns:a="http://schemas.openxmlformats.org/drawingml/2006/main" noGrp="1"/>
          </p:cNvSpPr>
          <p:nvPr/>
        </p:nvSpPr>
        <p:spPr>
          <a:xfrm xmlns:a="http://schemas.openxmlformats.org/drawingml/2006/main">
            <a:off x="896112" y="4133088"/>
            <a:ext cx="4663440" cy="1219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到 2025 Q4，MAU 同比增速已放缓至 14%，但 DAU、</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付费订阅用户和季度收入仍分别同比增长 30%、28% 和</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35%。用户规模增速放缓的同时，活跃和商业化仍保持更快</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增长。</a:t>
            </a:r>
          </a:p>
        </p:txBody>
      </p:sp>
      <p:sp>
        <p:nvSpPr>
          <p:cNvPr id="12" name="Rounded Rectangle 11">
            <a:extLst xmlns:a="http://schemas.openxmlformats.org/drawingml/2006/main">
              <a:ext uri="{FF2B5EF4-FFF2-40B4-BE49-F238E27FC236}">
                <a16:creationId xmlns:a16="http://schemas.microsoft.com/office/drawing/2014/main" id="{293EA81D-DFFF-47B4-895F-8EF4B6B4D138}"/>
              </a:ext>
            </a:extLst>
          </p:cNvPr>
          <p:cNvSpPr>
            <a:spLocks xmlns:a="http://schemas.openxmlformats.org/drawingml/2006/main" noGrp="1"/>
          </p:cNvSpPr>
          <p:nvPr/>
        </p:nvSpPr>
        <p:spPr>
          <a:xfrm xmlns:a="http://schemas.openxmlformats.org/drawingml/2006/main">
            <a:off x="6217920" y="3474720"/>
            <a:ext cx="5257800" cy="207645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5AA5ADB-3F71-4CFB-8912-158AC5112A5E}"/>
              </a:ext>
            </a:extLst>
          </p:cNvPr>
          <p:cNvSpPr>
            <a:spLocks xmlns:a="http://schemas.openxmlformats.org/drawingml/2006/main" noGrp="1"/>
          </p:cNvSpPr>
          <p:nvPr/>
        </p:nvSpPr>
        <p:spPr>
          <a:xfrm xmlns:a="http://schemas.openxmlformats.org/drawingml/2006/main">
            <a:off x="6473952" y="3703320"/>
            <a:ext cx="466344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2FB344"/>
                </a:solidFill>
                <a:latin typeface="Hiragino Sans GB"/>
                <a:ea typeface="Hiragino Sans GB"/>
                <a:cs typeface="Hiragino Sans GB"/>
              </a:defRPr>
            </a:defPPr>
          </a:lstStyle>
          <a:p xmlns:a="http://schemas.openxmlformats.org/drawingml/2006/main">
            <a:pPr algn="l">
              <a:buNone/>
              <a:defRPr sz="1600" b="1">
                <a:solidFill>
                  <a:srgbClr val="2FB344"/>
                </a:solidFill>
                <a:latin typeface="Hiragino Sans GB"/>
                <a:ea typeface="Hiragino Sans GB"/>
                <a:cs typeface="Hiragino Sans GB"/>
              </a:defRPr>
            </a:pPr>
            <a:r>
              <a:rPr sz="1600" b="1">
                <a:solidFill>
                  <a:srgbClr val="2FB344"/>
                </a:solidFill>
                <a:latin typeface="Hiragino Sans GB"/>
                <a:ea typeface="Hiragino Sans GB"/>
                <a:cs typeface="Hiragino Sans GB"/>
              </a:rPr>
              <a:t>竞争背景</a:t>
            </a:r>
          </a:p>
        </p:txBody>
      </p:sp>
      <p:sp>
        <p:nvSpPr>
          <p:cNvPr id="14" name="TextBox 13">
            <a:extLst xmlns:a="http://schemas.openxmlformats.org/drawingml/2006/main">
              <a:ext uri="{FF2B5EF4-FFF2-40B4-BE49-F238E27FC236}">
                <a16:creationId xmlns:a16="http://schemas.microsoft.com/office/drawing/2014/main" id="{389F6F25-49CA-4955-9EDE-89632AFB7719}"/>
              </a:ext>
            </a:extLst>
          </p:cNvPr>
          <p:cNvSpPr>
            <a:spLocks xmlns:a="http://schemas.openxmlformats.org/drawingml/2006/main" noGrp="1"/>
          </p:cNvSpPr>
          <p:nvPr/>
        </p:nvSpPr>
        <p:spPr>
          <a:xfrm xmlns:a="http://schemas.openxmlformats.org/drawingml/2006/main">
            <a:off x="6473952" y="4133088"/>
            <a:ext cx="4663440" cy="1219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2026 年 2–3 月的历史快照显示，在 Duolingo、Babbel</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和 Busuu 三个对比品牌中，Duolingo 的网站流量和社媒</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受众规模明显领先。由于缺少原始带日期截图，这些历史数</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值目前无法独立复核，因此仅作为竞争背景参考，不用于判</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断市场份额或长期竞争趋势。</a:t>
            </a:r>
          </a:p>
        </p:txBody>
      </p:sp>
      <p:sp>
        <p:nvSpPr>
          <p:cNvPr id="15" name="Evidence footer">
            <a:extLst xmlns:a="http://schemas.openxmlformats.org/drawingml/2006/main">
              <a:ext uri="{FF2B5EF4-FFF2-40B4-BE49-F238E27FC236}">
                <a16:creationId xmlns:a16="http://schemas.microsoft.com/office/drawing/2014/main" id="{A62F6F63-2B98-4B4F-99F4-78D4A1C88C1A}"/>
              </a:ext>
            </a:extLst>
          </p:cNvPr>
          <p:cNvSpPr>
            <a:spLocks xmlns:a="http://schemas.openxmlformats.org/drawingml/2006/main" noGrp="1"/>
          </p:cNvSpPr>
          <p:nvPr/>
        </p:nvSpPr>
        <p:spPr>
          <a:xfrm xmlns:a="http://schemas.openxmlformats.org/drawingml/2006/main">
            <a:off x="647700"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900">
                <a:solidFill>
                  <a:srgbClr val="68737D"/>
                </a:solidFill>
                <a:latin typeface="Hiragino Sans GB"/>
                <a:ea typeface="Hiragino Sans GB"/>
                <a:cs typeface="Hiragino Sans GB"/>
              </a:defRPr>
            </a:defPPr>
          </a:lstStyle>
          <a:p xmlns:a="http://schemas.openxmlformats.org/drawingml/2006/main">
            <a:pPr algn="l">
              <a:buNone/>
              <a:defRPr sz="900">
                <a:solidFill>
                  <a:srgbClr val="68737D"/>
                </a:solidFill>
                <a:latin typeface="Hiragino Sans GB"/>
                <a:ea typeface="Hiragino Sans GB"/>
                <a:cs typeface="Hiragino Sans GB"/>
              </a:defRPr>
            </a:pPr>
            <a:r>
              <a:rPr sz="900">
                <a:solidFill>
                  <a:srgbClr val="68737D"/>
                </a:solidFill>
                <a:latin typeface="Hiragino Sans GB"/>
                <a:ea typeface="Hiragino Sans GB"/>
                <a:cs typeface="Hiragino Sans GB"/>
              </a:rPr>
              <a:t>来源：Duolingo Investor Relations / SEC。指标定义与完整来源见方法说明、来源清单及演示文稿备注。</a:t>
            </a:r>
          </a:p>
        </p:txBody>
      </p:sp>
    </p:spTree>
    <p:extLst>
      <p:ext uri="{BB962C8B-B14F-4D97-AF65-F5344CB8AC3E}">
        <p14:creationId xmlns:p14="http://schemas.microsoft.com/office/powerpoint/2010/main" val="375227116"/>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27DBE56-5750-48D0-AFBF-DFF3DCD19044}"/>
              </a:ext>
            </a:extLst>
          </p:cNvPr>
          <p:cNvSpPr>
            <a:spLocks xmlns:a="http://schemas.openxmlformats.org/drawingml/2006/main" noGrp="1"/>
          </p:cNvSpPr>
          <p:nvPr/>
        </p:nvSpPr>
        <p:spPr>
          <a:xfrm xmlns:a="http://schemas.openxmlformats.org/drawingml/2006/main">
            <a:off x="640080" y="411480"/>
            <a:ext cx="10972800" cy="457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400" b="1">
                <a:solidFill>
                  <a:srgbClr val="172B4D"/>
                </a:solidFill>
                <a:latin typeface="Hiragino Sans GB"/>
                <a:ea typeface="Hiragino Sans GB"/>
                <a:cs typeface="Hiragino Sans GB"/>
              </a:defRPr>
            </a:defPPr>
          </a:lstStyle>
          <a:p xmlns:a="http://schemas.openxmlformats.org/drawingml/2006/main">
            <a:pPr algn="l">
              <a:buNone/>
              <a:defRPr sz="2400" b="1">
                <a:solidFill>
                  <a:srgbClr val="172B4D"/>
                </a:solidFill>
                <a:latin typeface="Hiragino Sans GB"/>
                <a:ea typeface="Hiragino Sans GB"/>
                <a:cs typeface="Hiragino Sans GB"/>
              </a:defRPr>
            </a:pPr>
            <a:r>
              <a:rPr sz="2400" b="1">
                <a:solidFill>
                  <a:srgbClr val="172B4D"/>
                </a:solidFill>
                <a:latin typeface="Hiragino Sans GB"/>
                <a:ea typeface="Hiragino Sans GB"/>
                <a:cs typeface="Hiragino Sans GB"/>
              </a:rPr>
              <a:t>5. 运营重点</a:t>
            </a:r>
          </a:p>
        </p:txBody>
      </p:sp>
      <p:sp>
        <p:nvSpPr>
          <p:cNvPr id="3" name="Rounded Rectangle 2">
            <a:extLst xmlns:a="http://schemas.openxmlformats.org/drawingml/2006/main">
              <a:ext uri="{FF2B5EF4-FFF2-40B4-BE49-F238E27FC236}">
                <a16:creationId xmlns:a16="http://schemas.microsoft.com/office/drawing/2014/main" id="{268BCA7B-A6A5-4444-80AA-9FAA3E41EA0E}"/>
              </a:ext>
            </a:extLst>
          </p:cNvPr>
          <p:cNvSpPr>
            <a:spLocks xmlns:a="http://schemas.openxmlformats.org/drawingml/2006/main" noGrp="1"/>
          </p:cNvSpPr>
          <p:nvPr/>
        </p:nvSpPr>
        <p:spPr>
          <a:xfrm xmlns:a="http://schemas.openxmlformats.org/drawingml/2006/main">
            <a:off x="640080" y="1417320"/>
            <a:ext cx="3429000" cy="40233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B0FB51B-E585-4154-ACFC-3ED6EE12F8C2}"/>
              </a:ext>
            </a:extLst>
          </p:cNvPr>
          <p:cNvSpPr>
            <a:spLocks xmlns:a="http://schemas.openxmlformats.org/drawingml/2006/main" noGrp="1"/>
          </p:cNvSpPr>
          <p:nvPr/>
        </p:nvSpPr>
        <p:spPr>
          <a:xfrm xmlns:a="http://schemas.openxmlformats.org/drawingml/2006/main">
            <a:off x="868680" y="1691640"/>
            <a:ext cx="45720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800" b="1">
                <a:solidFill>
                  <a:srgbClr val="2FB344"/>
                </a:solidFill>
                <a:latin typeface="Hiragino Sans GB"/>
                <a:ea typeface="Hiragino Sans GB"/>
                <a:cs typeface="Hiragino Sans GB"/>
              </a:defRPr>
            </a:defPPr>
          </a:lstStyle>
          <a:p xmlns:a="http://schemas.openxmlformats.org/drawingml/2006/main">
            <a:pPr algn="l">
              <a:buNone/>
              <a:defRPr sz="1800" b="1">
                <a:solidFill>
                  <a:srgbClr val="2FB344"/>
                </a:solidFill>
                <a:latin typeface="Hiragino Sans GB"/>
                <a:ea typeface="Hiragino Sans GB"/>
                <a:cs typeface="Hiragino Sans GB"/>
              </a:defRPr>
            </a:pPr>
            <a:r>
              <a:rPr sz="1800" b="1">
                <a:solidFill>
                  <a:srgbClr val="2FB344"/>
                </a:solidFill>
                <a:latin typeface="Hiragino Sans GB"/>
                <a:ea typeface="Hiragino Sans GB"/>
                <a:cs typeface="Hiragino Sans GB"/>
              </a:rPr>
              <a:t>01</a:t>
            </a:r>
          </a:p>
        </p:txBody>
      </p:sp>
      <p:sp>
        <p:nvSpPr>
          <p:cNvPr id="5" name="TextBox 4">
            <a:extLst xmlns:a="http://schemas.openxmlformats.org/drawingml/2006/main">
              <a:ext uri="{FF2B5EF4-FFF2-40B4-BE49-F238E27FC236}">
                <a16:creationId xmlns:a16="http://schemas.microsoft.com/office/drawing/2014/main" id="{B0A441AA-36F2-469E-B4CD-152005966A9C}"/>
              </a:ext>
            </a:extLst>
          </p:cNvPr>
          <p:cNvSpPr>
            <a:spLocks xmlns:a="http://schemas.openxmlformats.org/drawingml/2006/main" noGrp="1"/>
          </p:cNvSpPr>
          <p:nvPr/>
        </p:nvSpPr>
        <p:spPr>
          <a:xfrm xmlns:a="http://schemas.openxmlformats.org/drawingml/2006/main">
            <a:off x="868680" y="2240280"/>
            <a:ext cx="2834640" cy="73152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关注活跃增长质量</a:t>
            </a:r>
          </a:p>
        </p:txBody>
      </p:sp>
      <p:sp>
        <p:nvSpPr>
          <p:cNvPr id="6" name="TextBox 5">
            <a:extLst xmlns:a="http://schemas.openxmlformats.org/drawingml/2006/main">
              <a:ext uri="{FF2B5EF4-FFF2-40B4-BE49-F238E27FC236}">
                <a16:creationId xmlns:a16="http://schemas.microsoft.com/office/drawing/2014/main" id="{F36A3854-C2A9-444A-A52B-7A998D7447AC}"/>
              </a:ext>
            </a:extLst>
          </p:cNvPr>
          <p:cNvSpPr>
            <a:spLocks xmlns:a="http://schemas.openxmlformats.org/drawingml/2006/main" noGrp="1"/>
          </p:cNvSpPr>
          <p:nvPr/>
        </p:nvSpPr>
        <p:spPr>
          <a:xfrm xmlns:a="http://schemas.openxmlformats.org/drawingml/2006/main">
            <a:off x="868680" y="3063240"/>
            <a:ext cx="2834640" cy="20193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进一步分析 DAU 增速高于 MAU</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的原因，并持续观察 DAU/MAU</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的提升是否能够维持，避免只用用</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户规模判断增长质量。</a:t>
            </a:r>
          </a:p>
        </p:txBody>
      </p:sp>
      <p:sp>
        <p:nvSpPr>
          <p:cNvPr id="7" name="Rounded Rectangle 6">
            <a:extLst xmlns:a="http://schemas.openxmlformats.org/drawingml/2006/main">
              <a:ext uri="{FF2B5EF4-FFF2-40B4-BE49-F238E27FC236}">
                <a16:creationId xmlns:a16="http://schemas.microsoft.com/office/drawing/2014/main" id="{11E52B14-12D3-486B-BD23-3E1940D026F0}"/>
              </a:ext>
            </a:extLst>
          </p:cNvPr>
          <p:cNvSpPr>
            <a:spLocks xmlns:a="http://schemas.openxmlformats.org/drawingml/2006/main" noGrp="1"/>
          </p:cNvSpPr>
          <p:nvPr/>
        </p:nvSpPr>
        <p:spPr>
          <a:xfrm xmlns:a="http://schemas.openxmlformats.org/drawingml/2006/main">
            <a:off x="4389120" y="1417320"/>
            <a:ext cx="3429000" cy="40233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B99E77C-0294-40C7-AF2B-DFBED618E849}"/>
              </a:ext>
            </a:extLst>
          </p:cNvPr>
          <p:cNvSpPr>
            <a:spLocks xmlns:a="http://schemas.openxmlformats.org/drawingml/2006/main" noGrp="1"/>
          </p:cNvSpPr>
          <p:nvPr/>
        </p:nvSpPr>
        <p:spPr>
          <a:xfrm xmlns:a="http://schemas.openxmlformats.org/drawingml/2006/main">
            <a:off x="4617720" y="1691640"/>
            <a:ext cx="45720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800" b="1">
                <a:solidFill>
                  <a:srgbClr val="2FB344"/>
                </a:solidFill>
                <a:latin typeface="Hiragino Sans GB"/>
                <a:ea typeface="Hiragino Sans GB"/>
                <a:cs typeface="Hiragino Sans GB"/>
              </a:defRPr>
            </a:defPPr>
          </a:lstStyle>
          <a:p xmlns:a="http://schemas.openxmlformats.org/drawingml/2006/main">
            <a:pPr algn="l">
              <a:buNone/>
              <a:defRPr sz="1800" b="1">
                <a:solidFill>
                  <a:srgbClr val="2FB344"/>
                </a:solidFill>
                <a:latin typeface="Hiragino Sans GB"/>
                <a:ea typeface="Hiragino Sans GB"/>
                <a:cs typeface="Hiragino Sans GB"/>
              </a:defRPr>
            </a:pPr>
            <a:r>
              <a:rPr sz="1800" b="1">
                <a:solidFill>
                  <a:srgbClr val="2FB344"/>
                </a:solidFill>
                <a:latin typeface="Hiragino Sans GB"/>
                <a:ea typeface="Hiragino Sans GB"/>
                <a:cs typeface="Hiragino Sans GB"/>
              </a:rPr>
              <a:t>02</a:t>
            </a:r>
          </a:p>
        </p:txBody>
      </p:sp>
      <p:sp>
        <p:nvSpPr>
          <p:cNvPr id="9" name="TextBox 8">
            <a:extLst xmlns:a="http://schemas.openxmlformats.org/drawingml/2006/main">
              <a:ext uri="{FF2B5EF4-FFF2-40B4-BE49-F238E27FC236}">
                <a16:creationId xmlns:a16="http://schemas.microsoft.com/office/drawing/2014/main" id="{DA8A2B8E-2548-433F-9BDC-A65AAE80D23A}"/>
              </a:ext>
            </a:extLst>
          </p:cNvPr>
          <p:cNvSpPr>
            <a:spLocks xmlns:a="http://schemas.openxmlformats.org/drawingml/2006/main" noGrp="1"/>
          </p:cNvSpPr>
          <p:nvPr/>
        </p:nvSpPr>
        <p:spPr>
          <a:xfrm xmlns:a="http://schemas.openxmlformats.org/drawingml/2006/main">
            <a:off x="4617720" y="2240280"/>
            <a:ext cx="2834640" cy="73152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强化会员价值沟通</a:t>
            </a:r>
          </a:p>
        </p:txBody>
      </p:sp>
      <p:sp>
        <p:nvSpPr>
          <p:cNvPr id="10" name="TextBox 9">
            <a:extLst xmlns:a="http://schemas.openxmlformats.org/drawingml/2006/main">
              <a:ext uri="{FF2B5EF4-FFF2-40B4-BE49-F238E27FC236}">
                <a16:creationId xmlns:a16="http://schemas.microsoft.com/office/drawing/2014/main" id="{05E445DB-8B69-4D0B-866C-1795BB933684}"/>
              </a:ext>
            </a:extLst>
          </p:cNvPr>
          <p:cNvSpPr>
            <a:spLocks xmlns:a="http://schemas.openxmlformats.org/drawingml/2006/main" noGrp="1"/>
          </p:cNvSpPr>
          <p:nvPr/>
        </p:nvSpPr>
        <p:spPr>
          <a:xfrm xmlns:a="http://schemas.openxmlformats.org/drawingml/2006/main">
            <a:off x="4617720" y="3063240"/>
            <a:ext cx="2834640" cy="20193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测试更清晰的会员价值表达和更有</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针对性的试用策略，同时避免仅凭</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收入增速推断转化效率已经提升。</a:t>
            </a:r>
          </a:p>
        </p:txBody>
      </p:sp>
      <p:sp>
        <p:nvSpPr>
          <p:cNvPr id="11" name="Rounded Rectangle 10">
            <a:extLst xmlns:a="http://schemas.openxmlformats.org/drawingml/2006/main">
              <a:ext uri="{FF2B5EF4-FFF2-40B4-BE49-F238E27FC236}">
                <a16:creationId xmlns:a16="http://schemas.microsoft.com/office/drawing/2014/main" id="{E48961B8-D9E2-4E5E-82DF-540CD071340B}"/>
              </a:ext>
            </a:extLst>
          </p:cNvPr>
          <p:cNvSpPr>
            <a:spLocks xmlns:a="http://schemas.openxmlformats.org/drawingml/2006/main" noGrp="1"/>
          </p:cNvSpPr>
          <p:nvPr/>
        </p:nvSpPr>
        <p:spPr>
          <a:xfrm xmlns:a="http://schemas.openxmlformats.org/drawingml/2006/main">
            <a:off x="8138160" y="1417320"/>
            <a:ext cx="3429000" cy="40233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4DCE3DC-9F59-4BD2-856E-A2A8F018A727}"/>
              </a:ext>
            </a:extLst>
          </p:cNvPr>
          <p:cNvSpPr>
            <a:spLocks xmlns:a="http://schemas.openxmlformats.org/drawingml/2006/main" noGrp="1"/>
          </p:cNvSpPr>
          <p:nvPr/>
        </p:nvSpPr>
        <p:spPr>
          <a:xfrm xmlns:a="http://schemas.openxmlformats.org/drawingml/2006/main">
            <a:off x="8366760" y="1691640"/>
            <a:ext cx="457200" cy="36576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800" b="1">
                <a:solidFill>
                  <a:srgbClr val="2FB344"/>
                </a:solidFill>
                <a:latin typeface="Hiragino Sans GB"/>
                <a:ea typeface="Hiragino Sans GB"/>
                <a:cs typeface="Hiragino Sans GB"/>
              </a:defRPr>
            </a:defPPr>
          </a:lstStyle>
          <a:p xmlns:a="http://schemas.openxmlformats.org/drawingml/2006/main">
            <a:pPr algn="l">
              <a:buNone/>
              <a:defRPr sz="1800" b="1">
                <a:solidFill>
                  <a:srgbClr val="2FB344"/>
                </a:solidFill>
                <a:latin typeface="Hiragino Sans GB"/>
                <a:ea typeface="Hiragino Sans GB"/>
                <a:cs typeface="Hiragino Sans GB"/>
              </a:defRPr>
            </a:pPr>
            <a:r>
              <a:rPr sz="1800" b="1">
                <a:solidFill>
                  <a:srgbClr val="2FB344"/>
                </a:solidFill>
                <a:latin typeface="Hiragino Sans GB"/>
                <a:ea typeface="Hiragino Sans GB"/>
                <a:cs typeface="Hiragino Sans GB"/>
              </a:rPr>
              <a:t>03</a:t>
            </a:r>
          </a:p>
        </p:txBody>
      </p:sp>
      <p:sp>
        <p:nvSpPr>
          <p:cNvPr id="13" name="TextBox 12">
            <a:extLst xmlns:a="http://schemas.openxmlformats.org/drawingml/2006/main">
              <a:ext uri="{FF2B5EF4-FFF2-40B4-BE49-F238E27FC236}">
                <a16:creationId xmlns:a16="http://schemas.microsoft.com/office/drawing/2014/main" id="{25B270FD-31E8-4476-B79A-392480BCA919}"/>
              </a:ext>
            </a:extLst>
          </p:cNvPr>
          <p:cNvSpPr>
            <a:spLocks xmlns:a="http://schemas.openxmlformats.org/drawingml/2006/main" noGrp="1"/>
          </p:cNvSpPr>
          <p:nvPr/>
        </p:nvSpPr>
        <p:spPr>
          <a:xfrm xmlns:a="http://schemas.openxmlformats.org/drawingml/2006/main">
            <a:off x="8366760" y="2240280"/>
            <a:ext cx="2834640" cy="73152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兼顾增长与用户自主性</a:t>
            </a:r>
          </a:p>
        </p:txBody>
      </p:sp>
      <p:sp>
        <p:nvSpPr>
          <p:cNvPr id="14" name="TextBox 13">
            <a:extLst xmlns:a="http://schemas.openxmlformats.org/drawingml/2006/main">
              <a:ext uri="{FF2B5EF4-FFF2-40B4-BE49-F238E27FC236}">
                <a16:creationId xmlns:a16="http://schemas.microsoft.com/office/drawing/2014/main" id="{185AEED4-1BAD-4175-B04D-4476612E8356}"/>
              </a:ext>
            </a:extLst>
          </p:cNvPr>
          <p:cNvSpPr>
            <a:spLocks xmlns:a="http://schemas.openxmlformats.org/drawingml/2006/main" noGrp="1"/>
          </p:cNvSpPr>
          <p:nvPr/>
        </p:nvSpPr>
        <p:spPr>
          <a:xfrm xmlns:a="http://schemas.openxmlformats.org/drawingml/2006/main">
            <a:off x="8366760" y="3063240"/>
            <a:ext cx="2834640" cy="20193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300">
                <a:solidFill>
                  <a:srgbClr val="263238"/>
                </a:solidFill>
                <a:latin typeface="Hiragino Sans GB"/>
                <a:ea typeface="Hiragino Sans GB"/>
                <a:cs typeface="Hiragino Sans GB"/>
              </a:defRPr>
            </a:defPPr>
          </a:lstStyle>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在推动活跃和商业化增长的同时，</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保留由用户自主调整的互动设置，</a:t>
            </a:r>
          </a:p>
          <a:p xmlns:a="http://schemas.openxmlformats.org/drawingml/2006/main">
            <a:pPr algn="l">
              <a:buNone/>
              <a:defRPr sz="1300">
                <a:solidFill>
                  <a:srgbClr val="263238"/>
                </a:solidFill>
                <a:latin typeface="Hiragino Sans GB"/>
                <a:ea typeface="Hiragino Sans GB"/>
                <a:cs typeface="Hiragino Sans GB"/>
              </a:defRPr>
            </a:pPr>
            <a:r>
              <a:rPr sz="1300" b="0">
                <a:solidFill>
                  <a:srgbClr val="263238"/>
                </a:solidFill>
                <a:latin typeface="Hiragino Sans GB"/>
                <a:ea typeface="Hiragino Sans GB"/>
                <a:cs typeface="Hiragino Sans GB"/>
              </a:rPr>
              <a:t>并持续观察用户对相关机制的反馈。</a:t>
            </a:r>
          </a:p>
        </p:txBody>
      </p:sp>
      <p:sp>
        <p:nvSpPr>
          <p:cNvPr id="15" name="Evidence footer">
            <a:extLst xmlns:a="http://schemas.openxmlformats.org/drawingml/2006/main">
              <a:ext uri="{FF2B5EF4-FFF2-40B4-BE49-F238E27FC236}">
                <a16:creationId xmlns:a16="http://schemas.microsoft.com/office/drawing/2014/main" id="{14666DC3-C7F7-457D-A441-040F358C2B5F}"/>
              </a:ext>
            </a:extLst>
          </p:cNvPr>
          <p:cNvSpPr>
            <a:spLocks xmlns:a="http://schemas.openxmlformats.org/drawingml/2006/main" noGrp="1"/>
          </p:cNvSpPr>
          <p:nvPr/>
        </p:nvSpPr>
        <p:spPr>
          <a:xfrm xmlns:a="http://schemas.openxmlformats.org/drawingml/2006/main">
            <a:off x="647700"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900">
                <a:solidFill>
                  <a:srgbClr val="68737D"/>
                </a:solidFill>
                <a:latin typeface="Hiragino Sans GB"/>
                <a:ea typeface="Hiragino Sans GB"/>
                <a:cs typeface="Hiragino Sans GB"/>
              </a:defRPr>
            </a:defPPr>
          </a:lstStyle>
          <a:p xmlns:a="http://schemas.openxmlformats.org/drawingml/2006/main">
            <a:pPr algn="l">
              <a:buNone/>
              <a:defRPr sz="900">
                <a:solidFill>
                  <a:srgbClr val="68737D"/>
                </a:solidFill>
                <a:latin typeface="Hiragino Sans GB"/>
                <a:ea typeface="Hiragino Sans GB"/>
                <a:cs typeface="Hiragino Sans GB"/>
              </a:defRPr>
            </a:pPr>
            <a:r>
              <a:rPr sz="900">
                <a:solidFill>
                  <a:srgbClr val="68737D"/>
                </a:solidFill>
                <a:latin typeface="Hiragino Sans GB"/>
                <a:ea typeface="Hiragino Sans GB"/>
                <a:cs typeface="Hiragino Sans GB"/>
              </a:rPr>
              <a:t>来源：Duolingo Investor Relations / SEC。指标定义与完整来源见方法说明、来源清单及演示文稿备注。</a:t>
            </a:r>
          </a:p>
        </p:txBody>
      </p:sp>
      <p:sp>
        <p:nvSpPr>
          <p:cNvPr id="16" name="Operations introduction">
            <a:extLst xmlns:a="http://schemas.openxmlformats.org/drawingml/2006/main">
              <a:ext uri="{FF2B5EF4-FFF2-40B4-BE49-F238E27FC236}">
                <a16:creationId xmlns:a16="http://schemas.microsoft.com/office/drawing/2014/main" id="{77E5F800-1F21-47F6-B264-D3D29ACFD08E}"/>
              </a:ext>
            </a:extLst>
          </p:cNvPr>
          <p:cNvSpPr>
            <a:spLocks xmlns:a="http://schemas.openxmlformats.org/drawingml/2006/main" noGrp="1"/>
          </p:cNvSpPr>
          <p:nvPr/>
        </p:nvSpPr>
        <p:spPr>
          <a:xfrm xmlns:a="http://schemas.openxmlformats.org/drawingml/2006/main">
            <a:off x="723900" y="8953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a:solidFill>
                  <a:srgbClr val="5C6775"/>
                </a:solidFill>
                <a:latin typeface="Hiragino Sans GB"/>
                <a:ea typeface="Hiragino Sans GB"/>
                <a:cs typeface="Hiragino Sans GB"/>
              </a:defRPr>
            </a:defPPr>
          </a:lstStyle>
          <a:p xmlns:a="http://schemas.openxmlformats.org/drawingml/2006/main">
            <a:pPr>
              <a:defRPr sz="1125">
                <a:solidFill>
                  <a:srgbClr val="5C6775"/>
                </a:solidFill>
                <a:latin typeface="Hiragino Sans GB"/>
                <a:ea typeface="Hiragino Sans GB"/>
                <a:cs typeface="Hiragino Sans GB"/>
              </a:defRPr>
            </a:pPr>
            <a:r>
              <a:rPr sz="1125">
                <a:solidFill>
                  <a:srgbClr val="5C6775"/>
                </a:solidFill>
                <a:latin typeface="Hiragino Sans GB"/>
                <a:ea typeface="Hiragino Sans GB"/>
                <a:cs typeface="Hiragino Sans GB"/>
              </a:rPr>
              <a:t>以下方向基于公开数据提出，仍需结合内部用户数据和实际测试进一步验证。本项目不声称相关策略已经实施或产生业务效果。</a:t>
            </a:r>
          </a:p>
        </p:txBody>
      </p:sp>
    </p:spTree>
    <p:extLst>
      <p:ext uri="{BB962C8B-B14F-4D97-AF65-F5344CB8AC3E}">
        <p14:creationId xmlns:p14="http://schemas.microsoft.com/office/powerpoint/2010/main" val="433251944"/>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0B76636-71C8-4096-ADF3-0208EFE7A673}"/>
              </a:ext>
            </a:extLst>
          </p:cNvPr>
          <p:cNvSpPr>
            <a:spLocks xmlns:a="http://schemas.openxmlformats.org/drawingml/2006/main" noGrp="1"/>
          </p:cNvSpPr>
          <p:nvPr/>
        </p:nvSpPr>
        <p:spPr>
          <a:xfrm xmlns:a="http://schemas.openxmlformats.org/drawingml/2006/main">
            <a:off x="640080" y="411480"/>
            <a:ext cx="10972800" cy="45720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2400" b="1">
                <a:solidFill>
                  <a:srgbClr val="172B4D"/>
                </a:solidFill>
                <a:latin typeface="Hiragino Sans GB"/>
                <a:ea typeface="Hiragino Sans GB"/>
                <a:cs typeface="Hiragino Sans GB"/>
              </a:defRPr>
            </a:defPPr>
          </a:lstStyle>
          <a:p xmlns:a="http://schemas.openxmlformats.org/drawingml/2006/main">
            <a:pPr algn="l">
              <a:buNone/>
              <a:defRPr sz="2400" b="1">
                <a:solidFill>
                  <a:srgbClr val="172B4D"/>
                </a:solidFill>
                <a:latin typeface="Hiragino Sans GB"/>
                <a:ea typeface="Hiragino Sans GB"/>
                <a:cs typeface="Hiragino Sans GB"/>
              </a:defRPr>
            </a:pPr>
            <a:r>
              <a:rPr sz="2400" b="1">
                <a:solidFill>
                  <a:srgbClr val="172B4D"/>
                </a:solidFill>
                <a:latin typeface="Hiragino Sans GB"/>
                <a:ea typeface="Hiragino Sans GB"/>
                <a:cs typeface="Hiragino Sans GB"/>
              </a:rPr>
              <a:t>6. 方法与分析局限</a:t>
            </a:r>
          </a:p>
        </p:txBody>
      </p:sp>
      <p:sp>
        <p:nvSpPr>
          <p:cNvPr id="3" name="TextBox 2">
            <a:extLst xmlns:a="http://schemas.openxmlformats.org/drawingml/2006/main">
              <a:ext uri="{FF2B5EF4-FFF2-40B4-BE49-F238E27FC236}">
                <a16:creationId xmlns:a16="http://schemas.microsoft.com/office/drawing/2014/main" id="{214B67E5-382A-46F5-8159-561AA429727D}"/>
              </a:ext>
            </a:extLst>
          </p:cNvPr>
          <p:cNvSpPr>
            <a:spLocks xmlns:a="http://schemas.openxmlformats.org/drawingml/2006/main" noGrp="1"/>
          </p:cNvSpPr>
          <p:nvPr/>
        </p:nvSpPr>
        <p:spPr>
          <a:xfrm xmlns:a="http://schemas.openxmlformats.org/drawingml/2006/main">
            <a:off x="731520" y="1188720"/>
            <a:ext cx="502920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分析流程</a:t>
            </a:r>
          </a:p>
        </p:txBody>
      </p:sp>
      <p:sp>
        <p:nvSpPr>
          <p:cNvPr id="4" name="TextBox 3">
            <a:extLst xmlns:a="http://schemas.openxmlformats.org/drawingml/2006/main">
              <a:ext uri="{FF2B5EF4-FFF2-40B4-BE49-F238E27FC236}">
                <a16:creationId xmlns:a16="http://schemas.microsoft.com/office/drawing/2014/main" id="{19B6FCED-B0A7-451D-A7EE-0B90069D7481}"/>
              </a:ext>
            </a:extLst>
          </p:cNvPr>
          <p:cNvSpPr>
            <a:spLocks xmlns:a="http://schemas.openxmlformats.org/drawingml/2006/main" noGrp="1"/>
          </p:cNvSpPr>
          <p:nvPr/>
        </p:nvSpPr>
        <p:spPr>
          <a:xfrm xmlns:a="http://schemas.openxmlformats.org/drawingml/2006/main">
            <a:off x="822960" y="1691640"/>
            <a:ext cx="49834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使用 Duolingo 官方披露的 12 个季度、6 项经营指标，逐项记</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录数据来源与指标定义。</a:t>
            </a:r>
          </a:p>
        </p:txBody>
      </p:sp>
      <p:sp>
        <p:nvSpPr>
          <p:cNvPr id="5" name="TextBox 4">
            <a:extLst xmlns:a="http://schemas.openxmlformats.org/drawingml/2006/main">
              <a:ext uri="{FF2B5EF4-FFF2-40B4-BE49-F238E27FC236}">
                <a16:creationId xmlns:a16="http://schemas.microsoft.com/office/drawing/2014/main" id="{6F710B50-6771-48C6-9452-25A8CD2A0F6D}"/>
              </a:ext>
            </a:extLst>
          </p:cNvPr>
          <p:cNvSpPr>
            <a:spLocks xmlns:a="http://schemas.openxmlformats.org/drawingml/2006/main" noGrp="1"/>
          </p:cNvSpPr>
          <p:nvPr/>
        </p:nvSpPr>
        <p:spPr>
          <a:xfrm xmlns:a="http://schemas.openxmlformats.org/drawingml/2006/main">
            <a:off x="822960" y="2313432"/>
            <a:ext cx="49834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比较期间增长、QoQ、YoY、DAU/MAU 和增长指数；增速差</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用百分点表示。</a:t>
            </a:r>
          </a:p>
        </p:txBody>
      </p:sp>
      <p:sp>
        <p:nvSpPr>
          <p:cNvPr id="6" name="TextBox 5">
            <a:extLst xmlns:a="http://schemas.openxmlformats.org/drawingml/2006/main">
              <a:ext uri="{FF2B5EF4-FFF2-40B4-BE49-F238E27FC236}">
                <a16:creationId xmlns:a16="http://schemas.microsoft.com/office/drawing/2014/main" id="{D94082E4-67EF-4E83-B1A1-D090D451217F}"/>
              </a:ext>
            </a:extLst>
          </p:cNvPr>
          <p:cNvSpPr>
            <a:spLocks xmlns:a="http://schemas.openxmlformats.org/drawingml/2006/main" noGrp="1"/>
          </p:cNvSpPr>
          <p:nvPr/>
        </p:nvSpPr>
        <p:spPr>
          <a:xfrm xmlns:a="http://schemas.openxmlformats.org/drawingml/2006/main">
            <a:off x="822960" y="2935224"/>
            <a:ext cx="49834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通过 SQL 计算逻辑与 Python 结果交叉核对 16 个衍生字段，</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缺少前期数据的比较保留为空值。</a:t>
            </a:r>
          </a:p>
        </p:txBody>
      </p:sp>
      <p:sp>
        <p:nvSpPr>
          <p:cNvPr id="7" name="TextBox 6">
            <a:extLst xmlns:a="http://schemas.openxmlformats.org/drawingml/2006/main">
              <a:ext uri="{FF2B5EF4-FFF2-40B4-BE49-F238E27FC236}">
                <a16:creationId xmlns:a16="http://schemas.microsoft.com/office/drawing/2014/main" id="{37DD33CD-81E8-467E-8854-B0D3F100D3B5}"/>
              </a:ext>
            </a:extLst>
          </p:cNvPr>
          <p:cNvSpPr>
            <a:spLocks xmlns:a="http://schemas.openxmlformats.org/drawingml/2006/main" noGrp="1"/>
          </p:cNvSpPr>
          <p:nvPr/>
        </p:nvSpPr>
        <p:spPr>
          <a:xfrm xmlns:a="http://schemas.openxmlformats.org/drawingml/2006/main">
            <a:off x="822960" y="3557016"/>
            <a:ext cx="49834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两页已完成并发布的英文 Tableau Dashboard 为最终交互式</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展示，中英文案例共用同一组 Dashboard。</a:t>
            </a:r>
          </a:p>
        </p:txBody>
      </p:sp>
      <p:sp>
        <p:nvSpPr>
          <p:cNvPr id="8" name="TextBox 7">
            <a:extLst xmlns:a="http://schemas.openxmlformats.org/drawingml/2006/main">
              <a:ext uri="{FF2B5EF4-FFF2-40B4-BE49-F238E27FC236}">
                <a16:creationId xmlns:a16="http://schemas.microsoft.com/office/drawing/2014/main" id="{101752DC-A8A5-4E9A-B646-6FE5CFD6D795}"/>
              </a:ext>
            </a:extLst>
          </p:cNvPr>
          <p:cNvSpPr>
            <a:spLocks xmlns:a="http://schemas.openxmlformats.org/drawingml/2006/main" noGrp="1"/>
          </p:cNvSpPr>
          <p:nvPr/>
        </p:nvSpPr>
        <p:spPr>
          <a:xfrm xmlns:a="http://schemas.openxmlformats.org/drawingml/2006/main">
            <a:off x="6217920" y="1188720"/>
            <a:ext cx="4937760" cy="32004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600" b="1">
                <a:solidFill>
                  <a:srgbClr val="172B4D"/>
                </a:solidFill>
                <a:latin typeface="Hiragino Sans GB"/>
                <a:ea typeface="Hiragino Sans GB"/>
                <a:cs typeface="Hiragino Sans GB"/>
              </a:defRPr>
            </a:defPPr>
          </a:lstStyle>
          <a:p xmlns:a="http://schemas.openxmlformats.org/drawingml/2006/main">
            <a:pPr algn="l">
              <a:buNone/>
              <a:defRPr sz="1600" b="1">
                <a:solidFill>
                  <a:srgbClr val="172B4D"/>
                </a:solidFill>
                <a:latin typeface="Hiragino Sans GB"/>
                <a:ea typeface="Hiragino Sans GB"/>
                <a:cs typeface="Hiragino Sans GB"/>
              </a:defRPr>
            </a:pPr>
            <a:r>
              <a:rPr sz="1600" b="1">
                <a:solidFill>
                  <a:srgbClr val="172B4D"/>
                </a:solidFill>
                <a:latin typeface="Hiragino Sans GB"/>
                <a:ea typeface="Hiragino Sans GB"/>
                <a:cs typeface="Hiragino Sans GB"/>
              </a:rPr>
              <a:t>分析局限</a:t>
            </a:r>
          </a:p>
        </p:txBody>
      </p:sp>
      <p:sp>
        <p:nvSpPr>
          <p:cNvPr id="9" name="TextBox 8">
            <a:extLst xmlns:a="http://schemas.openxmlformats.org/drawingml/2006/main">
              <a:ext uri="{FF2B5EF4-FFF2-40B4-BE49-F238E27FC236}">
                <a16:creationId xmlns:a16="http://schemas.microsoft.com/office/drawing/2014/main" id="{7ACA7EE6-AA55-4F79-A973-527CD2D3D684}"/>
              </a:ext>
            </a:extLst>
          </p:cNvPr>
          <p:cNvSpPr>
            <a:spLocks xmlns:a="http://schemas.openxmlformats.org/drawingml/2006/main" noGrp="1"/>
          </p:cNvSpPr>
          <p:nvPr/>
        </p:nvSpPr>
        <p:spPr>
          <a:xfrm xmlns:a="http://schemas.openxmlformats.org/drawingml/2006/main">
            <a:off x="6309360" y="1691640"/>
            <a:ext cx="47548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公开汇总数据无法支持同期群留存（cohort retention）或</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真实免费到付费转化漏斗分析。</a:t>
            </a:r>
          </a:p>
        </p:txBody>
      </p:sp>
      <p:sp>
        <p:nvSpPr>
          <p:cNvPr id="10" name="TextBox 9">
            <a:extLst xmlns:a="http://schemas.openxmlformats.org/drawingml/2006/main">
              <a:ext uri="{FF2B5EF4-FFF2-40B4-BE49-F238E27FC236}">
                <a16:creationId xmlns:a16="http://schemas.microsoft.com/office/drawing/2014/main" id="{72AA69E1-100A-4402-A516-565C606B27BA}"/>
              </a:ext>
            </a:extLst>
          </p:cNvPr>
          <p:cNvSpPr>
            <a:spLocks xmlns:a="http://schemas.openxmlformats.org/drawingml/2006/main" noGrp="1"/>
          </p:cNvSpPr>
          <p:nvPr/>
        </p:nvSpPr>
        <p:spPr>
          <a:xfrm xmlns:a="http://schemas.openxmlformats.org/drawingml/2006/main">
            <a:off x="6309360" y="2313432"/>
            <a:ext cx="47548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竞品网站与社媒数据为历史单点快照，且缺少原始带日期截</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图，因此仅用于竞争背景参考。</a:t>
            </a:r>
          </a:p>
        </p:txBody>
      </p:sp>
      <p:sp>
        <p:nvSpPr>
          <p:cNvPr id="11" name="TextBox 10">
            <a:extLst xmlns:a="http://schemas.openxmlformats.org/drawingml/2006/main">
              <a:ext uri="{FF2B5EF4-FFF2-40B4-BE49-F238E27FC236}">
                <a16:creationId xmlns:a16="http://schemas.microsoft.com/office/drawing/2014/main" id="{BA8703C4-54CA-45B0-8FAA-F65B5114F737}"/>
              </a:ext>
            </a:extLst>
          </p:cNvPr>
          <p:cNvSpPr>
            <a:spLocks xmlns:a="http://schemas.openxmlformats.org/drawingml/2006/main" noGrp="1"/>
          </p:cNvSpPr>
          <p:nvPr/>
        </p:nvSpPr>
        <p:spPr>
          <a:xfrm xmlns:a="http://schemas.openxmlformats.org/drawingml/2006/main">
            <a:off x="6309360" y="2935224"/>
            <a:ext cx="47548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DAU/MAU 反映整体活跃强度，不等同于留存率。 仅凭付</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费订阅用户和收入增长，无法区分转化率、定价或其他因素各自</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的影响。</a:t>
            </a:r>
          </a:p>
        </p:txBody>
      </p:sp>
      <p:sp>
        <p:nvSpPr>
          <p:cNvPr id="12" name="TextBox 11">
            <a:extLst xmlns:a="http://schemas.openxmlformats.org/drawingml/2006/main">
              <a:ext uri="{FF2B5EF4-FFF2-40B4-BE49-F238E27FC236}">
                <a16:creationId xmlns:a16="http://schemas.microsoft.com/office/drawing/2014/main" id="{3F5C2022-DA4A-4E7F-B6AC-2275369722D9}"/>
              </a:ext>
            </a:extLst>
          </p:cNvPr>
          <p:cNvSpPr>
            <a:spLocks xmlns:a="http://schemas.openxmlformats.org/drawingml/2006/main" noGrp="1"/>
          </p:cNvSpPr>
          <p:nvPr/>
        </p:nvSpPr>
        <p:spPr>
          <a:xfrm xmlns:a="http://schemas.openxmlformats.org/drawingml/2006/main">
            <a:off x="6309360" y="3557016"/>
            <a:ext cx="4754880" cy="590550"/>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l">
              <a:defRPr sz="1250">
                <a:solidFill>
                  <a:srgbClr val="263238"/>
                </a:solidFill>
                <a:latin typeface="Hiragino Sans GB"/>
                <a:ea typeface="Hiragino Sans GB"/>
                <a:cs typeface="Hiragino Sans GB"/>
              </a:defRPr>
            </a:defPPr>
          </a:lstStyle>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 本项目识别的是描述性关系，不进行因果推断，也不声称运</a:t>
            </a:r>
          </a:p>
          <a:p xmlns:a="http://schemas.openxmlformats.org/drawingml/2006/main">
            <a:pPr algn="l">
              <a:buNone/>
              <a:defRPr sz="1250">
                <a:solidFill>
                  <a:srgbClr val="263238"/>
                </a:solidFill>
                <a:latin typeface="Hiragino Sans GB"/>
                <a:ea typeface="Hiragino Sans GB"/>
                <a:cs typeface="Hiragino Sans GB"/>
              </a:defRPr>
            </a:pPr>
            <a:r>
              <a:rPr sz="1250" b="0">
                <a:solidFill>
                  <a:srgbClr val="263238"/>
                </a:solidFill>
                <a:latin typeface="Hiragino Sans GB"/>
                <a:ea typeface="Hiragino Sans GB"/>
                <a:cs typeface="Hiragino Sans GB"/>
              </a:rPr>
              <a:t>营建议已产生实际业务效果。</a:t>
            </a:r>
          </a:p>
        </p:txBody>
      </p:sp>
      <p:sp>
        <p:nvSpPr>
          <p:cNvPr id="13" name="Rounded Rectangle 12">
            <a:extLst xmlns:a="http://schemas.openxmlformats.org/drawingml/2006/main">
              <a:ext uri="{FF2B5EF4-FFF2-40B4-BE49-F238E27FC236}">
                <a16:creationId xmlns:a16="http://schemas.microsoft.com/office/drawing/2014/main" id="{0877CC58-288F-43B0-8AB2-542C95E78CFC}"/>
              </a:ext>
            </a:extLst>
          </p:cNvPr>
          <p:cNvSpPr>
            <a:spLocks xmlns:a="http://schemas.openxmlformats.org/drawingml/2006/main" noGrp="1"/>
          </p:cNvSpPr>
          <p:nvPr/>
        </p:nvSpPr>
        <p:spPr>
          <a:xfrm xmlns:a="http://schemas.openxmlformats.org/drawingml/2006/main">
            <a:off x="731520" y="4663440"/>
            <a:ext cx="10515600" cy="1143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7EC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defPPr>
              <a:defRPr>
                <a:latin typeface="Hiragino Sans GB"/>
                <a:ea typeface="Hiragino Sans GB"/>
                <a:cs typeface="Hiragino Sans GB"/>
              </a:defRPr>
            </a:defPPr>
          </a:lstStyle>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6C7B1E7-5024-419B-9CE8-D1890A4EC5A5}"/>
              </a:ext>
            </a:extLst>
          </p:cNvPr>
          <p:cNvSpPr>
            <a:spLocks xmlns:a="http://schemas.openxmlformats.org/drawingml/2006/main" noGrp="1"/>
          </p:cNvSpPr>
          <p:nvPr/>
        </p:nvSpPr>
        <p:spPr>
          <a:xfrm xmlns:a="http://schemas.openxmlformats.org/drawingml/2006/main">
            <a:off x="960120" y="4724400"/>
            <a:ext cx="10058400" cy="1000125"/>
          </a:xfrm>
          <a:prstGeom xmlns:a="http://schemas.openxmlformats.org/drawingml/2006/main" prst="rect">
            <a:avLst/>
          </a:prstGeom>
          <a:noFill xmlns:a="http://schemas.openxmlformats.org/drawingml/2006/main"/>
        </p:spPr>
        <p:txBody>
          <a:bodyPr xmlns:a="http://schemas.openxmlformats.org/drawingml/2006/main" wrap="none" anchor="t">
            <a:noAutofit/>
          </a:bodyPr>
          <a:lstStyle xmlns:a="http://schemas.openxmlformats.org/drawingml/2006/main">
            <a:defPPr algn="ctr">
              <a:defRPr sz="1200" b="1">
                <a:solidFill>
                  <a:srgbClr val="2FB344"/>
                </a:solidFill>
                <a:latin typeface="Hiragino Sans GB"/>
                <a:ea typeface="Hiragino Sans GB"/>
                <a:cs typeface="Hiragino Sans GB"/>
              </a:defRPr>
            </a:defPPr>
          </a:lstStyle>
          <a:p xmlns:a="http://schemas.openxmlformats.org/drawingml/2006/main">
            <a:pPr algn="ctr">
              <a:buNone/>
              <a:defRPr sz="1200" b="1">
                <a:solidFill>
                  <a:srgbClr val="2FB344"/>
                </a:solidFill>
                <a:latin typeface="Hiragino Sans GB"/>
                <a:ea typeface="Hiragino Sans GB"/>
                <a:cs typeface="Hiragino Sans GB"/>
              </a:defRPr>
            </a:pPr>
            <a:r>
              <a:rPr sz="1200" b="1">
                <a:solidFill>
                  <a:srgbClr val="2FB344"/>
                </a:solidFill>
                <a:latin typeface="Hiragino Sans GB"/>
                <a:ea typeface="Hiragino Sans GB"/>
                <a:cs typeface="Hiragino Sans GB"/>
              </a:rPr>
              <a:t>竞品网站与社媒数据来自原课程项目中记录的历史快照。由于原始带日期截图和部分账户链接未保留，目前无法独立复核其准确采集时间，因此这</a:t>
            </a:r>
          </a:p>
          <a:p xmlns:a="http://schemas.openxmlformats.org/drawingml/2006/main">
            <a:pPr algn="ctr">
              <a:buNone/>
              <a:defRPr sz="1200" b="1">
                <a:solidFill>
                  <a:srgbClr val="2FB344"/>
                </a:solidFill>
                <a:latin typeface="Hiragino Sans GB"/>
                <a:ea typeface="Hiragino Sans GB"/>
                <a:cs typeface="Hiragino Sans GB"/>
              </a:defRPr>
            </a:pPr>
            <a:r>
              <a:rPr sz="1200" b="1">
                <a:solidFill>
                  <a:srgbClr val="2FB344"/>
                </a:solidFill>
                <a:latin typeface="Hiragino Sans GB"/>
                <a:ea typeface="Hiragino Sans GB"/>
                <a:cs typeface="Hiragino Sans GB"/>
              </a:rPr>
              <a:t>些数据仅用于补充竞争背景，不用于推断市场份额、转化率、留存或长期趋势。</a:t>
            </a:r>
          </a:p>
          <a:p xmlns:a="http://schemas.openxmlformats.org/drawingml/2006/main">
            <a:pPr algn="ctr">
              <a:buNone/>
              <a:defRPr sz="1200" b="1">
                <a:solidFill>
                  <a:srgbClr val="2FB344"/>
                </a:solidFill>
                <a:latin typeface="Hiragino Sans GB"/>
                <a:ea typeface="Hiragino Sans GB"/>
                <a:cs typeface="Hiragino Sans GB"/>
              </a:defRPr>
            </a:pPr>
            <a:r>
              <a:rPr sz="1200" b="1">
                <a:solidFill>
                  <a:srgbClr val="2FB344"/>
                </a:solidFill>
                <a:latin typeface="Hiragino Sans GB"/>
                <a:ea typeface="Hiragino Sans GB"/>
                <a:cs typeface="Hiragino Sans GB"/>
              </a:rPr>
              <a:t>本项目将公开数据中的增长变化转化为运营关注重点与验证方向。后续行动仍需结合内部数据和实际测试，并关注免费用户体验与学习体验。</a:t>
            </a:r>
          </a:p>
        </p:txBody>
      </p:sp>
      <p:sp>
        <p:nvSpPr>
          <p:cNvPr id="15" name="Evidence footer">
            <a:extLst xmlns:a="http://schemas.openxmlformats.org/drawingml/2006/main">
              <a:ext uri="{FF2B5EF4-FFF2-40B4-BE49-F238E27FC236}">
                <a16:creationId xmlns:a16="http://schemas.microsoft.com/office/drawing/2014/main" id="{0662D7D6-571E-43FA-B8FE-7CA777D9125C}"/>
              </a:ext>
            </a:extLst>
          </p:cNvPr>
          <p:cNvSpPr>
            <a:spLocks xmlns:a="http://schemas.openxmlformats.org/drawingml/2006/main" noGrp="1"/>
          </p:cNvSpPr>
          <p:nvPr/>
        </p:nvSpPr>
        <p:spPr>
          <a:xfrm xmlns:a="http://schemas.openxmlformats.org/drawingml/2006/main">
            <a:off x="647700"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900">
                <a:solidFill>
                  <a:srgbClr val="68737D"/>
                </a:solidFill>
                <a:latin typeface="Hiragino Sans GB"/>
                <a:ea typeface="Hiragino Sans GB"/>
                <a:cs typeface="Hiragino Sans GB"/>
              </a:defRPr>
            </a:defPPr>
          </a:lstStyle>
          <a:p xmlns:a="http://schemas.openxmlformats.org/drawingml/2006/main">
            <a:pPr algn="l">
              <a:buNone/>
              <a:defRPr sz="900">
                <a:solidFill>
                  <a:srgbClr val="68737D"/>
                </a:solidFill>
                <a:latin typeface="Hiragino Sans GB"/>
                <a:ea typeface="Hiragino Sans GB"/>
                <a:cs typeface="Hiragino Sans GB"/>
              </a:defRPr>
            </a:pPr>
            <a:r>
              <a:rPr sz="900">
                <a:solidFill>
                  <a:srgbClr val="68737D"/>
                </a:solidFill>
                <a:latin typeface="Hiragino Sans GB"/>
                <a:ea typeface="Hiragino Sans GB"/>
                <a:cs typeface="Hiragino Sans GB"/>
              </a:rPr>
              <a:t>来源：Duolingo Investor Relations / SEC。指标定义与完整来源见方法说明、来源清单及演示文稿备注。</a:t>
            </a:r>
          </a:p>
        </p:txBody>
      </p:sp>
      <p:sp>
        <p:nvSpPr>
          <p:cNvPr id="16" name="Technical disclosure">
            <a:extLst xmlns:a="http://schemas.openxmlformats.org/drawingml/2006/main">
              <a:ext uri="{FF2B5EF4-FFF2-40B4-BE49-F238E27FC236}">
                <a16:creationId xmlns:a16="http://schemas.microsoft.com/office/drawing/2014/main" id="{9F9C5F95-2728-437F-933E-89D279479847}"/>
              </a:ext>
            </a:extLst>
          </p:cNvPr>
          <p:cNvSpPr>
            <a:spLocks xmlns:a="http://schemas.openxmlformats.org/drawingml/2006/main" noGrp="1"/>
          </p:cNvSpPr>
          <p:nvPr/>
        </p:nvSpPr>
        <p:spPr>
          <a:xfrm xmlns:a="http://schemas.openxmlformats.org/drawingml/2006/main">
            <a:off x="838200" y="59531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a:solidFill>
                  <a:srgbClr val="68737D"/>
                </a:solidFill>
                <a:latin typeface="Hiragino Sans GB"/>
                <a:ea typeface="Hiragino Sans GB"/>
                <a:cs typeface="Hiragino Sans GB"/>
              </a:defRPr>
            </a:defPPr>
          </a:lstStyle>
          <a:p xmlns:a="http://schemas.openxmlformats.org/drawingml/2006/main">
            <a:pPr>
              <a:defRPr sz="975">
                <a:solidFill>
                  <a:srgbClr val="68737D"/>
                </a:solidFill>
                <a:latin typeface="Hiragino Sans GB"/>
                <a:ea typeface="Hiragino Sans GB"/>
                <a:cs typeface="Hiragino Sans GB"/>
              </a:defRPr>
            </a:pPr>
            <a:r>
              <a:rPr sz="975">
                <a:solidFill>
                  <a:srgbClr val="68737D"/>
                </a:solidFill>
                <a:latin typeface="Hiragino Sans GB"/>
                <a:ea typeface="Hiragino Sans GB"/>
                <a:cs typeface="Hiragino Sans GB"/>
              </a:rPr>
              <a:t>SQL 逻辑已通过 SQLite 兼容环境进行结果核对；原生 MySQL 环境未单独执行验证。原始数据、处理后 CSV、指标定义和已确认的分析结论均保持不变。</a:t>
            </a:r>
          </a:p>
        </p:txBody>
      </p:sp>
    </p:spTree>
    <p:extLst>
      <p:ext uri="{BB962C8B-B14F-4D97-AF65-F5344CB8AC3E}">
        <p14:creationId xmlns:p14="http://schemas.microsoft.com/office/powerpoint/2010/main" val="132003801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2026-10-19T10:46:56.0490000Z</dcterms:created>
  <dcterms:modified xsi:type="dcterms:W3CDTF">2026-10-19T10:46:56.0490000Z</dcterms:modified>
</coreProperties>
</file>