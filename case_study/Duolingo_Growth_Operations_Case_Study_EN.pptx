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c11fb8761b4777" /><Relationship Type="http://schemas.openxmlformats.org/officeDocument/2006/relationships/extended-properties" Target="/docProps/app.xml" Id="R0620c7fcc4ec46ba" /><Relationship Type="http://schemas.openxmlformats.org/officeDocument/2006/relationships/officeDocument" Target="/ppt/presentation.xml" Id="Rdb6fc9b415b942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239d4494084e22"/>
  </p:sldMasterIdLst>
  <p:notesMasterIdLst>
    <p:notesMasterId xmlns:r="http://schemas.openxmlformats.org/officeDocument/2006/relationships" r:id="R864fcf13a3c14d45"/>
  </p:notesMasterIdLst>
  <p:sldIdLst>
    <p:sldId xmlns:r="http://schemas.openxmlformats.org/officeDocument/2006/relationships" id="256" r:id="Rdaa8879b83384ede"/>
    <p:sldId xmlns:r="http://schemas.openxmlformats.org/officeDocument/2006/relationships" id="257" r:id="Rec01f9bd60a94733"/>
    <p:sldId xmlns:r="http://schemas.openxmlformats.org/officeDocument/2006/relationships" id="258" r:id="Rda79f0cc4ebf4c33"/>
    <p:sldId xmlns:r="http://schemas.openxmlformats.org/officeDocument/2006/relationships" id="259" r:id="R98934068d37a44ef"/>
    <p:sldId xmlns:r="http://schemas.openxmlformats.org/officeDocument/2006/relationships" id="260" r:id="R2c6bfc76e6614562"/>
    <p:sldId xmlns:r="http://schemas.openxmlformats.org/officeDocument/2006/relationships" id="261" r:id="Rc179ffd138e54453"/>
    <p:sldId xmlns:r="http://schemas.openxmlformats.org/officeDocument/2006/relationships" id="262" r:id="Rec16777abbfa4497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839c0709d3405d" /><Relationship Type="http://schemas.openxmlformats.org/officeDocument/2006/relationships/slideMaster" Target="/ppt/slideMasters/slideMaster1.xml" Id="Rd4239d4494084e22" /><Relationship Type="http://schemas.openxmlformats.org/officeDocument/2006/relationships/notesMaster" Target="/ppt/notesMasters/notesMaster1.xml" Id="R864fcf13a3c14d45" /><Relationship Type="http://schemas.openxmlformats.org/officeDocument/2006/relationships/presProps" Target="/ppt/presProps.xml" Id="Rc5d4a5fe535c4b6c" /><Relationship Type="http://schemas.openxmlformats.org/officeDocument/2006/relationships/viewProps" Target="/ppt/viewProps.xml" Id="R06089aa7f438413b" /><Relationship Type="http://schemas.openxmlformats.org/officeDocument/2006/relationships/tableStyles" Target="/ppt/tableStyles.xml" Id="Re99a63b1e0fc4f17" /><Relationship Type="http://schemas.openxmlformats.org/officeDocument/2006/relationships/slide" Target="/ppt/slides/slide1.xml" Id="Rdaa8879b83384ede" /><Relationship Type="http://schemas.openxmlformats.org/officeDocument/2006/relationships/slide" Target="/ppt/slides/slide2.xml" Id="Rec01f9bd60a94733" /><Relationship Type="http://schemas.openxmlformats.org/officeDocument/2006/relationships/slide" Target="/ppt/slides/slide3.xml" Id="Rda79f0cc4ebf4c33" /><Relationship Type="http://schemas.openxmlformats.org/officeDocument/2006/relationships/slide" Target="/ppt/slides/slide4.xml" Id="R98934068d37a44ef" /><Relationship Type="http://schemas.openxmlformats.org/officeDocument/2006/relationships/slide" Target="/ppt/slides/slide5.xml" Id="R2c6bfc76e6614562" /><Relationship Type="http://schemas.openxmlformats.org/officeDocument/2006/relationships/slide" Target="/ppt/slides/slide6.xml" Id="Rc179ffd138e54453" /><Relationship Type="http://schemas.openxmlformats.org/officeDocument/2006/relationships/slide" Target="/ppt/slides/slide7.xml" Id="Rec16777abbfa44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cf7ad8b45e41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9075c446d46b7" /><Relationship Type="http://schemas.openxmlformats.org/officeDocument/2006/relationships/notesMaster" Target="/ppt/notesMasters/notesMaster1.xml" Id="R93d2a955f23a48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34afc35cc34d55" /><Relationship Type="http://schemas.openxmlformats.org/officeDocument/2006/relationships/notesMaster" Target="/ppt/notesMasters/notesMaster1.xml" Id="R9e394930210d45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8ef322db7646a1" /><Relationship Type="http://schemas.openxmlformats.org/officeDocument/2006/relationships/notesMaster" Target="/ppt/notesMasters/notesMaster1.xml" Id="R05535bb1b94f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6498202c9f4fa2" /><Relationship Type="http://schemas.openxmlformats.org/officeDocument/2006/relationships/notesMaster" Target="/ppt/notesMasters/notesMaster1.xml" Id="Rfdaaec4e4bfc49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d69a7a9a3b4bd2" /><Relationship Type="http://schemas.openxmlformats.org/officeDocument/2006/relationships/notesMaster" Target="/ppt/notesMasters/notesMaster1.xml" Id="R63c0d70d952149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fcb457efcd4079" /><Relationship Type="http://schemas.openxmlformats.org/officeDocument/2006/relationships/notesMaster" Target="/ppt/notesMasters/notesMaster1.xml" Id="R589198ff01984a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eb9727db6b41ac" /><Relationship Type="http://schemas.openxmlformats.org/officeDocument/2006/relationships/notesMaster" Target="/ppt/notesMasters/notesMaster1.xml" Id="R3138bf32768042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Corporate evidence: official Duolingo IR/SEC disclosures only, Q1 2023-Q4 2025. Analysis as of March 2026. Raw values preserved at disclosed precision; all ratios and growth are transparent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2023-Q1: Duolingo Q1 2023 Results</a:t>
            </a:r>
          </a:p>
          <a:p xmlns:a="http://schemas.openxmlformats.org/drawingml/2006/main">
            <a:r>
              <a:t>https://investors.duolingo.com/news-releases/news-release-details/duolingo-reports-62-dau-growth-42-revenue-growth-and-increased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2023-Q2: Duolingo Q2 2023 Results</a:t>
            </a:r>
          </a:p>
          <a:p xmlns:a="http://schemas.openxmlformats.org/drawingml/2006/main">
            <a:r>
              <a:t>https://investors.duolingo.com/news-releases/news-release-details/duolingo-reports-62-dau-growth-44-revenue-growth-and-stronger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2023-Q3: Duolingo Q3 2023 Results</a:t>
            </a:r>
          </a:p>
          <a:p xmlns:a="http://schemas.openxmlformats.org/drawingml/2006/main">
            <a:r>
              <a:t>https://investors.duolingo.com/news-releases/news-release-details/duolingo-reports-63-dau-growth-and-43-revenue-growth-third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2023-Q4: Duolingo Q4/FY2023 Results</a:t>
            </a:r>
          </a:p>
          <a:p xmlns:a="http://schemas.openxmlformats.org/drawingml/2006/main">
            <a:r>
              <a:t>https://investors.duolingo.com/news-releases/news-release-details/duolingo-reports-65-dau-growth-45-revenue-growth-and-record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2024-Q1: Duolingo Q1 2024 Results</a:t>
            </a:r>
          </a:p>
          <a:p xmlns:a="http://schemas.openxmlformats.org/drawingml/2006/main">
            <a:r>
              <a:t>https://investors.duolingo.com/news-releases/news-release-details/duolingo-reports-45-revenue-growth-and-record-profitability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2024-Q2: Duolingo Q2 2024 Results</a:t>
            </a:r>
          </a:p>
          <a:p xmlns:a="http://schemas.openxmlformats.org/drawingml/2006/main">
            <a:r>
              <a:t>https://investors.duolingo.com/news-releases/news-release-details/duolingo-hits-100m-maus-reports-59-dau-growth-and-41-revenue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2024-Q3: Duolingo Q3 2024 Results</a:t>
            </a:r>
          </a:p>
          <a:p xmlns:a="http://schemas.openxmlformats.org/drawingml/2006/main">
            <a:r>
              <a:t>https://investors.duolingo.com/news-releases/news-release-details/duolingo-achieves-54-dau-growth-and-40-revenue-growth-third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2024-Q4: Duolingo Q4/FY2024 Shareholder Letter</a:t>
            </a:r>
          </a:p>
          <a:p xmlns:a="http://schemas.openxmlformats.org/drawingml/2006/main">
            <a:r>
              <a:t>https://www.sec.gov/Archives/edgar/data/1562088/000156208825000039/q4fy24duolingo12-31x24shar.htm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2025-Q1: Duolingo Q1 2025 Shareholder Letter</a:t>
            </a:r>
          </a:p>
          <a:p xmlns:a="http://schemas.openxmlformats.org/drawingml/2006/main">
            <a:r>
              <a:t>https://www.sec.gov/Archives/edgar/data/1562088/000156208825000098/q1fy25duolingo3-31x25share.htm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2025-Q2: Duolingo Q2 2025 Shareholder Letter</a:t>
            </a:r>
          </a:p>
          <a:p xmlns:a="http://schemas.openxmlformats.org/drawingml/2006/main">
            <a:r>
              <a:t>https://investors.duolingo.com/static-files/0b55110c-2eb9-466d-8549-5459e0851290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2025-Q3: Duolingo Q3 2025 Shareholder Letter</a:t>
            </a:r>
          </a:p>
          <a:p xmlns:a="http://schemas.openxmlformats.org/drawingml/2006/main">
            <a:r>
              <a:t>https://investors.duolingo.com/static-files/c9bf5861-b19d-4396-b060-c0dbeefd34f5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Q4/FY2025 Shareholder Letter</a:t>
            </a:r>
          </a:p>
          <a:p xmlns:a="http://schemas.openxmlformats.org/drawingml/2006/main">
            <a:r>
              <a:t>https://www.sec.gov/Archives/edgar/data/1562088/000162828026012246/q4fy25duolingo12-31x25shar.htm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2025 Form 10-K (supplemental definitions and ratio evidence)</a:t>
            </a:r>
          </a:p>
          <a:p xmlns:a="http://schemas.openxmlformats.org/drawingml/2006/main">
            <a:r>
              <a:t>https://www.sec.gov/Archives/edgar/data/1562088/000162828026012494/duol-20251231.htm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Definitions/formulas: docs/methodology.md and docs/data_dictionary.md. Corporate source lineage: docs/source_manifest.csv. Competitor website snapshot: February 2026; social snapshot: March 2026. Inherited historical coursework values; original dated captures are absent and historical provenance cannot be independently verified. These are contextual snapshots, not a longitudinal dataset, market share, conversion or retention evidence. No current observations replace these 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visualisation: two completed Tableau dashboards. Tableau Public: https://public.tableau.com/views/Duolingo_Growth_Marketing_Analytics/P1_Growth_Monetisation_Overview?:language=en-US&amp;:sid=&amp;:redirect=auth&amp;:display_count=n&amp;:origin=viz_share_link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 formulas checked through a SQLite compatibility adaptation; native MySQL execution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Corporate evidence: official Duolingo IR/SEC disclosures only, Q1 2023-Q4 2025. Analysis as of March 2026. Raw values preserved at disclosed precision; all ratios and growth are transparent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2023-Q1: Duolingo Q1 2023 Results</a:t>
            </a:r>
          </a:p>
          <a:p xmlns:a="http://schemas.openxmlformats.org/drawingml/2006/main">
            <a:r>
              <a:t>https://investors.duolingo.com/news-releases/news-release-details/duolingo-reports-62-dau-growth-42-revenue-growth-and-increased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2023-Q2: Duolingo Q2 2023 Results</a:t>
            </a:r>
          </a:p>
          <a:p xmlns:a="http://schemas.openxmlformats.org/drawingml/2006/main">
            <a:r>
              <a:t>https://investors.duolingo.com/news-releases/news-release-details/duolingo-reports-62-dau-growth-44-revenue-growth-and-stronger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2023-Q3: Duolingo Q3 2023 Results</a:t>
            </a:r>
          </a:p>
          <a:p xmlns:a="http://schemas.openxmlformats.org/drawingml/2006/main">
            <a:r>
              <a:t>https://investors.duolingo.com/news-releases/news-release-details/duolingo-reports-63-dau-growth-and-43-revenue-growth-third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2023-Q4: Duolingo Q4/FY2023 Results</a:t>
            </a:r>
          </a:p>
          <a:p xmlns:a="http://schemas.openxmlformats.org/drawingml/2006/main">
            <a:r>
              <a:t>https://investors.duolingo.com/news-releases/news-release-details/duolingo-reports-65-dau-growth-45-revenue-growth-and-record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2024-Q1: Duolingo Q1 2024 Results</a:t>
            </a:r>
          </a:p>
          <a:p xmlns:a="http://schemas.openxmlformats.org/drawingml/2006/main">
            <a:r>
              <a:t>https://investors.duolingo.com/news-releases/news-release-details/duolingo-reports-45-revenue-growth-and-record-profitability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2024-Q2: Duolingo Q2 2024 Results</a:t>
            </a:r>
          </a:p>
          <a:p xmlns:a="http://schemas.openxmlformats.org/drawingml/2006/main">
            <a:r>
              <a:t>https://investors.duolingo.com/news-releases/news-release-details/duolingo-hits-100m-maus-reports-59-dau-growth-and-41-revenue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2024-Q3: Duolingo Q3 2024 Results</a:t>
            </a:r>
          </a:p>
          <a:p xmlns:a="http://schemas.openxmlformats.org/drawingml/2006/main">
            <a:r>
              <a:t>https://investors.duolingo.com/news-releases/news-release-details/duolingo-achieves-54-dau-growth-and-40-revenue-growth-third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2024-Q4: Duolingo Q4/FY2024 Shareholder Letter</a:t>
            </a:r>
          </a:p>
          <a:p xmlns:a="http://schemas.openxmlformats.org/drawingml/2006/main">
            <a:r>
              <a:t>https://www.sec.gov/Archives/edgar/data/1562088/000156208825000039/q4fy24duolingo12-31x24shar.htm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2025-Q1: Duolingo Q1 2025 Shareholder Letter</a:t>
            </a:r>
          </a:p>
          <a:p xmlns:a="http://schemas.openxmlformats.org/drawingml/2006/main">
            <a:r>
              <a:t>https://www.sec.gov/Archives/edgar/data/1562088/000156208825000098/q1fy25duolingo3-31x25share.htm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2025-Q2: Duolingo Q2 2025 Shareholder Letter</a:t>
            </a:r>
          </a:p>
          <a:p xmlns:a="http://schemas.openxmlformats.org/drawingml/2006/main">
            <a:r>
              <a:t>https://investors.duolingo.com/static-files/0b55110c-2eb9-466d-8549-5459e0851290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2025-Q3: Duolingo Q3 2025 Shareholder Letter</a:t>
            </a:r>
          </a:p>
          <a:p xmlns:a="http://schemas.openxmlformats.org/drawingml/2006/main">
            <a:r>
              <a:t>https://investors.duolingo.com/static-files/c9bf5861-b19d-4396-b060-c0dbeefd34f5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Q4/FY2025 Shareholder Letter</a:t>
            </a:r>
          </a:p>
          <a:p xmlns:a="http://schemas.openxmlformats.org/drawingml/2006/main">
            <a:r>
              <a:t>https://www.sec.gov/Archives/edgar/data/1562088/000162828026012246/q4fy25duolingo12-31x25shar.htm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2025 Form 10-K (supplemental definitions and ratio evidence)</a:t>
            </a:r>
          </a:p>
          <a:p xmlns:a="http://schemas.openxmlformats.org/drawingml/2006/main">
            <a:r>
              <a:t>https://www.sec.gov/Archives/edgar/data/1562088/000162828026012494/duol-20251231.htm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Definitions/formulas: docs/methodology.md and docs/data_dictionary.md. Corporate source lineage: docs/source_manifest.csv. Competitor website snapshot: February 2026; social snapshot: March 2026. Inherited historical coursework values; original dated captures are absent and historical provenance cannot be independently verified. These are contextual snapshots, not a longitudinal dataset, market share, conversion or retention evidence. No current observations replace these 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visualisation: two completed Tableau dashboards. Tableau Public: https://public.tableau.com/views/Duolingo_Growth_Marketing_Analytics/P1_Growth_Monetisation_Overview?:language=en-US&amp;:sid=&amp;:redirect=auth&amp;:display_count=n&amp;:origin=viz_share_link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 formulas checked through a SQLite compatibility adaptation; native MySQL execution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Corporate evidence: official Duolingo IR/SEC disclosures only, Q1 2023-Q4 2025. Analysis as of March 2026. Raw values preserved at disclosed precision; all ratios and growth are transparent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2023-Q1: Duolingo Q1 2023 Results</a:t>
            </a:r>
          </a:p>
          <a:p xmlns:a="http://schemas.openxmlformats.org/drawingml/2006/main">
            <a:r>
              <a:t>https://investors.duolingo.com/news-releases/news-release-details/duolingo-reports-62-dau-growth-42-revenue-growth-and-increased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2023-Q2: Duolingo Q2 2023 Results</a:t>
            </a:r>
          </a:p>
          <a:p xmlns:a="http://schemas.openxmlformats.org/drawingml/2006/main">
            <a:r>
              <a:t>https://investors.duolingo.com/news-releases/news-release-details/duolingo-reports-62-dau-growth-44-revenue-growth-and-stronger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2023-Q3: Duolingo Q3 2023 Results</a:t>
            </a:r>
          </a:p>
          <a:p xmlns:a="http://schemas.openxmlformats.org/drawingml/2006/main">
            <a:r>
              <a:t>https://investors.duolingo.com/news-releases/news-release-details/duolingo-reports-63-dau-growth-and-43-revenue-growth-third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2023-Q4: Duolingo Q4/FY2023 Results</a:t>
            </a:r>
          </a:p>
          <a:p xmlns:a="http://schemas.openxmlformats.org/drawingml/2006/main">
            <a:r>
              <a:t>https://investors.duolingo.com/news-releases/news-release-details/duolingo-reports-65-dau-growth-45-revenue-growth-and-record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2024-Q1: Duolingo Q1 2024 Results</a:t>
            </a:r>
          </a:p>
          <a:p xmlns:a="http://schemas.openxmlformats.org/drawingml/2006/main">
            <a:r>
              <a:t>https://investors.duolingo.com/news-releases/news-release-details/duolingo-reports-45-revenue-growth-and-record-profitability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2024-Q2: Duolingo Q2 2024 Results</a:t>
            </a:r>
          </a:p>
          <a:p xmlns:a="http://schemas.openxmlformats.org/drawingml/2006/main">
            <a:r>
              <a:t>https://investors.duolingo.com/news-releases/news-release-details/duolingo-hits-100m-maus-reports-59-dau-growth-and-41-revenue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2024-Q3: Duolingo Q3 2024 Results</a:t>
            </a:r>
          </a:p>
          <a:p xmlns:a="http://schemas.openxmlformats.org/drawingml/2006/main">
            <a:r>
              <a:t>https://investors.duolingo.com/news-releases/news-release-details/duolingo-achieves-54-dau-growth-and-40-revenue-growth-third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2024-Q4: Duolingo Q4/FY2024 Shareholder Letter</a:t>
            </a:r>
          </a:p>
          <a:p xmlns:a="http://schemas.openxmlformats.org/drawingml/2006/main">
            <a:r>
              <a:t>https://www.sec.gov/Archives/edgar/data/1562088/000156208825000039/q4fy24duolingo12-31x24shar.htm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2025-Q1: Duolingo Q1 2025 Shareholder Letter</a:t>
            </a:r>
          </a:p>
          <a:p xmlns:a="http://schemas.openxmlformats.org/drawingml/2006/main">
            <a:r>
              <a:t>https://www.sec.gov/Archives/edgar/data/1562088/000156208825000098/q1fy25duolingo3-31x25share.htm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2025-Q2: Duolingo Q2 2025 Shareholder Letter</a:t>
            </a:r>
          </a:p>
          <a:p xmlns:a="http://schemas.openxmlformats.org/drawingml/2006/main">
            <a:r>
              <a:t>https://investors.duolingo.com/static-files/0b55110c-2eb9-466d-8549-5459e0851290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2025-Q3: Duolingo Q3 2025 Shareholder Letter</a:t>
            </a:r>
          </a:p>
          <a:p xmlns:a="http://schemas.openxmlformats.org/drawingml/2006/main">
            <a:r>
              <a:t>https://investors.duolingo.com/static-files/c9bf5861-b19d-4396-b060-c0dbeefd34f5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Q4/FY2025 Shareholder Letter</a:t>
            </a:r>
          </a:p>
          <a:p xmlns:a="http://schemas.openxmlformats.org/drawingml/2006/main">
            <a:r>
              <a:t>https://www.sec.gov/Archives/edgar/data/1562088/000162828026012246/q4fy25duolingo12-31x25shar.htm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2025 Form 10-K (supplemental definitions and ratio evidence)</a:t>
            </a:r>
          </a:p>
          <a:p xmlns:a="http://schemas.openxmlformats.org/drawingml/2006/main">
            <a:r>
              <a:t>https://www.sec.gov/Archives/edgar/data/1562088/000162828026012494/duol-20251231.htm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Definitions/formulas: docs/methodology.md and docs/data_dictionary.md. Corporate source lineage: docs/source_manifest.csv. Competitor website snapshot: February 2026; social snapshot: March 2026. Inherited historical coursework values; original dated captures are absent and historical provenance cannot be independently verified. These are contextual snapshots, not a longitudinal dataset, market share, conversion or retention evidence. No current observations replace these 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visualisation: two completed Tableau dashboards. Tableau Public: https://public.tableau.com/views/Duolingo_Growth_Marketing_Analytics/P1_Growth_Monetisation_Overview?:language=en-US&amp;:sid=&amp;:redirect=auth&amp;:display_count=n&amp;:origin=viz_share_link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 formulas checked through a SQLite compatibility adaptation; native MySQL execution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Corporate evidence: official Duolingo IR/SEC disclosures only, Q1 2023-Q4 2025. Analysis as of March 2026. Raw values preserved at disclosed precision; all ratios and growth are transparent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2023-Q1: Duolingo Q1 2023 Results</a:t>
            </a:r>
          </a:p>
          <a:p xmlns:a="http://schemas.openxmlformats.org/drawingml/2006/main">
            <a:r>
              <a:t>https://investors.duolingo.com/news-releases/news-release-details/duolingo-reports-62-dau-growth-42-revenue-growth-and-increased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2023-Q2: Duolingo Q2 2023 Results</a:t>
            </a:r>
          </a:p>
          <a:p xmlns:a="http://schemas.openxmlformats.org/drawingml/2006/main">
            <a:r>
              <a:t>https://investors.duolingo.com/news-releases/news-release-details/duolingo-reports-62-dau-growth-44-revenue-growth-and-stronger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2023-Q3: Duolingo Q3 2023 Results</a:t>
            </a:r>
          </a:p>
          <a:p xmlns:a="http://schemas.openxmlformats.org/drawingml/2006/main">
            <a:r>
              <a:t>https://investors.duolingo.com/news-releases/news-release-details/duolingo-reports-63-dau-growth-and-43-revenue-growth-third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2023-Q4: Duolingo Q4/FY2023 Results</a:t>
            </a:r>
          </a:p>
          <a:p xmlns:a="http://schemas.openxmlformats.org/drawingml/2006/main">
            <a:r>
              <a:t>https://investors.duolingo.com/news-releases/news-release-details/duolingo-reports-65-dau-growth-45-revenue-growth-and-record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2024-Q1: Duolingo Q1 2024 Results</a:t>
            </a:r>
          </a:p>
          <a:p xmlns:a="http://schemas.openxmlformats.org/drawingml/2006/main">
            <a:r>
              <a:t>https://investors.duolingo.com/news-releases/news-release-details/duolingo-reports-45-revenue-growth-and-record-profitability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2024-Q2: Duolingo Q2 2024 Results</a:t>
            </a:r>
          </a:p>
          <a:p xmlns:a="http://schemas.openxmlformats.org/drawingml/2006/main">
            <a:r>
              <a:t>https://investors.duolingo.com/news-releases/news-release-details/duolingo-hits-100m-maus-reports-59-dau-growth-and-41-revenue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2024-Q3: Duolingo Q3 2024 Results</a:t>
            </a:r>
          </a:p>
          <a:p xmlns:a="http://schemas.openxmlformats.org/drawingml/2006/main">
            <a:r>
              <a:t>https://investors.duolingo.com/news-releases/news-release-details/duolingo-achieves-54-dau-growth-and-40-revenue-growth-third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2024-Q4: Duolingo Q4/FY2024 Shareholder Letter</a:t>
            </a:r>
          </a:p>
          <a:p xmlns:a="http://schemas.openxmlformats.org/drawingml/2006/main">
            <a:r>
              <a:t>https://www.sec.gov/Archives/edgar/data/1562088/000156208825000039/q4fy24duolingo12-31x24shar.htm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2025-Q1: Duolingo Q1 2025 Shareholder Letter</a:t>
            </a:r>
          </a:p>
          <a:p xmlns:a="http://schemas.openxmlformats.org/drawingml/2006/main">
            <a:r>
              <a:t>https://www.sec.gov/Archives/edgar/data/1562088/000156208825000098/q1fy25duolingo3-31x25share.htm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2025-Q2: Duolingo Q2 2025 Shareholder Letter</a:t>
            </a:r>
          </a:p>
          <a:p xmlns:a="http://schemas.openxmlformats.org/drawingml/2006/main">
            <a:r>
              <a:t>https://investors.duolingo.com/static-files/0b55110c-2eb9-466d-8549-5459e0851290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2025-Q3: Duolingo Q3 2025 Shareholder Letter</a:t>
            </a:r>
          </a:p>
          <a:p xmlns:a="http://schemas.openxmlformats.org/drawingml/2006/main">
            <a:r>
              <a:t>https://investors.duolingo.com/static-files/c9bf5861-b19d-4396-b060-c0dbeefd34f5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Q4/FY2025 Shareholder Letter</a:t>
            </a:r>
          </a:p>
          <a:p xmlns:a="http://schemas.openxmlformats.org/drawingml/2006/main">
            <a:r>
              <a:t>https://www.sec.gov/Archives/edgar/data/1562088/000162828026012246/q4fy25duolingo12-31x25shar.htm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2025 Form 10-K (supplemental definitions and ratio evidence)</a:t>
            </a:r>
          </a:p>
          <a:p xmlns:a="http://schemas.openxmlformats.org/drawingml/2006/main">
            <a:r>
              <a:t>https://www.sec.gov/Archives/edgar/data/1562088/000162828026012494/duol-20251231.htm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Definitions/formulas: docs/methodology.md and docs/data_dictionary.md. Corporate source lineage: docs/source_manifest.csv. Competitor website snapshot: February 2026; social snapshot: March 2026. Inherited historical coursework values; original dated captures are absent and historical provenance cannot be independently verified. These are contextual snapshots, not a longitudinal dataset, market share, conversion or retention evidence. No current observations replace these 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visualisation: two completed Tableau dashboards. Tableau Public: https://public.tableau.com/views/Duolingo_Growth_Marketing_Analytics/P1_Growth_Monetisation_Overview?:language=en-US&amp;:sid=&amp;:redirect=auth&amp;:display_count=n&amp;:origin=viz_share_link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 formulas checked through a SQLite compatibility adaptation; native MySQL execution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Corporate evidence: official Duolingo IR/SEC disclosures only, Q1 2023-Q4 2025. Analysis as of March 2026. Raw values preserved at disclosed precision; all ratios and growth are transparent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2023-Q1: Duolingo Q1 2023 Results</a:t>
            </a:r>
          </a:p>
          <a:p xmlns:a="http://schemas.openxmlformats.org/drawingml/2006/main">
            <a:r>
              <a:t>https://investors.duolingo.com/news-releases/news-release-details/duolingo-reports-62-dau-growth-42-revenue-growth-and-increased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2023-Q2: Duolingo Q2 2023 Results</a:t>
            </a:r>
          </a:p>
          <a:p xmlns:a="http://schemas.openxmlformats.org/drawingml/2006/main">
            <a:r>
              <a:t>https://investors.duolingo.com/news-releases/news-release-details/duolingo-reports-62-dau-growth-44-revenue-growth-and-stronger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2023-Q3: Duolingo Q3 2023 Results</a:t>
            </a:r>
          </a:p>
          <a:p xmlns:a="http://schemas.openxmlformats.org/drawingml/2006/main">
            <a:r>
              <a:t>https://investors.duolingo.com/news-releases/news-release-details/duolingo-reports-63-dau-growth-and-43-revenue-growth-third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2023-Q4: Duolingo Q4/FY2023 Results</a:t>
            </a:r>
          </a:p>
          <a:p xmlns:a="http://schemas.openxmlformats.org/drawingml/2006/main">
            <a:r>
              <a:t>https://investors.duolingo.com/news-releases/news-release-details/duolingo-reports-65-dau-growth-45-revenue-growth-and-record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2024-Q1: Duolingo Q1 2024 Results</a:t>
            </a:r>
          </a:p>
          <a:p xmlns:a="http://schemas.openxmlformats.org/drawingml/2006/main">
            <a:r>
              <a:t>https://investors.duolingo.com/news-releases/news-release-details/duolingo-reports-45-revenue-growth-and-record-profitability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2024-Q2: Duolingo Q2 2024 Results</a:t>
            </a:r>
          </a:p>
          <a:p xmlns:a="http://schemas.openxmlformats.org/drawingml/2006/main">
            <a:r>
              <a:t>https://investors.duolingo.com/news-releases/news-release-details/duolingo-hits-100m-maus-reports-59-dau-growth-and-41-revenue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2024-Q3: Duolingo Q3 2024 Results</a:t>
            </a:r>
          </a:p>
          <a:p xmlns:a="http://schemas.openxmlformats.org/drawingml/2006/main">
            <a:r>
              <a:t>https://investors.duolingo.com/news-releases/news-release-details/duolingo-achieves-54-dau-growth-and-40-revenue-growth-third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2024-Q4: Duolingo Q4/FY2024 Shareholder Letter</a:t>
            </a:r>
          </a:p>
          <a:p xmlns:a="http://schemas.openxmlformats.org/drawingml/2006/main">
            <a:r>
              <a:t>https://www.sec.gov/Archives/edgar/data/1562088/000156208825000039/q4fy24duolingo12-31x24shar.htm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2025-Q1: Duolingo Q1 2025 Shareholder Letter</a:t>
            </a:r>
          </a:p>
          <a:p xmlns:a="http://schemas.openxmlformats.org/drawingml/2006/main">
            <a:r>
              <a:t>https://www.sec.gov/Archives/edgar/data/1562088/000156208825000098/q1fy25duolingo3-31x25share.htm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2025-Q2: Duolingo Q2 2025 Shareholder Letter</a:t>
            </a:r>
          </a:p>
          <a:p xmlns:a="http://schemas.openxmlformats.org/drawingml/2006/main">
            <a:r>
              <a:t>https://investors.duolingo.com/static-files/0b55110c-2eb9-466d-8549-5459e0851290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2025-Q3: Duolingo Q3 2025 Shareholder Letter</a:t>
            </a:r>
          </a:p>
          <a:p xmlns:a="http://schemas.openxmlformats.org/drawingml/2006/main">
            <a:r>
              <a:t>https://investors.duolingo.com/static-files/c9bf5861-b19d-4396-b060-c0dbeefd34f5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Q4/FY2025 Shareholder Letter</a:t>
            </a:r>
          </a:p>
          <a:p xmlns:a="http://schemas.openxmlformats.org/drawingml/2006/main">
            <a:r>
              <a:t>https://www.sec.gov/Archives/edgar/data/1562088/000162828026012246/q4fy25duolingo12-31x25shar.htm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2025 Form 10-K (supplemental definitions and ratio evidence)</a:t>
            </a:r>
          </a:p>
          <a:p xmlns:a="http://schemas.openxmlformats.org/drawingml/2006/main">
            <a:r>
              <a:t>https://www.sec.gov/Archives/edgar/data/1562088/000162828026012494/duol-20251231.htm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Definitions/formulas: docs/methodology.md and docs/data_dictionary.md. Corporate source lineage: docs/source_manifest.csv. Competitor website snapshot: February 2026; social snapshot: March 2026. Inherited historical coursework values; original dated captures are absent and historical provenance cannot be independently verified. These are contextual snapshots, not a longitudinal dataset, market share, conversion or retention evidence. No current observations replace these 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visualisation: two completed Tableau dashboards. Tableau Public: https://public.tableau.com/views/Duolingo_Growth_Marketing_Analytics/P1_Growth_Monetisation_Overview?:language=en-US&amp;:sid=&amp;:redirect=auth&amp;:display_count=n&amp;:origin=viz_share_link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 formulas checked through a SQLite compatibility adaptation; native MySQL execution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Corporate evidence: official Duolingo IR/SEC disclosures only, Q1 2023-Q4 2025. Analysis as of March 2026. Raw values preserved at disclosed precision; all ratios and growth are transparent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2023-Q1: Duolingo Q1 2023 Results</a:t>
            </a:r>
          </a:p>
          <a:p xmlns:a="http://schemas.openxmlformats.org/drawingml/2006/main">
            <a:r>
              <a:t>https://investors.duolingo.com/news-releases/news-release-details/duolingo-reports-62-dau-growth-42-revenue-growth-and-increased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2023-Q2: Duolingo Q2 2023 Results</a:t>
            </a:r>
          </a:p>
          <a:p xmlns:a="http://schemas.openxmlformats.org/drawingml/2006/main">
            <a:r>
              <a:t>https://investors.duolingo.com/news-releases/news-release-details/duolingo-reports-62-dau-growth-44-revenue-growth-and-stronger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2023-Q3: Duolingo Q3 2023 Results</a:t>
            </a:r>
          </a:p>
          <a:p xmlns:a="http://schemas.openxmlformats.org/drawingml/2006/main">
            <a:r>
              <a:t>https://investors.duolingo.com/news-releases/news-release-details/duolingo-reports-63-dau-growth-and-43-revenue-growth-third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2023-Q4: Duolingo Q4/FY2023 Results</a:t>
            </a:r>
          </a:p>
          <a:p xmlns:a="http://schemas.openxmlformats.org/drawingml/2006/main">
            <a:r>
              <a:t>https://investors.duolingo.com/news-releases/news-release-details/duolingo-reports-65-dau-growth-45-revenue-growth-and-record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2024-Q1: Duolingo Q1 2024 Results</a:t>
            </a:r>
          </a:p>
          <a:p xmlns:a="http://schemas.openxmlformats.org/drawingml/2006/main">
            <a:r>
              <a:t>https://investors.duolingo.com/news-releases/news-release-details/duolingo-reports-45-revenue-growth-and-record-profitability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2024-Q2: Duolingo Q2 2024 Results</a:t>
            </a:r>
          </a:p>
          <a:p xmlns:a="http://schemas.openxmlformats.org/drawingml/2006/main">
            <a:r>
              <a:t>https://investors.duolingo.com/news-releases/news-release-details/duolingo-hits-100m-maus-reports-59-dau-growth-and-41-revenue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2024-Q3: Duolingo Q3 2024 Results</a:t>
            </a:r>
          </a:p>
          <a:p xmlns:a="http://schemas.openxmlformats.org/drawingml/2006/main">
            <a:r>
              <a:t>https://investors.duolingo.com/news-releases/news-release-details/duolingo-achieves-54-dau-growth-and-40-revenue-growth-third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2024-Q4: Duolingo Q4/FY2024 Shareholder Letter</a:t>
            </a:r>
          </a:p>
          <a:p xmlns:a="http://schemas.openxmlformats.org/drawingml/2006/main">
            <a:r>
              <a:t>https://www.sec.gov/Archives/edgar/data/1562088/000156208825000039/q4fy24duolingo12-31x24shar.htm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2025-Q1: Duolingo Q1 2025 Shareholder Letter</a:t>
            </a:r>
          </a:p>
          <a:p xmlns:a="http://schemas.openxmlformats.org/drawingml/2006/main">
            <a:r>
              <a:t>https://www.sec.gov/Archives/edgar/data/1562088/000156208825000098/q1fy25duolingo3-31x25share.htm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2025-Q2: Duolingo Q2 2025 Shareholder Letter</a:t>
            </a:r>
          </a:p>
          <a:p xmlns:a="http://schemas.openxmlformats.org/drawingml/2006/main">
            <a:r>
              <a:t>https://investors.duolingo.com/static-files/0b55110c-2eb9-466d-8549-5459e0851290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2025-Q3: Duolingo Q3 2025 Shareholder Letter</a:t>
            </a:r>
          </a:p>
          <a:p xmlns:a="http://schemas.openxmlformats.org/drawingml/2006/main">
            <a:r>
              <a:t>https://investors.duolingo.com/static-files/c9bf5861-b19d-4396-b060-c0dbeefd34f5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Q4/FY2025 Shareholder Letter</a:t>
            </a:r>
          </a:p>
          <a:p xmlns:a="http://schemas.openxmlformats.org/drawingml/2006/main">
            <a:r>
              <a:t>https://www.sec.gov/Archives/edgar/data/1562088/000162828026012246/q4fy25duolingo12-31x25shar.htm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2025 Form 10-K (supplemental definitions and ratio evidence)</a:t>
            </a:r>
          </a:p>
          <a:p xmlns:a="http://schemas.openxmlformats.org/drawingml/2006/main">
            <a:r>
              <a:t>https://www.sec.gov/Archives/edgar/data/1562088/000162828026012494/duol-20251231.htm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Definitions/formulas: docs/methodology.md and docs/data_dictionary.md. Corporate source lineage: docs/source_manifest.csv. Competitor website snapshot: February 2026; social snapshot: March 2026. Inherited historical coursework values; original dated captures are absent and historical provenance cannot be independently verified. These are contextual snapshots, not a longitudinal dataset, market share, conversion or retention evidence. No current observations replace these 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visualisation: two completed Tableau dashboards. Tableau Public: https://public.tableau.com/views/Duolingo_Growth_Marketing_Analytics/P1_Growth_Monetisation_Overview?:language=en-US&amp;:sid=&amp;:redirect=auth&amp;:display_count=n&amp;:origin=viz_share_link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 formulas checked through a SQLite compatibility adaptation; native MySQL execution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Recommendations are proposed internal reviews, not claims that Duolingo lacks tracking or that any tactic is effective.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Corporate evidence: official Duolingo IR/SEC disclosures only, Q1 2023-Q4 2025. Analysis as of March 2026. Raw values preserved at disclosed precision; all ratios and growth are transparent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2023-Q1: Duolingo Q1 2023 Results</a:t>
            </a:r>
          </a:p>
          <a:p xmlns:a="http://schemas.openxmlformats.org/drawingml/2006/main">
            <a:r>
              <a:t>https://investors.duolingo.com/news-releases/news-release-details/duolingo-reports-62-dau-growth-42-revenue-growth-and-increased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2023-Q2: Duolingo Q2 2023 Results</a:t>
            </a:r>
          </a:p>
          <a:p xmlns:a="http://schemas.openxmlformats.org/drawingml/2006/main">
            <a:r>
              <a:t>https://investors.duolingo.com/news-releases/news-release-details/duolingo-reports-62-dau-growth-44-revenue-growth-and-stronger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2023-Q3: Duolingo Q3 2023 Results</a:t>
            </a:r>
          </a:p>
          <a:p xmlns:a="http://schemas.openxmlformats.org/drawingml/2006/main">
            <a:r>
              <a:t>https://investors.duolingo.com/news-releases/news-release-details/duolingo-reports-63-dau-growth-and-43-revenue-growth-third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2023-Q4: Duolingo Q4/FY2023 Results</a:t>
            </a:r>
          </a:p>
          <a:p xmlns:a="http://schemas.openxmlformats.org/drawingml/2006/main">
            <a:r>
              <a:t>https://investors.duolingo.com/news-releases/news-release-details/duolingo-reports-65-dau-growth-45-revenue-growth-and-record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2024-Q1: Duolingo Q1 2024 Results</a:t>
            </a:r>
          </a:p>
          <a:p xmlns:a="http://schemas.openxmlformats.org/drawingml/2006/main">
            <a:r>
              <a:t>https://investors.duolingo.com/news-releases/news-release-details/duolingo-reports-45-revenue-growth-and-record-profitability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2024-Q2: Duolingo Q2 2024 Results</a:t>
            </a:r>
          </a:p>
          <a:p xmlns:a="http://schemas.openxmlformats.org/drawingml/2006/main">
            <a:r>
              <a:t>https://investors.duolingo.com/news-releases/news-release-details/duolingo-hits-100m-maus-reports-59-dau-growth-and-41-revenue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2024-Q3: Duolingo Q3 2024 Results</a:t>
            </a:r>
          </a:p>
          <a:p xmlns:a="http://schemas.openxmlformats.org/drawingml/2006/main">
            <a:r>
              <a:t>https://investors.duolingo.com/news-releases/news-release-details/duolingo-achieves-54-dau-growth-and-40-revenue-growth-third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2024-Q4: Duolingo Q4/FY2024 Shareholder Letter</a:t>
            </a:r>
          </a:p>
          <a:p xmlns:a="http://schemas.openxmlformats.org/drawingml/2006/main">
            <a:r>
              <a:t>https://www.sec.gov/Archives/edgar/data/1562088/000156208825000039/q4fy24duolingo12-31x24shar.htm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2025-Q1: Duolingo Q1 2025 Shareholder Letter</a:t>
            </a:r>
          </a:p>
          <a:p xmlns:a="http://schemas.openxmlformats.org/drawingml/2006/main">
            <a:r>
              <a:t>https://www.sec.gov/Archives/edgar/data/1562088/000156208825000098/q1fy25duolingo3-31x25share.htm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2025-Q2: Duolingo Q2 2025 Shareholder Letter</a:t>
            </a:r>
          </a:p>
          <a:p xmlns:a="http://schemas.openxmlformats.org/drawingml/2006/main">
            <a:r>
              <a:t>https://investors.duolingo.com/static-files/0b55110c-2eb9-466d-8549-5459e0851290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2025-Q3: Duolingo Q3 2025 Shareholder Letter</a:t>
            </a:r>
          </a:p>
          <a:p xmlns:a="http://schemas.openxmlformats.org/drawingml/2006/main">
            <a:r>
              <a:t>https://investors.duolingo.com/static-files/c9bf5861-b19d-4396-b060-c0dbeefd34f5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Q4/FY2025 Shareholder Letter</a:t>
            </a:r>
          </a:p>
          <a:p xmlns:a="http://schemas.openxmlformats.org/drawingml/2006/main">
            <a:r>
              <a:t>https://www.sec.gov/Archives/edgar/data/1562088/000162828026012246/q4fy25duolingo12-31x25shar.htm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2025-Q4: Duolingo 2025 Form 10-K (supplemental definitions and ratio evidence)</a:t>
            </a:r>
          </a:p>
          <a:p xmlns:a="http://schemas.openxmlformats.org/drawingml/2006/main">
            <a:r>
              <a:t>https://www.sec.gov/Archives/edgar/data/1562088/000162828026012494/duol-20251231.htm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Definitions/formulas: docs/methodology.md and docs/data_dictionary.md. Corporate source lineage: docs/source_manifest.csv. Competitor website snapshot: February 2026; social snapshot: March 2026. Inherited historical coursework values; original dated captures are absent and historical provenance cannot be independently verified. These are contextual snapshots, not a longitudinal dataset, market share, conversion or retention evidence. No current observations replace these 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visualisation: two completed Tableau dashboards. Tableau Public: https://public.tableau.com/views/Duolingo_Growth_Marketing_Analytics/P1_Growth_Monetisation_Overview?:language=en-US&amp;:sid=&amp;:redirect=auth&amp;:display_count=n&amp;:origin=viz_share_link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 formulas checked through a SQLite compatibility adaptation; native MySQL execution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609a7a3b04e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e07a94a214c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b743d7a0945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ac354e14247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38fa2408d4b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d340f41cb429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7a3def189405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2d2ff80a1430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63a3f1a714c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2e83eb4a245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645caec63417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7933D0-5D79-4640-8066-7A87F0DDB91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AD0D540-938C-4744-92CF-B11F538C0F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47EC5B-2629-45FB-BC34-31E2FC4C4B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00BF88-69A3-440B-8CE2-3D1D7731E5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28CCDD-0449-46D4-90A2-52035B1439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EEF4BD-8B12-47EF-8699-3A04E195B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3B8668-43A9-4A75-986E-B880F31376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8BE38CA-5FBA-4BEA-941C-DFF15DE433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B7A68F-52EB-492D-9823-27114A0999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D685C8-A4D2-4E8E-97F0-816C862E35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BAA8DE-AFDB-4F32-BA5B-71606E815D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178C83-C464-4D8C-8FAA-AEEC2D7EBF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46538B-DB96-4A28-AADC-0EC014CEE7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74FDBD-6F47-4327-8367-A0FBD76E5A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7A9B07-1210-475A-A3DF-144784A1C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0C00-5B6E-45DB-B878-B0C12366B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53EAFD-D69B-44F0-9686-DD5E81DE11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0C7F6F-3396-4788-8427-29BC7794F5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3A807D-9BB6-4B6E-853A-065D4C7FB1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A324482-8B84-451F-94A0-316EAE3F2D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3A1062-2396-44DD-9F5D-2C3070EAA7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84635E-0AB2-425B-9D65-61B69A78D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C7D2C4-289C-47C1-A478-FC7B47B1C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C51D192-7817-4347-BA26-255E042365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C7C85BB-BD7A-4A75-985C-E1BBC84F4AC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FFE2D0F-B336-4F28-B8F0-FC6015E8189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0FA66A3-B6A9-4082-9BEA-E152B90524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13DC457-76B5-48EE-B72D-E3AEEEB089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39A5B29-BE34-4384-BF93-213E4297DB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C99E59-803D-471D-80BF-955F43E822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BEAC169-4E13-42F0-A333-E5E7673902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03F9DEB-FD28-4404-9EF5-114C784482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5D31A94-5F2A-4950-AA48-F48484B87B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F602285-03F2-4139-92CA-7B8AD6D909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AC2C82B-69C1-4637-93C7-7AC06584FB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39A5F64-87A2-478E-B62B-85F058AC1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BA19EF-F19F-4C62-85C2-0C809F7C5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361955F-F00C-4CDA-A558-DA363C23F7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C5174D4-8817-45A6-BE5A-06DB59F83E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50F44A9-9339-4679-B3DB-B0EBB70351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22DA83A-61D0-4953-AB0C-0C9FE94F00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F709660-0520-4E41-A855-61C3BCB70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10CE1A-4252-4406-B628-1DFCADA2CD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62087B6-E1FA-49A6-A7E9-77FEA145616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89E59A6-DEE4-43C4-9E0B-D303C2DA03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B1B5298-A189-4E7F-98EC-96628193AE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866230A-F5AB-4A50-904F-7525CB245A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19AA26F-85F0-44D0-AAE5-CD8D079981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0C85AE-1C32-4964-87B6-62EF792DF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7C25B9-1682-4684-A176-A2F821E232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61A5B0-69D0-4946-AE07-37866AAF2D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B3E30D-5CEC-4A3C-9703-818394F986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E2515D-E16E-41BF-B80B-FC6F652ED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3570B78-50FC-481C-B450-4376F3B644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013E4BE-D16E-4823-A43F-963DCFFC94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D436B9B-D0B7-477F-8D30-9B95E2F5A8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F6AD16-62EC-4D77-9E67-B8AB15EE8F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F0ACCD-9001-440B-90EF-3D8C19B2B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c79c81e21c497a" /><Relationship Type="http://schemas.openxmlformats.org/officeDocument/2006/relationships/slideLayout" Target="/ppt/slideLayouts/slideLayout1.xml" Id="R20929ba3c08743fe" /><Relationship Type="http://schemas.openxmlformats.org/officeDocument/2006/relationships/slideLayout" Target="/ppt/slideLayouts/slideLayout2.xml" Id="Rb4911ff8248e44c9" /><Relationship Type="http://schemas.openxmlformats.org/officeDocument/2006/relationships/slideLayout" Target="/ppt/slideLayouts/slideLayout3.xml" Id="R4f6179c652ab4d95" /><Relationship Type="http://schemas.openxmlformats.org/officeDocument/2006/relationships/slideLayout" Target="/ppt/slideLayouts/slideLayout4.xml" Id="Rdfbc352167ce4225" /><Relationship Type="http://schemas.openxmlformats.org/officeDocument/2006/relationships/slideLayout" Target="/ppt/slideLayouts/slideLayout5.xml" Id="R519143a8dc6946ab" /><Relationship Type="http://schemas.openxmlformats.org/officeDocument/2006/relationships/slideLayout" Target="/ppt/slideLayouts/slideLayout6.xml" Id="Re70ee37e615141cc" /><Relationship Type="http://schemas.openxmlformats.org/officeDocument/2006/relationships/slideLayout" Target="/ppt/slideLayouts/slideLayout7.xml" Id="R2377c00f4e6d43d6" /><Relationship Type="http://schemas.openxmlformats.org/officeDocument/2006/relationships/slideLayout" Target="/ppt/slideLayouts/slideLayout8.xml" Id="Rfc02848677644ba1" /><Relationship Type="http://schemas.openxmlformats.org/officeDocument/2006/relationships/slideLayout" Target="/ppt/slideLayouts/slideLayout9.xml" Id="R8486016ecb8a4bcc" /><Relationship Type="http://schemas.openxmlformats.org/officeDocument/2006/relationships/slideLayout" Target="/ppt/slideLayouts/slideLayout10.xml" Id="Rdb6de0c249e24bb3" /><Relationship Type="http://schemas.openxmlformats.org/officeDocument/2006/relationships/slideLayout" Target="/ppt/slideLayouts/slideLayout11.xml" Id="R3e1500389de84cf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586A807-E3F5-4F9D-84B3-938E4354F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D9BC23-3779-41DD-BB4A-6C9D98F735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0D84AC-DD77-4996-BC6B-F16379A1096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529F37-ABEC-47D3-BE8C-BE2516D20B6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C273CA-525F-41FE-A174-A5EF160D12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929ba3c08743fe"/>
    <p:sldLayoutId xmlns:r="http://schemas.openxmlformats.org/officeDocument/2006/relationships" id="2147483650" r:id="Rb4911ff8248e44c9"/>
    <p:sldLayoutId xmlns:r="http://schemas.openxmlformats.org/officeDocument/2006/relationships" id="2147483651" r:id="R4f6179c652ab4d95"/>
    <p:sldLayoutId xmlns:r="http://schemas.openxmlformats.org/officeDocument/2006/relationships" id="2147483652" r:id="Rdfbc352167ce4225"/>
    <p:sldLayoutId xmlns:r="http://schemas.openxmlformats.org/officeDocument/2006/relationships" id="2147483653" r:id="R519143a8dc6946ab"/>
    <p:sldLayoutId xmlns:r="http://schemas.openxmlformats.org/officeDocument/2006/relationships" id="2147483654" r:id="Re70ee37e615141cc"/>
    <p:sldLayoutId xmlns:r="http://schemas.openxmlformats.org/officeDocument/2006/relationships" id="2147483655" r:id="R2377c00f4e6d43d6"/>
    <p:sldLayoutId xmlns:r="http://schemas.openxmlformats.org/officeDocument/2006/relationships" id="2147483656" r:id="Rfc02848677644ba1"/>
    <p:sldLayoutId xmlns:r="http://schemas.openxmlformats.org/officeDocument/2006/relationships" id="2147483657" r:id="R8486016ecb8a4bcc"/>
    <p:sldLayoutId xmlns:r="http://schemas.openxmlformats.org/officeDocument/2006/relationships" id="2147483658" r:id="Rdb6de0c249e24bb3"/>
    <p:sldLayoutId xmlns:r="http://schemas.openxmlformats.org/officeDocument/2006/relationships" id="2147483659" r:id="R3e1500389de84cf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6107a84d9e4148" /><Relationship Type="http://schemas.openxmlformats.org/officeDocument/2006/relationships/hyperlink" Target="https://public.tableau.com/views/Duolingo_Growth_Marketing_Analytics/P1_Growth_Monetisation_Overview?:language=en-US&amp;:sid=&amp;:redirect=auth&amp;:display_count=n&amp;:origin=viz_share_link" TargetMode="External" Id="Re798734e10d243f9" /><Relationship Type="http://schemas.openxmlformats.org/officeDocument/2006/relationships/notesSlide" Target="/ppt/notesSlides/notesSlide1.xml" Id="R53ae61ec2b8f45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5c46a4c33e46df" /><Relationship Type="http://schemas.openxmlformats.org/officeDocument/2006/relationships/notesSlide" Target="/ppt/notesSlides/notesSlide2.xml" Id="R3a5db977f05347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4dae3b49e246fb" /><Relationship Type="http://schemas.openxmlformats.org/officeDocument/2006/relationships/image" Target="/ppt/media/image.png" Id="R80ddb180ff94422b" /><Relationship Type="http://schemas.openxmlformats.org/officeDocument/2006/relationships/hyperlink" Target="https://public.tableau.com/views/Duolingo_Growth_Marketing_Analytics/P1_Growth_Monetisation_Overview?:language=en-US&amp;:sid=&amp;:redirect=auth&amp;:display_count=n&amp;:origin=viz_share_link" TargetMode="External" Id="Rcfa1b28a3e944f10" /><Relationship Type="http://schemas.openxmlformats.org/officeDocument/2006/relationships/notesSlide" Target="/ppt/notesSlides/notesSlide3.xml" Id="Rc0960c52725343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79ea12fbd8457a" /><Relationship Type="http://schemas.openxmlformats.org/officeDocument/2006/relationships/image" Target="/ppt/media/image2.png" Id="R1ba4a39165664b77" /><Relationship Type="http://schemas.openxmlformats.org/officeDocument/2006/relationships/hyperlink" Target="https://public.tableau.com/views/Duolingo_Growth_Marketing_Analytics/P1_Growth_Monetisation_Overview?:language=en-US&amp;:sid=&amp;:redirect=auth&amp;:display_count=n&amp;:origin=viz_share_link" TargetMode="External" Id="R88f4c01a6edb4ea1" /><Relationship Type="http://schemas.openxmlformats.org/officeDocument/2006/relationships/notesSlide" Target="/ppt/notesSlides/notesSlide4.xml" Id="R6be35617333345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79ea374bf14091" /><Relationship Type="http://schemas.openxmlformats.org/officeDocument/2006/relationships/notesSlide" Target="/ppt/notesSlides/notesSlide5.xml" Id="R537d4b74b5394a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075ddb63be4287" /><Relationship Type="http://schemas.openxmlformats.org/officeDocument/2006/relationships/notesSlide" Target="/ppt/notesSlides/notesSlide6.xml" Id="R4f265aacb00743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610e99df9f4dad" /><Relationship Type="http://schemas.openxmlformats.org/officeDocument/2006/relationships/notesSlide" Target="/ppt/notesSlides/notesSlide7.xml" Id="R1c910d2999d649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E222A1D-3A90-4D75-999C-195671CB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8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Duolingo Growth &amp; Marketing Operations Analytics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C3B63B2-433E-4778-AB7D-C4838EDE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400">
                <a:solidFill>
                  <a:srgbClr val="6873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00">
                <a:solidFill>
                  <a:srgbClr val="68737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68737D"/>
                </a:solidFill>
                <a:latin typeface="Arial"/>
                <a:ea typeface="Arial"/>
                <a:cs typeface="Arial"/>
              </a:rPr>
              <a:t>Case Study / Product Operations / User Operations / Growth Operations / General Operations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6CE27A0-3848-49A5-B28B-34029D9D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10881360" cy="3291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C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54B3BD-5878-436B-9D74-CC11D5DC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423160"/>
            <a:ext cx="9875520" cy="1333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20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As Duolingo's audience grew, did engagement and monetisation strengthen too?</a:t>
            </a:r>
          </a:p>
          <a:p xmlns:a="http://schemas.openxmlformats.org/drawingml/2006/main">
            <a:pPr algn="l">
              <a:buNone/>
              <a:defRPr sz="20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Across 2023-2025, daily activity and monetisation grew faster than MAU. This case</a:t>
            </a:r>
          </a:p>
          <a:p xmlns:a="http://schemas.openxmlformats.org/drawingml/2006/main">
            <a:pPr algn="l">
              <a:buNone/>
              <a:defRPr sz="20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translates that pattern into priorities for product, user and growth operations.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C4B9CD-7D2A-451A-9397-FD2E1BF5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77639"/>
            <a:ext cx="14173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12700">
            <a:solidFill>
              <a:srgbClr val="EAF8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702A3E-95B0-4C71-B4DD-3CECCE5F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87368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ctr">
              <a:defRPr sz="10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12 quarters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EB85ADC-1E0B-4F67-A9DD-5E986287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977639"/>
            <a:ext cx="14173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12700">
            <a:solidFill>
              <a:srgbClr val="EAF8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8603022-F07B-4EDB-A4B6-BD0BA85D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087368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ctr">
              <a:defRPr sz="10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Public data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2DAB948-0A15-4EAC-B51F-4349F47B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77639"/>
            <a:ext cx="14173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12700">
            <a:solidFill>
              <a:srgbClr val="EAF8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C88C35D-D68F-4DED-A669-275A9552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87368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ctr">
              <a:defRPr sz="10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Tableau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A3CB642-7F72-4099-959D-C87C0B21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77639"/>
            <a:ext cx="14173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12700">
            <a:solidFill>
              <a:srgbClr val="EAF8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4318619-853D-4F31-BCDA-B359D826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87368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ctr">
              <a:defRPr sz="10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2023-2025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D7C0E8E-4B45-4022-A158-71E5FD89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977639"/>
            <a:ext cx="14173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12700">
            <a:solidFill>
              <a:srgbClr val="EAF8D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74F8881-5EDF-459F-AE96-1BDA2E01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087368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ctr">
              <a:defRPr sz="10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March 2026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306515D-87C3-45CF-8FCF-D160A600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63640"/>
            <a:ext cx="10881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6873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>
                <a:solidFill>
                  <a:srgbClr val="6873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7D"/>
                </a:solidFill>
                <a:latin typeface="Arial"/>
                <a:ea typeface="Arial"/>
                <a:cs typeface="Arial"/>
                <a:hlinkClick xmlns:r="http://schemas.openxmlformats.org/officeDocument/2006/relationships" r:id="Re798734e10d243f9"/>
              </a:rPr>
              <a:t>Open the published interactive Tableau dashboard</a:t>
            </a:r>
          </a:p>
        </p:txBody>
      </p:sp>
    </p:spTree>
    <p:extLst>
      <p:ext uri="{BB962C8B-B14F-4D97-AF65-F5344CB8AC3E}">
        <p14:creationId xmlns:p14="http://schemas.microsoft.com/office/powerpoint/2010/main" val="450679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026854A-55D3-4A3F-A9B7-B818590B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1. Business Question, Data &amp; Method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DE90C64-D5A8-480E-B3F2-E21BE07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97280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C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38BF03E-E67B-4B07-9C81-54DCFA87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04925"/>
            <a:ext cx="1033272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Audience growth alone gives an incomplete view of operating performance. This project compares reach with daily</a:t>
            </a:r>
          </a:p>
          <a:p xmlns:a="http://schemas.openxmlformats.org/drawingml/2006/main">
            <a:pPr algn="l">
              <a:buNone/>
              <a:defRPr sz="15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activity, paid subscribers and revenue to identify what an operations team should monitor and investigate next.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3212818-BC06-415C-8F3C-24198F19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Business questions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C2A60A-4DD2-4706-A3D3-6C047D4F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5029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1. How did audience, daily activity and monetisation change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across 12 quarters?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DC6A3A2-2876-4D96-A0FA-E6093AD1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11880"/>
            <a:ext cx="5029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2. Did DAU, paid subscribers and revenue grow faster than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MAU?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48E5324-C4E1-47EC-A9E6-51045D1F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5029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3. What does the historical competitor context add?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73F60D0-E07C-4637-A117-4B705190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92040"/>
            <a:ext cx="5029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4. Which operational priorities need further internal evidence?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4862551-6A49-4F70-8B76-5124AEE3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Data &amp; method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686C38D-CA34-4CCD-8DD6-BED1C9AF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718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12 quarters: Q1 2023-Q4 2025. Official Duolingo IR / SEC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disclosures.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0FB90E-54F7-43B2-90EB-5FA29551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6118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Compare DAU/MAU, QoQ, YoY and indexed growth (Q1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2023 = 100).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ECCA8C-EC56-4C7E-A4AC-BF84D28B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519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Website: February 2026. Social: March 2026. Historical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context only.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8D8F328-6BC9-424E-B7E3-0643B010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892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Source alignment and SQL / Python checks support two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final Tableau pages.</a:t>
            </a:r>
          </a:p>
        </p:txBody>
      </p:sp>
      <p:sp>
        <p:nvSpPr>
          <p:cNvPr id="15" name="Evidence footer">
            <a:extLst xmlns:a="http://schemas.openxmlformats.org/drawingml/2006/main">
              <a:ext uri="{FF2B5EF4-FFF2-40B4-BE49-F238E27FC236}">
                <a16:creationId xmlns:a16="http://schemas.microsoft.com/office/drawing/2014/main" id="{40E03BED-0C43-4C8F-AAC4-DDDF0BAC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900">
                <a:solidFill>
                  <a:srgbClr val="6873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68737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8737D"/>
                </a:solidFill>
                <a:latin typeface="Arial"/>
                <a:ea typeface="Arial"/>
                <a:cs typeface="Arial"/>
              </a:rPr>
              <a:t>Sources: Duolingo IR / SEC. Definitions and full links: methodology, source manifest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134964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14057C7-FBED-44AC-A7A5-979DC057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2. Dashboard - Growth &amp; Monetisation Overview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0B5F5B52-D5C2-4C1E-8E2E-C827274D0F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db180ff9442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40" y="723900"/>
            <a:ext cx="10131720" cy="5867400"/>
          </a:xfrm>
          <a:prstGeom xmlns:a="http://schemas.openxmlformats.org/drawingml/2006/main" prst="rect">
            <a:avLst/>
          </a:prstGeom>
        </p:spPr>
      </p:pic>
      <p:sp>
        <p:nvSpPr>
          <p:cNvPr id="4" name="Published Tableau link">
            <a:extLst xmlns:a="http://schemas.openxmlformats.org/drawingml/2006/main">
              <a:ext uri="{FF2B5EF4-FFF2-40B4-BE49-F238E27FC236}">
                <a16:creationId xmlns:a16="http://schemas.microsoft.com/office/drawing/2014/main" id="{2AA55B4A-87A3-4B58-AF77-876718C9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"/>
            <a:ext cx="1013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>
                <a:solidFill>
                  <a:srgbClr val="2875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28752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28752A"/>
                </a:solidFill>
                <a:latin typeface="Arial"/>
                <a:ea typeface="Arial"/>
                <a:cs typeface="Arial"/>
                <a:hlinkClick xmlns:r="http://schemas.openxmlformats.org/officeDocument/2006/relationships" r:id="Rcfa1b28a3e944f10"/>
              </a:rPr>
              <a:t>Final published Tableau view. Click to open the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1427736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ADE26CB-530D-4276-9875-1E15B0EB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3. Dashboard - Growth Diagnostics &amp; Strategic Context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D5A632FF-F0B7-483F-AE44-765CFDDD52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4a39165664b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40" y="723900"/>
            <a:ext cx="10131720" cy="5867400"/>
          </a:xfrm>
          <a:prstGeom xmlns:a="http://schemas.openxmlformats.org/drawingml/2006/main" prst="rect">
            <a:avLst/>
          </a:prstGeom>
        </p:spPr>
      </p:pic>
      <p:sp>
        <p:nvSpPr>
          <p:cNvPr id="4" name="Published Tableau link">
            <a:extLst xmlns:a="http://schemas.openxmlformats.org/drawingml/2006/main">
              <a:ext uri="{FF2B5EF4-FFF2-40B4-BE49-F238E27FC236}">
                <a16:creationId xmlns:a16="http://schemas.microsoft.com/office/drawing/2014/main" id="{9519C26F-D124-498E-8FEC-68063C19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"/>
            <a:ext cx="1013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00">
                <a:solidFill>
                  <a:srgbClr val="2875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28752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28752A"/>
                </a:solidFill>
                <a:latin typeface="Arial"/>
                <a:ea typeface="Arial"/>
                <a:cs typeface="Arial"/>
                <a:hlinkClick xmlns:r="http://schemas.openxmlformats.org/officeDocument/2006/relationships" r:id="R88f4c01a6edb4ea1"/>
              </a:rPr>
              <a:t>Final published Tableau view. Click to open the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780941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5DD8DEE-7DDE-4A35-8669-22C11BB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4. Key Findings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F5682B9-48B9-4738-A5B2-DC5521CE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525780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C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E0ECDC-0CEB-4C43-B746-578355F0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463040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Engagement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BE0CA8-9544-471D-A3AA-2B6186B7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92808"/>
            <a:ext cx="4663440" cy="971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DAU grew 160% versus MAU 83% from Q1 2023 to Q4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2025. DAU/MAU rose from 28.0% to 39.6% (+11.6 pp),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indicating deeper aggregate activity.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4E94D2B-F2FC-49B0-AC07-E1F57BCD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34440"/>
            <a:ext cx="525780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C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5DD6B68-14DA-49AD-8E3B-DECF575D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463040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Monetisation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CDF6CBF-21A5-4C90-9DC9-AAB99645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92808"/>
            <a:ext cx="4663440" cy="971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Paid subscribers grew 154% and quarterly revenue 145%,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both faster than MAU. The data supports further review of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monetisation drivers.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47F3715-7CDD-4C06-BC0D-731A40A7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525780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C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F788506-A08D-4484-869C-DF8CCC9B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03320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Growth mix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7404AD-892A-40B3-8597-FAE724CA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8"/>
            <a:ext cx="4663440" cy="971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By Q4 2025, MAU growth moderated to 14% YoY while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DAU, paid subscribers and revenue grew 30%, 28% and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35%.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78B03E4-ADD3-46D4-9233-88FCE395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474720"/>
            <a:ext cx="525780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C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F649275-007A-4AC5-8489-C72FB81F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703320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Competitive context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F5BD423-27A5-432C-BEE4-4EF3A063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133088"/>
            <a:ext cx="4663440" cy="971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The inherited February/March 2026 snapshots show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greater Duolingo digital reach among the three observed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brands. This is context only, with unverified historical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captures.</a:t>
            </a:r>
          </a:p>
        </p:txBody>
      </p:sp>
      <p:sp>
        <p:nvSpPr>
          <p:cNvPr id="15" name="Evidence footer">
            <a:extLst xmlns:a="http://schemas.openxmlformats.org/drawingml/2006/main">
              <a:ext uri="{FF2B5EF4-FFF2-40B4-BE49-F238E27FC236}">
                <a16:creationId xmlns:a16="http://schemas.microsoft.com/office/drawing/2014/main" id="{AE59546A-D653-4D1E-AE75-52175ED0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900">
                <a:solidFill>
                  <a:srgbClr val="6873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68737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8737D"/>
                </a:solidFill>
                <a:latin typeface="Arial"/>
                <a:ea typeface="Arial"/>
                <a:cs typeface="Arial"/>
              </a:rPr>
              <a:t>Sources: Duolingo IR / SEC. Definitions and full links: methodology, source manifest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055936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0E72F8-5F19-4AC3-BE8C-9DE71BFC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5. Operational Implications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6970054-6686-4016-90D8-6B506FF8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29000" cy="4023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C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94236EA-5E55-4FE9-8E8C-7B8D9B8B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FD43BC-602C-424A-9269-EA39FB1E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2834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Protect engagement</a:t>
            </a:r>
          </a:p>
          <a:p xmlns:a="http://schemas.openxmlformats.org/drawingml/2006/main">
            <a:pPr algn="l">
              <a:buNone/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A2BDD4-81F0-427C-BDE6-30935EBE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63240"/>
            <a:ext cx="2834640" cy="2019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Investigate the drivers behind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DAU growth outpacing MAU and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monitor whether stronger activity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intensity is sustained.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022EEEC-3022-4571-AD3B-830FF5FC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417320"/>
            <a:ext cx="3429000" cy="4023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C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C95DA76-45E0-4816-8AFB-892D2351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9164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51E9B74-0F8F-4C12-9BE9-F4061FA6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40280"/>
            <a:ext cx="2834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Strengthen premium</a:t>
            </a:r>
          </a:p>
          <a:p xmlns:a="http://schemas.openxmlformats.org/drawingml/2006/main">
            <a:pPr algn="l">
              <a:buNone/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value communication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FB8CFD0-1CCF-4DE5-A073-0697D4AD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063240"/>
            <a:ext cx="2834640" cy="2019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Test clearer subscription value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messaging and targeted trial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opportunities rather than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assuming faster revenue growth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reflects better conversion.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05B5497-31FC-4F37-84D7-3BE53A98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417320"/>
            <a:ext cx="3429000" cy="4023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C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D5A204-7EBA-4A0B-96ED-75EE8D4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69164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51EAE80-2794-49A5-B238-E606A6D1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40280"/>
            <a:ext cx="2834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Balance growth with user</a:t>
            </a:r>
          </a:p>
          <a:p xmlns:a="http://schemas.openxmlformats.org/drawingml/2006/main">
            <a:pPr algn="l">
              <a:buNone/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49E502C-659C-42AB-8830-5891A07E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063240"/>
            <a:ext cx="2834640" cy="2019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Maintain configurable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engagement settings and monitor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user response as activity and</a:t>
            </a:r>
          </a:p>
          <a:p xmlns:a="http://schemas.openxmlformats.org/drawingml/2006/main">
            <a:pPr algn="l">
              <a:buNone/>
              <a:defRPr sz="13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monetisation continue to scale.</a:t>
            </a:r>
          </a:p>
        </p:txBody>
      </p:sp>
      <p:sp>
        <p:nvSpPr>
          <p:cNvPr id="15" name="Evidence footer">
            <a:extLst xmlns:a="http://schemas.openxmlformats.org/drawingml/2006/main">
              <a:ext uri="{FF2B5EF4-FFF2-40B4-BE49-F238E27FC236}">
                <a16:creationId xmlns:a16="http://schemas.microsoft.com/office/drawing/2014/main" id="{33830BC9-9452-4D56-A049-10EF131F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900">
                <a:solidFill>
                  <a:srgbClr val="6873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68737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8737D"/>
                </a:solidFill>
                <a:latin typeface="Arial"/>
                <a:ea typeface="Arial"/>
                <a:cs typeface="Arial"/>
              </a:rPr>
              <a:t>Sources: Duolingo IR / SEC. Definitions and full links: methodology, source manifest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281186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BCD4935-C94F-4FF0-831E-C38E0C02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6. Method &amp; Limitations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1E74EBF-16E2-49CD-8A6D-DBE549DF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How the analysis was built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03C130-4E90-4E69-89E0-6D41ABA7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498348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• Official disclosures cover six corporate metrics across 12</a:t>
            </a:r>
          </a:p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quarters. Sources and definitions are documented.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606DA77-847B-4183-981B-DE5FC07B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13432"/>
            <a:ext cx="498348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• Compare period growth, QoQ, YoY, DAU/MAU and indexed</a:t>
            </a:r>
          </a:p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growth. Rate gaps use percentage points.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16640F-4D5C-4406-B7BC-890924F4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35224"/>
            <a:ext cx="498348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• SQL and Python checks reconcile the 16 derived fields and</a:t>
            </a:r>
          </a:p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preserve unavailable comparisons as missing.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3C4680B-F13C-44DC-AD95-97DDC8A4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57016"/>
            <a:ext cx="498348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• Two completed Tableau dashboards are the final visualisation.</a:t>
            </a:r>
          </a:p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Both language versions use the same views.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91D29B-87A3-4D18-B307-1194FB2E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88720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Analytical guardrails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E2C3A97-41F3-4CF4-A7F9-87B16E29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91640"/>
            <a:ext cx="475488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• Public aggregates cannot measure cohort retention or a</a:t>
            </a:r>
          </a:p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free-to-paid funnel.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5791EC2-79E3-45E8-975C-7CA0191B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13432"/>
            <a:ext cx="475488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• Competitor snapshots have no original dated captures and</a:t>
            </a:r>
          </a:p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provide context only.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72B523-BB05-4C58-AEC0-86B2C953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35224"/>
            <a:ext cx="475488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• DAU/MAU describes aggregate activity. Paid and revenue</a:t>
            </a:r>
          </a:p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growth do not isolate conversion or pricing.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343BADC-0937-44DA-AA00-56E6A88F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557016"/>
            <a:ext cx="475488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l"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• Relationships are descriptive. Recommendations have no</a:t>
            </a:r>
          </a:p>
          <a:p xmlns:a="http://schemas.openxmlformats.org/drawingml/2006/main">
            <a:pPr algn="l">
              <a:buNone/>
              <a:defRPr sz="125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measured business impact.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F54EFB4-2D89-44BC-B6CB-B5F87FE3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7EC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DC28F9D-DE33-46EA-9A15-1022023B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9204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The project delivers operational priorities and a monitoring framework. Proposed reviews and experiments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FB3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B344"/>
                </a:solidFill>
                <a:latin typeface="Arial"/>
                <a:ea typeface="Arial"/>
                <a:cs typeface="Arial"/>
              </a:rPr>
              <a:t>require internal data and validation.</a:t>
            </a:r>
          </a:p>
        </p:txBody>
      </p:sp>
      <p:sp>
        <p:nvSpPr>
          <p:cNvPr id="15" name="Evidence footer">
            <a:extLst xmlns:a="http://schemas.openxmlformats.org/drawingml/2006/main">
              <a:ext uri="{FF2B5EF4-FFF2-40B4-BE49-F238E27FC236}">
                <a16:creationId xmlns:a16="http://schemas.microsoft.com/office/drawing/2014/main" id="{99623D3D-057E-437B-B0A7-0E748382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900">
                <a:solidFill>
                  <a:srgbClr val="6873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68737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8737D"/>
                </a:solidFill>
                <a:latin typeface="Arial"/>
                <a:ea typeface="Arial"/>
                <a:cs typeface="Arial"/>
              </a:rPr>
              <a:t>Sources: Duolingo IR / SEC. Definitions and full links: methodology, source manifest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57158295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2026-10-18T17:35:36.9030000Z</dcterms:created>
  <dcterms:modified xsi:type="dcterms:W3CDTF">2026-10-18T17:35:36.9030000Z</dcterms:modified>
</coreProperties>
</file>